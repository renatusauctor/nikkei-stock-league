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20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54864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13848" y="54864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80776" y="54864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347704" y="54864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46920" y="109728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213848" y="109728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780776" y="109728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347704" y="109728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46920" y="164592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13848" y="164592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780776" y="164592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347704" y="164592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219456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213848" y="219456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780776" y="219456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347704" y="219456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77240" y="868680"/>
            <a:ext cx="2880360" cy="47548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8686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TEAM MEETING ｜ 企画案【改訂版】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16002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日経ストックリーグ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77724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プロジェクト企画案 ― 弱点補強版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3611880"/>
            <a:ext cx="106070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メインテーマ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114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超微細化の限界と次世代パッケージング（後工程）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3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サブテーマ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後工程ニッチを“寡占”する日本の素材・装置企業の競争優位 ＋ 地方クラスターの経済波及効果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56235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07720" y="5623560"/>
            <a:ext cx="10539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r>
              <a:rPr lang="en-US" sz="1400" i="1" dirty="0" err="1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支配”ではなく“寡占”を語る。AI時代の真のボトルネック＝後工程ニッチで世界シェアを握る日本企業を、誇張せず・検証で示す</a:t>
            </a:r>
            <a:r>
              <a:rPr lang="en-US" sz="1400" i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改訂の要点 ― 5つの弱点を補強する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Revision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148132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2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  </a:t>
            </a: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「ニッチトップ／専業企業」テーマは第25回最優秀（EXPERTNER）と重複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03320" y="182880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  </a:t>
            </a:r>
            <a:r>
              <a:rPr lang="en-US" sz="12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“後工程ニッチ × 地方クラスター”への一点突破で差別化する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77240" y="2569464"/>
            <a:ext cx="502920" cy="50292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47802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テーマの一本化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496312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2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  </a:t>
            </a: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「グローバル競争優位」と「地方経済」の2軸が分離していた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03320" y="2843784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  </a:t>
            </a:r>
            <a:r>
              <a:rPr lang="en-US" sz="12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「世界シェア寡占 ⇄ 地方集積」を1つの因果仮説に統合する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77240" y="3584448"/>
            <a:ext cx="502920" cy="50292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4930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表現の精緻化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03320" y="3511296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2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  </a:t>
            </a: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「後工程を支配」は誇張で、専門家には信頼性を欠く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03320" y="385876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  </a:t>
            </a:r>
            <a:r>
              <a:rPr lang="en-US" sz="12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工程・領域別に“寡占ニッチ”を特定し、シェアで具体的に語る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41655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77240" y="4599432"/>
            <a:ext cx="502920" cy="50292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724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5079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フィールドワーク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03320" y="452628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2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  </a:t>
            </a: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IRの独占データに依存（公平開示で入手困難・拒否リスク）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703320" y="4873752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  </a:t>
            </a:r>
            <a:r>
              <a:rPr lang="en-US" sz="12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公平開示を前提に「対話＋公開情報の再解釈」、代替手段も用意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43153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77240" y="5614416"/>
            <a:ext cx="502920" cy="50292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77240" y="5614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55229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定量検証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703320" y="5541264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2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  </a:t>
            </a: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「TOPIX優位の“証明”」は過剰主張（インサンプル最適化）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703320" y="5888736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  </a:t>
            </a:r>
            <a:r>
              <a:rPr lang="en-US" sz="12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MPTの限界を明示し、期間分割＋リスクシナリオで頑健性を検証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投資テーマの再定義 ― なぜ“後工程ニッチ”か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Originality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6420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論点：価値は“後工程”へ移動する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55117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微細化（前工程）は物理限界＋巨額投資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80160" y="2843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数兆円規模の競争では日本に勝ち目が薄い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3016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5478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性能向上の主役はパッケージング（後工程）へ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280160" y="3922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チップレット／3D実装が次の主戦場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0916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6268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日本は素材・一部装置で世界シェアを寡占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28016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“全領域支配”ではなく領域別の強みを特定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45352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6519672" y="1645920"/>
            <a:ext cx="640080" cy="64008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92" y="18059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96912" y="166420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差別化の核 ― 二重の混雑を避ける</a:t>
            </a:r>
            <a:endParaRPr lang="en-US" sz="1550" dirty="0"/>
          </a:p>
        </p:txBody>
      </p:sp>
      <p:sp>
        <p:nvSpPr>
          <p:cNvPr id="21" name="Shape 14"/>
          <p:cNvSpPr/>
          <p:nvPr/>
        </p:nvSpPr>
        <p:spPr>
          <a:xfrm>
            <a:off x="6519672" y="251460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/>
          <p:nvPr/>
        </p:nvSpPr>
        <p:spPr>
          <a:xfrm>
            <a:off x="6720840" y="2624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95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ありきたりな「AI・半導体株」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720840" y="2990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クラウド／GPU 等は混雑。話題性だけでは埋もれる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519672" y="3593592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/>
          <p:nvPr/>
        </p:nvSpPr>
        <p:spPr>
          <a:xfrm>
            <a:off x="6720840" y="3703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95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「専業企業」一般論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72084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第25回最優秀テーマと重複。新鮮さに欠ける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519672" y="4672584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/>
          <p:nvPr/>
        </p:nvSpPr>
        <p:spPr>
          <a:xfrm>
            <a:off x="6720840" y="4782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我々の絞り込み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720840" y="5148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「工程最下流のニッチ寡占」×「地方集積の因果」に一点集中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投資仮説の一本化 ― 2軸を1つの因果でつなぐ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Investment Logic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「グローバル寡占」と「地方貢献」は別物ではない。地方集積こそが競争優位の源泉だという、ひとつの連鎖で語る。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7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22096" y="235000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972" y="25008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8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国内集積の加速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6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TSMC熊本・Rapidus北海道 等の拠点投資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264" y="2921508"/>
            <a:ext cx="201168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13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3508096" y="235000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972" y="25008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04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近接ニッチ企業へ波及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922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素材・装置の受注</a:t>
            </a:r>
            <a:endParaRPr lang="en-US" sz="1050" dirty="0">
              <a:solidFill>
                <a:srgbClr val="9FB3BD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／設備投資が増加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264" y="2921508"/>
            <a:ext cx="201168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99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94096" y="235000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972" y="2500884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90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地方経済への波及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208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雇用・税収・関連産業の拡大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264" y="2921508"/>
            <a:ext cx="201168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85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6"/>
          <p:cNvSpPr/>
          <p:nvPr/>
        </p:nvSpPr>
        <p:spPr>
          <a:xfrm>
            <a:off x="8080096" y="235000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0972" y="2500884"/>
            <a:ext cx="301752" cy="30175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76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企業の中長期成長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7494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需要近接 → </a:t>
            </a:r>
            <a:r>
              <a:rPr lang="en-US" sz="105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安定受注</a:t>
            </a:r>
            <a:r>
              <a:rPr lang="en-US" sz="10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収益拡大</a:t>
            </a:r>
            <a:endParaRPr lang="en-US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264" y="2921508"/>
            <a:ext cx="201168" cy="23774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671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0"/>
          <p:cNvSpPr/>
          <p:nvPr/>
        </p:nvSpPr>
        <p:spPr>
          <a:xfrm>
            <a:off x="10366096" y="2350008"/>
            <a:ext cx="603504" cy="603504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6972" y="2500884"/>
            <a:ext cx="301752" cy="30175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762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株主価値の向上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9780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投資妥当性として定量検証へ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4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412" y="4942332"/>
            <a:ext cx="283464" cy="28346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600200" y="47365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仮説の要：「地方貢献度」を加点する理由</a:t>
            </a:r>
            <a:endParaRPr lang="en-US" sz="1400" dirty="0"/>
          </a:p>
        </p:txBody>
      </p:sp>
      <p:sp>
        <p:nvSpPr>
          <p:cNvPr id="38" name="Text 26"/>
          <p:cNvSpPr/>
          <p:nvPr/>
        </p:nvSpPr>
        <p:spPr>
          <a:xfrm>
            <a:off x="1600200" y="5138928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地方への貢献は“社会的意義”であると同時に、集積地への近接性＝『</a:t>
            </a: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需要が隣にある』という競争優位の代理指標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だから単なる社会貢献ではなく、投資妥当性そのものに直結する。これが本企画の論理的な背骨となる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4段階ロードマップ（改訂版）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2580" y="1325880"/>
            <a:ext cx="2697480" cy="4069080"/>
          </a:xfrm>
          <a:prstGeom prst="roundRect">
            <a:avLst>
              <a:gd name="adj" fmla="val 2712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8612" y="1600200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20" y="177850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05660" y="15819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140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96900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6900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 ＆ スタディ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3474720"/>
            <a:ext cx="91440" cy="91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8068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後工程（パッケージング</a:t>
            </a: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</a:p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技術の勉強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4041648"/>
            <a:ext cx="91440" cy="91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068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領域別ニッチ企業</a:t>
            </a: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20社をリスト化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4608576"/>
            <a:ext cx="91440" cy="914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8068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国内集積マップの作成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22580" y="4828032"/>
            <a:ext cx="2697480" cy="566928"/>
          </a:xfrm>
          <a:prstGeom prst="rect">
            <a:avLst/>
          </a:prstGeom>
          <a:solidFill>
            <a:srgbClr val="0E23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659740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分析対象 20社の選定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3338932" y="1325880"/>
            <a:ext cx="2697480" cy="4069080"/>
          </a:xfrm>
          <a:prstGeom prst="roundRect">
            <a:avLst>
              <a:gd name="adj" fmla="val 2712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3594964" y="1600200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272" y="1778508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2012" y="15819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140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600" dirty="0"/>
          </a:p>
        </p:txBody>
      </p:sp>
      <p:sp>
        <p:nvSpPr>
          <p:cNvPr id="22" name="Text 15"/>
          <p:cNvSpPr/>
          <p:nvPr/>
        </p:nvSpPr>
        <p:spPr>
          <a:xfrm>
            <a:off x="3613252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613252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スクリーニング</a:t>
            </a:r>
            <a:endParaRPr lang="en-US" sz="15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540" y="3474720"/>
            <a:ext cx="91440" cy="914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14420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財務×技術×地方</a:t>
            </a:r>
            <a:endParaRPr lang="en-US" sz="11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“近接性”の3軸基準</a:t>
            </a:r>
            <a:endParaRPr lang="en-US" sz="11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540" y="4041648"/>
            <a:ext cx="91440" cy="914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814420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貢献度を公開数値で</a:t>
            </a:r>
            <a:endParaRPr lang="en-US" sz="11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客観スコア化</a:t>
            </a:r>
            <a:endParaRPr lang="en-US" sz="11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540" y="4608576"/>
            <a:ext cx="91440" cy="914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814420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最終10銘柄へ絞り込み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3338932" y="4828032"/>
            <a:ext cx="2697480" cy="566928"/>
          </a:xfrm>
          <a:prstGeom prst="rect">
            <a:avLst/>
          </a:prstGeom>
          <a:solidFill>
            <a:srgbClr val="0E23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1"/>
          <p:cNvSpPr/>
          <p:nvPr/>
        </p:nvSpPr>
        <p:spPr>
          <a:xfrm>
            <a:off x="3476092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投資銘柄 10社の確定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6155284" y="1325880"/>
            <a:ext cx="2697480" cy="4069080"/>
          </a:xfrm>
          <a:prstGeom prst="roundRect">
            <a:avLst>
              <a:gd name="adj" fmla="val 2712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3"/>
          <p:cNvSpPr/>
          <p:nvPr/>
        </p:nvSpPr>
        <p:spPr>
          <a:xfrm>
            <a:off x="6411316" y="1600200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24" y="1778508"/>
            <a:ext cx="356616" cy="35661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938364" y="15819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140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600" dirty="0"/>
          </a:p>
        </p:txBody>
      </p:sp>
      <p:sp>
        <p:nvSpPr>
          <p:cNvPr id="36" name="Text 25"/>
          <p:cNvSpPr/>
          <p:nvPr/>
        </p:nvSpPr>
        <p:spPr>
          <a:xfrm>
            <a:off x="6429604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6429604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フィールドワーク（対話）</a:t>
            </a:r>
            <a:endParaRPr lang="en-US" sz="15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92" y="3474720"/>
            <a:ext cx="91440" cy="9144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630772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公開IRを精読し</a:t>
            </a:r>
            <a:endParaRPr lang="en-US" sz="11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検証質問を設計</a:t>
            </a:r>
            <a:endParaRPr lang="en-US" sz="115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92" y="4041648"/>
            <a:ext cx="91440" cy="9144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630772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IR・自治体へ書面</a:t>
            </a:r>
            <a:endParaRPr lang="en-US" sz="11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／オンライン対話</a:t>
            </a:r>
            <a:endParaRPr lang="en-US" sz="115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92" y="4608576"/>
            <a:ext cx="91440" cy="9144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630772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代替：専門家</a:t>
            </a:r>
            <a:endParaRPr lang="en-US" sz="11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・証券リポート活用</a:t>
            </a:r>
            <a:endParaRPr lang="en-US" sz="1150" dirty="0"/>
          </a:p>
        </p:txBody>
      </p:sp>
      <p:sp>
        <p:nvSpPr>
          <p:cNvPr id="44" name="Shape 30"/>
          <p:cNvSpPr/>
          <p:nvPr/>
        </p:nvSpPr>
        <p:spPr>
          <a:xfrm>
            <a:off x="6155284" y="4828032"/>
            <a:ext cx="2697480" cy="566928"/>
          </a:xfrm>
          <a:prstGeom prst="rect">
            <a:avLst/>
          </a:prstGeom>
          <a:solidFill>
            <a:srgbClr val="0E23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1"/>
          <p:cNvSpPr/>
          <p:nvPr/>
        </p:nvSpPr>
        <p:spPr>
          <a:xfrm>
            <a:off x="6292444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検証の深さで差別化</a:t>
            </a:r>
            <a:endParaRPr lang="en-US" sz="1150" dirty="0"/>
          </a:p>
        </p:txBody>
      </p:sp>
      <p:sp>
        <p:nvSpPr>
          <p:cNvPr id="46" name="Shape 32"/>
          <p:cNvSpPr/>
          <p:nvPr/>
        </p:nvSpPr>
        <p:spPr>
          <a:xfrm>
            <a:off x="8971636" y="1325880"/>
            <a:ext cx="2697480" cy="4069080"/>
          </a:xfrm>
          <a:prstGeom prst="roundRect">
            <a:avLst>
              <a:gd name="adj" fmla="val 2712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3"/>
          <p:cNvSpPr/>
          <p:nvPr/>
        </p:nvSpPr>
        <p:spPr>
          <a:xfrm>
            <a:off x="9227668" y="1600200"/>
            <a:ext cx="713232" cy="713232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5976" y="1778508"/>
            <a:ext cx="356616" cy="356616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0754716" y="15819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140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600" dirty="0"/>
          </a:p>
        </p:txBody>
      </p:sp>
      <p:sp>
        <p:nvSpPr>
          <p:cNvPr id="50" name="Text 35"/>
          <p:cNvSpPr/>
          <p:nvPr/>
        </p:nvSpPr>
        <p:spPr>
          <a:xfrm>
            <a:off x="9245956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3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4</a:t>
            </a:r>
            <a:endParaRPr lang="en-US" sz="1100" dirty="0"/>
          </a:p>
        </p:txBody>
      </p:sp>
      <p:sp>
        <p:nvSpPr>
          <p:cNvPr id="51" name="Text 36"/>
          <p:cNvSpPr/>
          <p:nvPr/>
        </p:nvSpPr>
        <p:spPr>
          <a:xfrm>
            <a:off x="9245956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ポートフォリオ＆検証</a:t>
            </a:r>
            <a:endParaRPr lang="en-US" sz="15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4244" y="3474720"/>
            <a:ext cx="91440" cy="9144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9447124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MPTで構築（限界を明示）</a:t>
            </a:r>
            <a:endParaRPr lang="en-US" sz="115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4244" y="4041648"/>
            <a:ext cx="91440" cy="9144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9447124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期間分割で頑健性を確認</a:t>
            </a:r>
            <a:endParaRPr lang="en-US" sz="115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4244" y="4608576"/>
            <a:ext cx="91440" cy="91440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9447124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リスクシナリオ付</a:t>
            </a:r>
            <a:endParaRPr lang="en-US" sz="11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1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30pレポート</a:t>
            </a:r>
            <a:endParaRPr lang="en-US" sz="1150" dirty="0"/>
          </a:p>
        </p:txBody>
      </p:sp>
      <p:sp>
        <p:nvSpPr>
          <p:cNvPr id="58" name="Shape 40"/>
          <p:cNvSpPr/>
          <p:nvPr/>
        </p:nvSpPr>
        <p:spPr>
          <a:xfrm>
            <a:off x="8971636" y="4828032"/>
            <a:ext cx="2697480" cy="566928"/>
          </a:xfrm>
          <a:prstGeom prst="rect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1"/>
          <p:cNvSpPr/>
          <p:nvPr/>
        </p:nvSpPr>
        <p:spPr>
          <a:xfrm>
            <a:off x="9108796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誇張なきレポート提出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スクリーニング設計 ― 3軸で客観化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Screening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主観評価を避け、すべて公開データで点数化する。とくに新設の「地方近接性」は数値で定義し、加点の妥当性を担保する。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677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財務（定量）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145536"/>
            <a:ext cx="146304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売上高・営業利益の成長率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712464"/>
            <a:ext cx="146304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ROIC／自己資本比率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279392"/>
            <a:ext cx="146304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半導体売上構成比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29768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4572000" y="2103120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2267712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2180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技術（定量×定性）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3145536"/>
            <a:ext cx="146304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4632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領域別の世界シェア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3712464"/>
            <a:ext cx="146304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84632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特許・代替困難性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4279392"/>
            <a:ext cx="146304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84632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スイッチングコストの高さ</a:t>
            </a:r>
            <a:endParaRPr lang="en-US" sz="1250" dirty="0"/>
          </a:p>
        </p:txBody>
      </p:sp>
      <p:sp>
        <p:nvSpPr>
          <p:cNvPr id="25" name="Shape 15"/>
          <p:cNvSpPr/>
          <p:nvPr/>
        </p:nvSpPr>
        <p:spPr>
          <a:xfrm>
            <a:off x="804672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6"/>
          <p:cNvSpPr/>
          <p:nvPr/>
        </p:nvSpPr>
        <p:spPr>
          <a:xfrm>
            <a:off x="8321040" y="2103120"/>
            <a:ext cx="658368" cy="658368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267712"/>
            <a:ext cx="329184" cy="32918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07084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地方近接性（新設・客観）</a:t>
            </a:r>
            <a:endParaRPr lang="en-US" sz="14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3145536"/>
            <a:ext cx="146304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859536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拠点と集積地（熊本/北海道）の距離</a:t>
            </a:r>
            <a:endParaRPr lang="en-US" sz="12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3712464"/>
            <a:ext cx="146304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59536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地元雇用比率</a:t>
            </a:r>
            <a:endParaRPr lang="en-US" sz="12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279392"/>
            <a:ext cx="146304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59536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設備投資計画の所在地</a:t>
            </a:r>
            <a:endParaRPr lang="en-US" sz="1250" dirty="0"/>
          </a:p>
        </p:txBody>
      </p:sp>
      <p:sp>
        <p:nvSpPr>
          <p:cNvPr id="35" name="Shape 21"/>
          <p:cNvSpPr/>
          <p:nvPr/>
        </p:nvSpPr>
        <p:spPr>
          <a:xfrm>
            <a:off x="548640" y="528523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2"/>
          <p:cNvSpPr/>
          <p:nvPr/>
        </p:nvSpPr>
        <p:spPr>
          <a:xfrm>
            <a:off x="777240" y="5449824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" y="5545836"/>
            <a:ext cx="192024" cy="19202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1325880" y="5285232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「貢献度」を距離・雇用比率・投資額など公開数値でスコア化 → 審査で問われる客観性・再現性をクリアする。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フィールドワーク戦略 ― 対話と代替策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Fieldwork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4672" y="1517904"/>
            <a:ext cx="502920" cy="50292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" y="164363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258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原則：公平開示（フェア・ディスクロージャー）を遵守。 </a:t>
            </a:r>
          </a:p>
          <a:p>
            <a:pPr marL="0" indent="0">
              <a:buNone/>
            </a:pPr>
            <a:r>
              <a:rPr lang="en-US" sz="13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未公開の重要情報は求めない</a:t>
            </a:r>
            <a:r>
              <a:rPr lang="en-US" sz="13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。“独占データ”ではなく“検証の深さ”で勝負する。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3593592" cy="3154680"/>
          </a:xfrm>
          <a:prstGeom prst="roundRect">
            <a:avLst>
              <a:gd name="adj" fmla="val 23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22960" y="2670048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283006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70048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66674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3575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公開IR資料を精読し</a:t>
            </a:r>
            <a:endParaRPr lang="en-US" sz="120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“仮説の検証質問”を設計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27024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4178808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IR・自治体へ書面＋オンラインで対話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873752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5568" y="478231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回答を一次データとして再解釈・分析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297680" y="2395728"/>
            <a:ext cx="3593592" cy="3154680"/>
          </a:xfrm>
          <a:prstGeom prst="roundRect">
            <a:avLst>
              <a:gd name="adj" fmla="val 23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4572000" y="2670048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2830068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2670048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代替策（単一依存の回避）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366674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864608" y="3575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業界専門家・大学研究者への質問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27024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64608" y="4178808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証券会社レポート・IR説明会資料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873752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864608" y="478231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経産省・自治体の公表統計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8046720" y="2395728"/>
            <a:ext cx="3593592" cy="3154680"/>
          </a:xfrm>
          <a:prstGeom prst="roundRect">
            <a:avLst>
              <a:gd name="adj" fmla="val 23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8"/>
          <p:cNvSpPr/>
          <p:nvPr/>
        </p:nvSpPr>
        <p:spPr>
          <a:xfrm>
            <a:off x="8321040" y="2670048"/>
            <a:ext cx="640080" cy="64008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060" y="2830068"/>
            <a:ext cx="320040" cy="32004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9052560" y="2670048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なぜ効くか</a:t>
            </a:r>
            <a:endParaRPr lang="en-US" sz="14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3666744"/>
            <a:ext cx="182880" cy="1828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8613648" y="3575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過去入賞でも“企業との対話”は高評価</a:t>
            </a:r>
            <a:endParaRPr lang="en-US" sz="12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4270248"/>
            <a:ext cx="182880" cy="18288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8613648" y="4178808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拒否されても代替で確実にデータ確保</a:t>
            </a:r>
            <a:endParaRPr lang="en-US" sz="12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4873752"/>
            <a:ext cx="182880" cy="18288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8613648" y="478231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投資家と企業の対話を実践する姿勢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定量検証とリスク ― 誠実に語る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Logic &amp;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6420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定量検証を“証明”にしない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963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MPTの限界を明示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77063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小型株10銘柄は同一サイクルで相関が高く</a:t>
            </a:r>
            <a:endParaRPr lang="en-US" sz="1150" dirty="0">
              <a:solidFill>
                <a:srgbClr val="9FB3BD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15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分散効果は限定的・価格履歴も短い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0332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インサンプルの罠を回避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261872" y="39776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過去最適化が指数に勝つのは当然 → “証明”とは呼ばない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103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期間分割で頑健性確認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261872" y="51846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アウトオブサンプルで検証。対TOPIXは“参考比較”として提示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45352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6519672" y="1645920"/>
            <a:ext cx="640080" cy="64008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92" y="18059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96912" y="166420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リスクシナリオ（必須）</a:t>
            </a:r>
            <a:endParaRPr lang="en-US" sz="1550" dirty="0"/>
          </a:p>
        </p:txBody>
      </p:sp>
      <p:sp>
        <p:nvSpPr>
          <p:cNvPr id="21" name="Shape 14"/>
          <p:cNvSpPr/>
          <p:nvPr/>
        </p:nvSpPr>
        <p:spPr>
          <a:xfrm>
            <a:off x="6519672" y="246888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6675120" y="2615184"/>
            <a:ext cx="420624" cy="420624"/>
          </a:xfrm>
          <a:prstGeom prst="ellipse">
            <a:avLst/>
          </a:prstGeom>
          <a:solidFill>
            <a:srgbClr val="F082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276" y="2720340"/>
            <a:ext cx="210312" cy="2103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69480" y="25237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地政学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9098280" y="25237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対中輸出規制・米中摩擦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519672" y="329184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6675120" y="3438144"/>
            <a:ext cx="420624" cy="420624"/>
          </a:xfrm>
          <a:prstGeom prst="ellipse">
            <a:avLst/>
          </a:prstGeom>
          <a:solidFill>
            <a:srgbClr val="F082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276" y="3543300"/>
            <a:ext cx="210312" cy="2103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69480" y="334670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市況シクリカリティ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9098280" y="33467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半導体需要の急減局面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519672" y="411480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/>
          <p:cNvSpPr/>
          <p:nvPr/>
        </p:nvSpPr>
        <p:spPr>
          <a:xfrm>
            <a:off x="6675120" y="4261104"/>
            <a:ext cx="420624" cy="420624"/>
          </a:xfrm>
          <a:prstGeom prst="ellipse">
            <a:avLst/>
          </a:prstGeom>
          <a:solidFill>
            <a:srgbClr val="F082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276" y="4366260"/>
            <a:ext cx="210312" cy="2103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69480" y="416966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顧客集中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9098280" y="41696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TSMC・特定客先への依存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519672" y="493776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6675120" y="5084064"/>
            <a:ext cx="420624" cy="420624"/>
          </a:xfrm>
          <a:prstGeom prst="ellipse">
            <a:avLst/>
          </a:prstGeom>
          <a:solidFill>
            <a:srgbClr val="F082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0276" y="5189220"/>
            <a:ext cx="210312" cy="21031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269480" y="499262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為替・金利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9098280" y="499262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円高・調達コスト変動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6519672" y="5852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5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リスクを明示するほど審査の信頼性は上がる（過去講評も特化リスクを指摘）。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審査基準への対応 ― 補強後の3本柱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We Win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88236" y="182880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独創性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342900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混雑するAI株／専業企業テーマと一線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後工程ニッチ×地方因果”の一点突破で</a:t>
            </a:r>
            <a:endParaRPr lang="en-US" sz="120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新鮮さを確保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20574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926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熱意（対話）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0288" y="342900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公平開示を守りつつ</a:t>
            </a:r>
            <a:endParaRPr lang="en-US" sz="120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企業・自治体・専門家と対話で検証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代替策で確実性も担保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386316" y="1828800"/>
            <a:ext cx="914400" cy="91440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916" y="2057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926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論理性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39328" y="342900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技術×財務×近接性の客観基準</a:t>
            </a:r>
            <a:endParaRPr lang="en-US" sz="120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MPTの限界明示＋リスクシナリオで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過剰主張なく妥当性を示す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822960" y="5074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「誇張せず、検証で語る。」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4983480" y="5074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3本柱が補強され、“</a:t>
            </a: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ありきたりなAI賛美”でも“過剰主張”でもない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審査員に「本物だ」と確信させるレポートへ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654</Words>
  <Application>Microsoft Office PowerPoint</Application>
  <PresentationFormat>와이드스크린</PresentationFormat>
  <Paragraphs>181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Meiryo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日経ストックリーグ 企画案（改訂版）</dc:title>
  <dc:subject>PptxGenJS Presentation</dc:subject>
  <dc:creator>Team</dc:creator>
  <cp:lastModifiedBy>ＫＷＯＮ　Ｓｕｎ</cp:lastModifiedBy>
  <cp:revision>2</cp:revision>
  <dcterms:created xsi:type="dcterms:W3CDTF">2026-06-18T06:40:25Z</dcterms:created>
  <dcterms:modified xsi:type="dcterms:W3CDTF">2026-06-18T06:46:05Z</dcterms:modified>
</cp:coreProperties>
</file>