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3" r:id="rId24"/>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  <Relationship Id="rId24" Type="http://schemas.openxmlformats.org/officeDocument/2006/relationships/slide" Target="slides/slide18.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九州</c:v>
                </c:pt>
              </c:strCache>
            </c:strRef>
          </c:tx>
          <c:spPr>
            <a:solidFill>
              <a:srgbClr val="C0713A"/>
            </a:solidFill>
            <a:effectLst/>
          </c:spPr>
          <c:invertIfNegative val="0"/>
          <c:dLbls>
            <c:numFmt formatCode="0.0&quot;%&quot;" sourceLinked="0"/>
            <c:txPr>
              <a:bodyPr/>
              <a:lstStyle/>
              <a:p>
                <a:pPr>
                  <a:defRPr b="0" i="0" strike="noStrike" sz="900" u="none">
                    <a:solidFill>
                      <a:srgbClr val="FFFFFF"/>
                    </a:solidFill>
                    <a:latin typeface="Meiryo"/>
                  </a:defRPr>
                </a:pPr>
              </a:p>
            </c:txPr>
            <c:dLblPos val="inEnd"/>
            <c:showLegendKey val="0"/>
            <c:showVal val="1"/>
            <c:showCatName val="0"/>
            <c:showSerName val="0"/>
            <c:showPercent val="0"/>
            <c:showBubbleSize val="0"/>
            <c:showLeaderLines val="0"/>
          </c:dLbls>
          <c:cat>
            <c:multiLvlStrRef>
              <c:f>Sheet1!$A$2:$A$16</c:f>
              <c:multiLvlStrCache>
                <c:ptCount val="15"/>
                <c:lvl>
                  <c:pt idx="0">
                    <c:v>日本電子材料</c:v>
                  </c:pt>
                  <c:pt idx="1">
                    <c:v>テラプローブ</c:v>
                  </c:pt>
                  <c:pt idx="2">
                    <c:v>住友ベークライト</c:v>
                  </c:pt>
                  <c:pt idx="3">
                    <c:v>平田機工</c:v>
                  </c:pt>
                  <c:pt idx="4">
                    <c:v>太陽HD</c:v>
                  </c:pt>
                  <c:pt idx="5">
                    <c:v>ジャパンマテリアル</c:v>
                  </c:pt>
                  <c:pt idx="6">
                    <c:v>日本ピラー工業</c:v>
                  </c:pt>
                  <c:pt idx="7">
                    <c:v>オルガノ</c:v>
                  </c:pt>
                  <c:pt idx="8">
                    <c:v>堀場製作所</c:v>
                  </c:pt>
                  <c:pt idx="9">
                    <c:v>ディスコ</c:v>
                  </c:pt>
                  <c:pt idx="10">
                    <c:v>日本マイクロニクス</c:v>
                  </c:pt>
                  <c:pt idx="11">
                    <c:v>東京応化工業</c:v>
                  </c:pt>
                  <c:pt idx="12">
                    <c:v>ローツェ</c:v>
                  </c:pt>
                  <c:pt idx="13">
                    <c:v>芝浦メカトロニクス</c:v>
                  </c:pt>
                  <c:pt idx="14">
                    <c:v>日東紡</c:v>
                  </c:pt>
                </c:lvl>
              </c:multiLvlStrCache>
            </c:multiLvlStrRef>
          </c:cat>
          <c:val>
            <c:numRef>
              <c:f>Sheet1!$B$2:$B$16</c:f>
              <c:numCache>
                <c:formatCode>General</c:formatCode>
                <c:ptCount val="15"/>
                <c:pt idx="0">
                  <c:v>9.41</c:v>
                </c:pt>
                <c:pt idx="1">
                  <c:v>9.14</c:v>
                </c:pt>
                <c:pt idx="2">
                  <c:v>8.86</c:v>
                </c:pt>
                <c:pt idx="3">
                  <c:v>8.32</c:v>
                </c:pt>
                <c:pt idx="4">
                  <c:v>8.18</c:v>
                </c:pt>
                <c:pt idx="5">
                  <c:v>7.09</c:v>
                </c:pt>
                <c:pt idx="6">
                  <c:v>6.55</c:v>
                </c:pt>
                <c:pt idx="7">
                  <c:v>6.41</c:v>
                </c:pt>
                <c:pt idx="8">
                  <c:v>6.27</c:v>
                </c:pt>
                <c:pt idx="9">
                  <c:v>6.14</c:v>
                </c:pt>
                <c:pt idx="10">
                  <c:v/>
                </c:pt>
                <c:pt idx="11">
                  <c:v>5.18</c:v>
                </c:pt>
                <c:pt idx="12">
                  <c:v>4.64</c:v>
                </c:pt>
                <c:pt idx="13">
                  <c:v>4.5</c:v>
                </c:pt>
                <c:pt idx="14">
                  <c:v/>
                </c:pt>
              </c:numCache>
            </c:numRef>
          </c:val>
        </c:ser>
        <c:ser>
          <c:idx val="1"/>
          <c:order val="1"/>
          <c:tx>
            <c:strRef>
              <c:f>Sheet1!$C$1</c:f>
              <c:strCache>
                <c:ptCount val="1"/>
                <c:pt idx="0">
                  <c:v>東北</c:v>
                </c:pt>
              </c:strCache>
            </c:strRef>
          </c:tx>
          <c:spPr>
            <a:solidFill>
              <a:srgbClr val="4A6FA5"/>
            </a:solidFill>
            <a:effectLst/>
          </c:spPr>
          <c:invertIfNegative val="0"/>
          <c:dLbls>
            <c:numFmt formatCode="0.0&quot;%&quot;" sourceLinked="0"/>
            <c:txPr>
              <a:bodyPr/>
              <a:lstStyle/>
              <a:p>
                <a:pPr>
                  <a:defRPr b="0" i="0" strike="noStrike" sz="900" u="none">
                    <a:solidFill>
                      <a:srgbClr val="FFFFFF"/>
                    </a:solidFill>
                    <a:latin typeface="Meiryo"/>
                  </a:defRPr>
                </a:pPr>
              </a:p>
            </c:txPr>
            <c:dLblPos val="inEnd"/>
            <c:showLegendKey val="0"/>
            <c:showVal val="1"/>
            <c:showCatName val="0"/>
            <c:showSerName val="0"/>
            <c:showPercent val="0"/>
            <c:showBubbleSize val="0"/>
            <c:showLeaderLines val="0"/>
          </c:dLbls>
          <c:cat>
            <c:multiLvlStrRef>
              <c:f>Sheet1!$A$2:$A$16</c:f>
              <c:multiLvlStrCache>
                <c:ptCount val="15"/>
                <c:lvl>
                  <c:pt idx="0">
                    <c:v>日本電子材料</c:v>
                  </c:pt>
                  <c:pt idx="1">
                    <c:v>テラプローブ</c:v>
                  </c:pt>
                  <c:pt idx="2">
                    <c:v>住友ベークライト</c:v>
                  </c:pt>
                  <c:pt idx="3">
                    <c:v>平田機工</c:v>
                  </c:pt>
                  <c:pt idx="4">
                    <c:v>太陽HD</c:v>
                  </c:pt>
                  <c:pt idx="5">
                    <c:v>ジャパンマテリアル</c:v>
                  </c:pt>
                  <c:pt idx="6">
                    <c:v>日本ピラー工業</c:v>
                  </c:pt>
                  <c:pt idx="7">
                    <c:v>オルガノ</c:v>
                  </c:pt>
                  <c:pt idx="8">
                    <c:v>堀場製作所</c:v>
                  </c:pt>
                  <c:pt idx="9">
                    <c:v>ディスコ</c:v>
                  </c:pt>
                  <c:pt idx="10">
                    <c:v>日本マイクロニクス</c:v>
                  </c:pt>
                  <c:pt idx="11">
                    <c:v>東京応化工業</c:v>
                  </c:pt>
                  <c:pt idx="12">
                    <c:v>ローツェ</c:v>
                  </c:pt>
                  <c:pt idx="13">
                    <c:v>芝浦メカトロニクス</c:v>
                  </c:pt>
                  <c:pt idx="14">
                    <c:v>日東紡</c:v>
                  </c:pt>
                </c:lvl>
              </c:multiLvlStrCache>
            </c:multiLvlStrRef>
          </c:cat>
          <c:val>
            <c:numRef>
              <c:f>Sheet1!$C$2:$C$16</c:f>
              <c:numCache>
                <c:formatCode>General</c:formatCode>
                <c:ptCount val="15"/>
                <c:pt idx="0">
                  <c:v/>
                </c:pt>
                <c:pt idx="1">
                  <c:v/>
                </c:pt>
                <c:pt idx="2">
                  <c:v/>
                </c:pt>
                <c:pt idx="3">
                  <c:v/>
                </c:pt>
                <c:pt idx="4">
                  <c:v/>
                </c:pt>
                <c:pt idx="5">
                  <c:v/>
                </c:pt>
                <c:pt idx="6">
                  <c:v/>
                </c:pt>
                <c:pt idx="7">
                  <c:v/>
                </c:pt>
                <c:pt idx="8">
                  <c:v/>
                </c:pt>
                <c:pt idx="9">
                  <c:v/>
                </c:pt>
                <c:pt idx="10">
                  <c:v>5.32</c:v>
                </c:pt>
                <c:pt idx="11">
                  <c:v/>
                </c:pt>
                <c:pt idx="12">
                  <c:v/>
                </c:pt>
                <c:pt idx="13">
                  <c:v/>
                </c:pt>
                <c:pt idx="14">
                  <c:v>4</c:v>
                </c:pt>
              </c:numCache>
            </c:numRef>
          </c:val>
        </c:ser>
        <c:dLbls>
          <c:numFmt formatCode="0.0&quot;%&quot;" sourceLinked="0"/>
          <c:txPr>
            <a:bodyPr/>
            <a:lstStyle/>
            <a:p>
              <a:pPr>
                <a:defRPr b="0" i="0" strike="noStrike" sz="900" u="none">
                  <a:solidFill>
                    <a:srgbClr val="FFFFFF"/>
                  </a:solidFill>
                  <a:latin typeface="Meiryo"/>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0293A"/>
                </a:solidFill>
                <a:latin typeface="Meiryo"/>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0293A"/>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지금부터 닛케이 스톡리그 중간 성과를 보고드리겠습니다. 저희 테마는 '후공정 니치 톱 × 지방 클러스터'입니다. 핵심 메시지는 한 문장입니다 — 세계 1위급 반도체 기술은 도쿄가 아니라 구마모토, 아오모리, 후쿠시마에 있다는 것입니다. 오늘은 종목 선정(Phase 2)까지 완료된 결과와, 앞으로의 운용 계획(Phase 3)을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본론에 들어가기 전에, 이 대회가 뭔지 짧게 소개드리겠습니다. 닛케이 스톡리그는 니혼게이자이신문사가 여는 중고생·대학생 대상 투자 학습 대회입니다. 과제는 가상의 돈 500만엔으로 10에서 20종목을 골라 포트폴리오를 짜고, 그 '리포트'를 제출하는 것입니다. 여기서 가장 중요한 점 — 이 대회는 얼마를 벌었느냐로 평가하지 않습니다. 오직 리포트의 내용으로 심사합니다. 그래서 '왜 이 종목을 골랐는가'를 설명하는 게 전부입니다. 심사 포인트는 공식적으로 다섯 가지입니다 — 경제·주식투자의 이해, 포트폴리오의 창조성·유니크성, 표현력·문장력, 학습 열의·의욕, 그리고 대학·전문학교 부문에 한해 포트폴리오의 이론성·전문성. 오늘 발표도 이 기둥을 따라갑니다. 저희 테마는 '반도체의 후공정과 지방'입니다. 후공정이 뭔지, 다음 슬라이드에서 먼저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반도체가 어떻게 만들어지는지부터 보겠습니다. 크게 두 단계입니다. 앞 단계인 '전공정'은 웨이퍼라는 둥근 판에 머리카락의 만 분의 일 굵기의 회로를 '그리는' 작업입니다. TSMC 구마모토, 라피더스 홋카이도처럼 거대한 공장에 집중되고, 뉴스에 나오는 주인공도 대개 여기입니다. 뒤 단계인 '후공정'은 그렇게 만든 웨이퍼를 하나씩 '자르고, 수지로 감싸고, 검사해서' 실제로 쓸 수 있는 칩으로 완성하는 작업입니다. 눈에 덜 띄지만 이게 없으면 칩은 제품이 못 됩니다. 핵심은 아래에 있습니다 — 전공정은 한 곳에 모을 수 있지만, 후공정은 소모품·장비·검사가 '팹 바로 옆'에 모입니다. 그래서 세계 1위급 후공정 기술이 도쿄가 아니라 지방, 즉 구마모토·아오모리·후쿠시마에 생겨납니다. 바로 이것이 저희 테마입니다.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전체 요약입니다. 조사 유니버스 105사에서 출발해, 재무·스코프 게이트로 48사, 그리고 입지와 공급 링크를 1차 정보로 전수 검증하는 '확정 앵커 게이트'로 최종 15사를 선정했습니다. 규슈 13사, 도호쿠 2사입니다. 15사 전원 재무·앵커 검증이 끝났고, 그중 9사는 시계열 인과(★★★)까지 확인했습니다. 가상자금 500만엔의 비중 설계도 수수료까지 반영해 완료된 상태입니다. 한 줄로 요약하면 — 선정은 앵커 게이트, 순위는 QARP, 비중은 현재가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테마가 왜 사회적으로 의미가 있는가. 두 축입니다. 첫째, 지방창생 — 앵커 팹이 들어오면 지방에 고용과 생태계가 생깁니다. 구마모토 토박이 기업 히라타기공의 증산, 후쿠시마 닛토방적의 150억엔 신공장, 아오모리 마이크로닉스의 대형 투자가 그 실례입니다. 둘째, 경제안보 — 닛토방적은 경산성 공급확보계획 인정을 받았고, TSMC·라피더스 유치 자체가 국책입니다. 즉 저희 포트폴리오는 지방창생과 경제안보가 실제로 진행되고 있는지를 보여주는 '진행 지표'입니다.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가설의 이론적 근거입니다. 전공정, 즉 웨이퍼 제조는 자본집약적이라 소수의 메가팹에 집중되고 소재도 전 세계 배송이 가능합니다. 반면 후공정은 '가까이 있다는 것' 자체가 경쟁력입니다. 이유는 네 가지 — 첫째, 다이싱 테이프나 특수가스 같은 소모품은 매일 쓰기 때문에 근접 물류가 유리합니다. 둘째, 장비는 설치·유지보수·수율 튜닝 때문에 엔지니어 상주가 필요합니다. 셋째, 조립·검사는 팹 산출물을 받아서 처리하니 물리적 근접이 리드타임에 직결됩니다. 넷째, 칩렛 시대의 선단 패키징은 팹·소재·장비사의 공동개발 밀도가 승부처입니다. 그래서 후공정 생태계는 앵커 팹 주위에 모일 수밖에 없다 — 이 이론을 구마모토와 도호쿠에서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이론의 실증 첫 번째, 구마모토입니다. 포인트는 '시계열'입니다. TSMC가 2021년에 진출을 발표하고 2024년에 가동했는데, 그 '이후에' 수상과 증설이 이어졌습니다. 오르가노는 TSMC 신팹에 초순수를 직접 납품해 2024년 우수공급사상을 받았고, 디스코와 시바우라 메카트로닉스는 '선단 패키징' 부문 우수 서플라이어로 선정됐습니다. 도쿄오카는 발표 후 구마모토에 130억엔 신공장을 지었고, 구마모토 토박이 히라타기공은 신공장을 취득해 반도체 5할 증산에 들어갑니다. 오른쪽을 봐 주십시오 — 앵커는 TSMC 하나가 아닙니다. 미쓰비시전기의 SiC 파워반도체, 소니의 이미지센서 신공장, TEL규슈의 개발동까지 다층 구조입니다. 단일 기업 의존이 아니라는 점이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실증 두 번째, 도호쿠입니다. 앵커는 이와테의 키옥시아 기타카미 공장 — 작년 9월에 K2동이 가동한, 현재진행형 메가팹입니다. 아오모리의 일본마이크로닉스는 프로브카드 세계 상위로, 1981년부터 아오모리 히라카와가 최대 생산거점입니다. HBM 테스트 수요로 신동 110억엔에 추가 241억엔 투자를 발표했습니다. 후쿠시마의 닛토방적은 선단 패키지 기판에 필수인 T글라스 클로스를 후쿠시마에서 단독 생산하는 세계 톱입니다. 다만 여기서 정직하게 구분한 점이 있습니다 — 도호쿠 2사의 증설 동인은 구마모토처럼 '유치 때문'이 아니라 글로벌 AI 수요입니다. 그래서 저희는 이 축을 '밸류체인의 지리적 묶음'으로 과장 없이 서술합니다. 이 절제가 오히려 리포트의 신뢰도를 높인다고 판단했습니다.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선정 방법론은 3단계 게이트입니다. 1단계 레드라인 게이트 — 자기자본 40% 이상, 영업이익률 8% 이상이라는 재무 기준과, '전공정 전용 장비는 테마 밖'이라는 스코프 규칙으로 105사를 48사로 기계적으로 압축합니다. 2단계가 이번 프로젝트의 핵심인 확정 앵커 게이트입니다 — 48사 전부의 입지와 공급 링크를 유가증권보고서, IR, TSMC 수상 릴리스 같은 1차 정보로 전수 검증했습니다. 이 과정에서 가설 태그의 오류를 다수 반증했습니다. 태그와 검증은 다르다는 것을 몸으로 배웠습니다. 3단계는 통과한 15사 안에서 품질과 밸류를 50 대 50으로 종합하는 QARP 순위입니다. 즉 '테마를 검증하는 종목 안에서, 좋고 싸게'입니다.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저희 분석의 신뢰도를 지탱하는 부분입니다. 세 가지 규율입니다. 첫째, 점수가 높아도 뺐습니다 — QARP 2위 미쓰이금속, 4위 우에무라, 6위 어드밴테스트까지 9사는 세계 니치 톱이지만 지리 집적이 없어 제외했습니다. 고득점 종목을 뺀 것 자체가 체리피킹이 아니라는 증거입니다. 둘째, 인과의 사정거리를 구분했습니다 — 시계열 인과가 1차 정보로 확인되는 것은 9사뿐이고, 나머지 6사는 '규슈가 원래 반도체 소재의 토양'이라는 방증으로만 서술합니다. 셋째, '왜 100사인가'라는 지적에 실측으로 답했습니다 — 유니버스를 두 번 확장해 105사까지 넓혀도 최종 결과는 재팬머티리얼 1사 추가 외에 불변이었습니다. 결과를 결정하는 건 표본 수가 아니라 게이트 규율이라는 걸 증명한 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포트폴리오 15사 전체입니다. 배분 비중 순으로 정렬했습니다. 다이싱 세계 1위 디스코, 봉지재 세계 40% 스미토모 베이클라이트, 솔더레지스트 세계 1위 다이요HD처럼 각자 세계 니치에서 1위급인 기업들이고, 전원이 규슈 또는 도호쿠에 확정 앵커를 갖고 있습니다. 별 세 개는 시계열 인과까지 확인된 9사, 별 두 개는 입지가 확정된 6사입니다. 아래 주석도 중요합니다 — 15사의 후공정 직결도를 직결 8, 팹 공통 인프라 6, 전공정 병행 1로 정직하게 표기했습니다. '전원 순수 후공정'이라고 과장하지 않는 것까지가 저희 규율입니다.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비중 설계입니다. 원칙은 '비싸진 종목은 빼는 게 아니라 가볍게 든다'입니다. 산식은 세 가지 — 현재가 기준 QARP 점수에 비례시키되, 상한 10%로 단일 종목 의존을 막고, 하한 4%로 테마 입증에 필수인 도호쿠 2사 등이 형식적 편입이 되지 않게 보장합니다. 반도체 랠리로 밸류에이션이 크게 오른 디스코와 닛토방적은 인과의 상징성 때문에 빼지 않고 각각 6.1%, 4.0%로 가볍게 담았습니다. 예산 500만엔에서 매수 수수료 1.1%를 미리 차감해 매수 494만엔에 수수료 5.4만엔 — 규정을 정확히 반영한 설계입니다. 결과적으로 규슈 90.7%, 도호쿠 9.3%입니다.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스톡리그 심사는 수익률이 아니라 '분산투자와 장기보유의 이해'를 봅니다. 저희는 반도체 단일 테마라는 한계를 숨기지 않고, 대신 '테마 내 분산'을 설계 원리로 제시합니다. 세 축입니다 — 소모품·장비·소재·검사·인프라라는 밸류체인 단계 분산, 규슈와 도호쿠 그리고 다층 앵커라는 지역 분산, 전 종목 매출이 글로벌로 분산돼 있다는 고객 분산입니다. 장기보유 논리도 명확합니다 — 클러스터 형성은 수년 단위의 구조 변화라 가설 자체가 장기보유를 요구하고, 수수료 구조상 회전매매가 불리하며, 15종목 전부 배당을 실시합니다. 리셋 카드 2회는 원칙적으로 쓰지 않습니다. 가격이 떨어져도 팔지 않고 '왜 계속 보유했는가'를 서사로 만들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리스크도 정면으로 다룹니다. 첫째, JASM 2공장이 지연되거나 축소될 가능성 — 구마모토 앵커는 소니, 미쓰비시전기, TEL규슈까지 다층이고, 각 사 매출은 글로벌로 분산돼 있어 클러스터 인과는 '성장 옵션'이지 손익의 전부가 아닙니다. 둘째, 대만 지정학 리스크 — TSMC 유사시는 세계 반도체 전체의 리스크지만, 동시에 공급망의 일본 이전을 가속하는 요인이기도 합니다. JASM 유치 자체가 그 산물이죠. 저희는 양면을 함께 서술합니다. 셋째, 반도체 사이클 하강 — 후공정 소모품과 테스트는 가동률에 민감하지만, AI·HBM의 구조적 수요와 QARP 밸류 규율이 완충이 됩니다. 고평가 종목은 애초에 억제했고, 유일한 예외인 디스코는 그 사실을 명시했습니다.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 기준 중 '학습 과정'에 대한 답변입니다. 저희는 실패를 숨기지 않고 그대로 기록했습니다. 첫째, 시가총액 자동 수집 스크립트가 단위를 잘못 읽어 15배로 오독한 사고가 있었습니다. 그 시스템을 통째로 폐기하고 '공표 표시값 인용 + 주가 곱하기 주식수 정합 체크 + 스크립트 검증'의 삼중 프로세스로 재설계했습니다. 둘째, 간토전화를 1년 묵은 기사로 잘못 판정할 뻔했다가 최신 결산 확인으로 복귀시켰습니다 — 숫자에는 신선도가 있다는 교훈입니다. 셋째, 초기 클러스터 태그는 오류투성이였습니다. 태그와 검증은 다르다는 걸 배우고 1차 정보 전수 검증으로 전환했습니다. 넷째, '왜 그 기준인가'라는 질문에 750가지 조합의 민감도 분석과 유니버스 2회 확장으로 실측 답변을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앞으로의 계획, Phase 3입니다. 7월 하순부터 8월 중순까지는 15사의 분기 결산이 집중되는 기간입니다. 이 대회는 주문 당일 종가로 체결되기 때문에 결산 발표 직전이나 당일 매수는 갭 리스크가 있습니다. 그래서 매수는 8월 중순 이후, 1분기 실적이 가격에 반영된 뒤에 재채점과 배분 계산을 일관 실행해서 집행할 계획입니다. 가을에는 필드워크 — IR 문의와 기업 방문으로 특히 별 두 개 6사의 정성적 증거를 심화합니다. 구마모토에 거점이 있는 히라타기공과 재팬머티리얼이 방문 후보입니다. 그리고 매주 금요일 종가로 닛케이평균, TOPIX, SOX 지수와 비교 기록을 남겨 '장기보유 관찰'의 재료로 만들고, 공식 양식이 확정되면 리포트 최종판을 집필합니다.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저희가 확인한 것은 '세계 1위급은 지방에 있다'는 사실입니다. 105사에서 규율 있는 게이트로 15사를 골랐고, 점수가 높아도 증거가 없으면 뺐으며, 유니버스를 넓혀도 결론은 흔들리지 않았습니다. 구마모토, 아오모리, 후쿠시마 — 이 포트폴리오 자체가 지방창생과 경제안보의 진행 지표입니다. 다음 단계는 현장입니다. 매수를 실행하고, 필드워크로 인과를 1차 정보의 더 깊은 곳까지 파고들며, 실패까지 포함한 전 과정을 기록해 리포트로 제출하겠습니다. 이상으로 발표를 마칩니다.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발표의 흐름입니다. 크게 다섯 덩어리입니다. 먼저 도입에서 이 대회가 뭔지와 후공정이 뭔지를 짧게 잡고, 전체 요약을 한 장으로 보여드립니다. 그다음이 본론입니다 — 테마와 가설을 세우고 구마모토와 도호쿠에서 실증한 뒤, 어떻게 종목을 골랐는지와 최종 포트폴리오를 설명합니다. 마지막으로 리스크와 학습 과정, 앞으로의 계획을 말씀드립니다. 가장 중요한 부분은 네 번째 덩어리, 선정과 포트폴리오입니다. 시간이 부족하면 앞의 도입을 줄이고 여기에 시간을 쓰겠습니다.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F38"/>
        </a:solidFill>
      </p:bgPr>
    </p:bg>
    <p:spTree>
      <p:nvGrpSpPr>
        <p:cNvPr id="1" name=""/>
        <p:cNvGrpSpPr/>
        <p:nvPr/>
      </p:nvGrpSpPr>
      <p:grpSpPr>
        <a:xfrm>
          <a:off x="0" y="0"/>
          <a:ext cx="0" cy="0"/>
          <a:chOff x="0" y="0"/>
          <a:chExt cx="0" cy="0"/>
        </a:xfrm>
      </p:grpSpPr>
      <p:sp>
        <p:nvSpPr>
          <p:cNvPr id="2" name="Shape 0"/>
          <p:cNvSpPr/>
          <p:nvPr/>
        </p:nvSpPr>
        <p:spPr>
          <a:xfrm>
            <a:off x="6675120" y="320040"/>
            <a:ext cx="6217920" cy="6217920"/>
          </a:xfrm>
          <a:prstGeom prst="ellipse">
            <a:avLst/>
          </a:prstGeom>
          <a:ln w="12700">
            <a:solidFill>
              <a:srgbClr val="26385E"/>
            </a:solidFill>
            <a:prstDash val="solid"/>
          </a:ln>
        </p:spPr>
      </p:sp>
      <p:sp>
        <p:nvSpPr>
          <p:cNvPr id="3" name="Shape 1"/>
          <p:cNvSpPr/>
          <p:nvPr/>
        </p:nvSpPr>
        <p:spPr>
          <a:xfrm>
            <a:off x="7406640" y="1051560"/>
            <a:ext cx="4754880" cy="4754880"/>
          </a:xfrm>
          <a:prstGeom prst="ellipse">
            <a:avLst/>
          </a:prstGeom>
          <a:ln w="12700">
            <a:solidFill>
              <a:srgbClr val="26385E"/>
            </a:solidFill>
            <a:prstDash val="solid"/>
          </a:ln>
        </p:spPr>
      </p:sp>
      <p:sp>
        <p:nvSpPr>
          <p:cNvPr id="4" name="Shape 2"/>
          <p:cNvSpPr/>
          <p:nvPr/>
        </p:nvSpPr>
        <p:spPr>
          <a:xfrm>
            <a:off x="8092440" y="1737360"/>
            <a:ext cx="3383280" cy="3383280"/>
          </a:xfrm>
          <a:prstGeom prst="ellipse">
            <a:avLst/>
          </a:prstGeom>
          <a:ln w="19050">
            <a:solidFill>
              <a:srgbClr val="A55D2B"/>
            </a:solidFill>
            <a:prstDash val="solid"/>
          </a:ln>
        </p:spPr>
      </p:sp>
      <p:sp>
        <p:nvSpPr>
          <p:cNvPr id="5" name="Shape 3"/>
          <p:cNvSpPr/>
          <p:nvPr/>
        </p:nvSpPr>
        <p:spPr>
          <a:xfrm>
            <a:off x="8686800" y="2331720"/>
            <a:ext cx="2194560" cy="2194560"/>
          </a:xfrm>
          <a:prstGeom prst="ellipse">
            <a:avLst/>
          </a:prstGeom>
          <a:ln w="12700">
            <a:solidFill>
              <a:srgbClr val="26385E"/>
            </a:solidFill>
            <a:prstDash val="solid"/>
          </a:ln>
        </p:spPr>
      </p:sp>
      <p:sp>
        <p:nvSpPr>
          <p:cNvPr id="6" name="Shape 4"/>
          <p:cNvSpPr/>
          <p:nvPr/>
        </p:nvSpPr>
        <p:spPr>
          <a:xfrm>
            <a:off x="9189720" y="2834640"/>
            <a:ext cx="1188720" cy="1188720"/>
          </a:xfrm>
          <a:prstGeom prst="ellipse">
            <a:avLst/>
          </a:prstGeom>
          <a:ln w="12700">
            <a:solidFill>
              <a:srgbClr val="26385E"/>
            </a:solidFill>
            <a:prstDash val="solid"/>
          </a:ln>
        </p:spPr>
      </p:sp>
      <p:sp>
        <p:nvSpPr>
          <p:cNvPr id="7" name="Text 5"/>
          <p:cNvSpPr/>
          <p:nvPr/>
        </p:nvSpPr>
        <p:spPr>
          <a:xfrm>
            <a:off x="822960" y="1234440"/>
            <a:ext cx="7315200" cy="365760"/>
          </a:xfrm>
          <a:prstGeom prst="rect">
            <a:avLst/>
          </a:prstGeom>
          <a:noFill/>
          <a:ln/>
        </p:spPr>
        <p:txBody>
          <a:bodyPr wrap="square" lIns="0" tIns="0" rIns="0" bIns="0" rtlCol="0" anchor="ctr"/>
          <a:lstStyle/>
          <a:p>
            <a:pPr indent="0" marL="0">
              <a:buNone/>
            </a:pPr>
            <a:r>
              <a:rPr lang="en-US" sz="1500" b="1" spc="300" kern="0" dirty="0">
                <a:solidFill>
                  <a:srgbClr val="C0713A"/>
                </a:solidFill>
                <a:latin typeface="Meiryo" pitchFamily="34" charset="0"/>
                <a:ea typeface="Meiryo" pitchFamily="34" charset="-122"/>
                <a:cs typeface="Meiryo" pitchFamily="34" charset="-120"/>
              </a:rPr>
              <a:t>日経ストックリーグ 2026 ｜ 中間成果報告</a:t>
            </a:r>
            <a:endParaRPr lang="en-US" sz="1500" dirty="0"/>
          </a:p>
        </p:txBody>
      </p:sp>
      <p:sp>
        <p:nvSpPr>
          <p:cNvPr id="8" name="Text 6"/>
          <p:cNvSpPr/>
          <p:nvPr/>
        </p:nvSpPr>
        <p:spPr>
          <a:xfrm>
            <a:off x="822960" y="1783080"/>
            <a:ext cx="8778240" cy="2103120"/>
          </a:xfrm>
          <a:prstGeom prst="rect">
            <a:avLst/>
          </a:prstGeom>
          <a:noFill/>
          <a:ln/>
        </p:spPr>
        <p:txBody>
          <a:bodyPr wrap="square" lIns="0" tIns="0" rIns="0" bIns="0" rtlCol="0" anchor="ctr"/>
          <a:lstStyle/>
          <a:p>
            <a:pPr indent="0" marL="0">
              <a:lnSpc>
                <a:spcPct val="110000"/>
              </a:lnSpc>
              <a:buNone/>
            </a:pPr>
            <a:r>
              <a:rPr lang="en-US" sz="4700" b="1" dirty="0">
                <a:solidFill>
                  <a:srgbClr val="FFFFFF"/>
                </a:solidFill>
                <a:latin typeface="Meiryo" pitchFamily="34" charset="0"/>
                <a:ea typeface="Meiryo" pitchFamily="34" charset="-122"/>
                <a:cs typeface="Meiryo" pitchFamily="34" charset="-120"/>
              </a:rPr>
              <a:t>後工程ニッチトップ</a:t>
            </a:r>
            <a:endParaRPr lang="en-US" sz="4700" dirty="0"/>
          </a:p>
          <a:p>
            <a:pPr indent="0" marL="0">
              <a:lnSpc>
                <a:spcPct val="110000"/>
              </a:lnSpc>
              <a:buNone/>
            </a:pPr>
            <a:r>
              <a:rPr lang="en-US" sz="4700" b="1" dirty="0">
                <a:solidFill>
                  <a:srgbClr val="FFFFFF"/>
                </a:solidFill>
                <a:latin typeface="Meiryo" pitchFamily="34" charset="0"/>
                <a:ea typeface="Meiryo" pitchFamily="34" charset="-122"/>
                <a:cs typeface="Meiryo" pitchFamily="34" charset="-120"/>
              </a:rPr>
              <a:t>× 地方クラスター</a:t>
            </a:r>
            <a:endParaRPr lang="en-US" sz="4700" dirty="0"/>
          </a:p>
        </p:txBody>
      </p:sp>
      <p:sp>
        <p:nvSpPr>
          <p:cNvPr id="9" name="Text 7"/>
          <p:cNvSpPr/>
          <p:nvPr/>
        </p:nvSpPr>
        <p:spPr>
          <a:xfrm>
            <a:off x="822960" y="4114800"/>
            <a:ext cx="9326880" cy="457200"/>
          </a:xfrm>
          <a:prstGeom prst="rect">
            <a:avLst/>
          </a:prstGeom>
          <a:noFill/>
          <a:ln/>
        </p:spPr>
        <p:txBody>
          <a:bodyPr wrap="square" lIns="0" tIns="0" rIns="0" bIns="0" rtlCol="0" anchor="ctr"/>
          <a:lstStyle/>
          <a:p>
            <a:pPr indent="0" marL="0">
              <a:buNone/>
            </a:pPr>
            <a:r>
              <a:rPr lang="en-US" sz="1700" dirty="0">
                <a:solidFill>
                  <a:srgbClr val="DCE6F2"/>
                </a:solidFill>
                <a:latin typeface="Meiryo" pitchFamily="34" charset="0"/>
                <a:ea typeface="Meiryo" pitchFamily="34" charset="-122"/>
                <a:cs typeface="Meiryo" pitchFamily="34" charset="-120"/>
              </a:rPr>
              <a:t>世界首位級の半導体技術は、東京ではなく — 熊本・青森・福島にある。</a:t>
            </a:r>
            <a:endParaRPr lang="en-US" sz="1700" dirty="0"/>
          </a:p>
        </p:txBody>
      </p:sp>
      <p:sp>
        <p:nvSpPr>
          <p:cNvPr id="10" name="Shape 8"/>
          <p:cNvSpPr/>
          <p:nvPr/>
        </p:nvSpPr>
        <p:spPr>
          <a:xfrm>
            <a:off x="822960" y="5029200"/>
            <a:ext cx="2011680" cy="0"/>
          </a:xfrm>
          <a:prstGeom prst="line">
            <a:avLst/>
          </a:prstGeom>
          <a:noFill/>
          <a:ln w="25400">
            <a:solidFill>
              <a:srgbClr val="C0713A"/>
            </a:solidFill>
            <a:prstDash val="solid"/>
          </a:ln>
        </p:spPr>
      </p:sp>
      <p:sp>
        <p:nvSpPr>
          <p:cNvPr id="11" name="Text 9"/>
          <p:cNvSpPr/>
          <p:nvPr/>
        </p:nvSpPr>
        <p:spPr>
          <a:xfrm>
            <a:off x="822960" y="5212080"/>
            <a:ext cx="8686800" cy="365760"/>
          </a:xfrm>
          <a:prstGeom prst="rect">
            <a:avLst/>
          </a:prstGeom>
          <a:noFill/>
          <a:ln/>
        </p:spPr>
        <p:txBody>
          <a:bodyPr wrap="square" lIns="0" tIns="0" rIns="0" bIns="0" rtlCol="0" anchor="ctr"/>
          <a:lstStyle/>
          <a:p>
            <a:pPr indent="0" marL="0">
              <a:buNone/>
            </a:pPr>
            <a:r>
              <a:rPr lang="en-US" sz="1250" dirty="0">
                <a:solidFill>
                  <a:srgbClr val="8FA3C4"/>
                </a:solidFill>
                <a:latin typeface="Meiryo" pitchFamily="34" charset="0"/>
                <a:ea typeface="Meiryo" pitchFamily="34" charset="-122"/>
                <a:cs typeface="Meiryo" pitchFamily="34" charset="-120"/>
              </a:rPr>
              <a:t>2026年7月13日　｜　Phase 2（選定・検証）完了 ・ Phase 3（運用）計画</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ABOUT THIS COMPETITION</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日経ストックリーグとは？ — このプレゼンの前提</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3</a:t>
            </a:r>
            <a:endParaRPr lang="en-US" sz="900" dirty="0"/>
          </a:p>
        </p:txBody>
      </p:sp>
      <p:sp>
        <p:nvSpPr>
          <p:cNvPr id="9" name="Shape 7"/>
          <p:cNvSpPr/>
          <p:nvPr/>
        </p:nvSpPr>
        <p:spPr>
          <a:xfrm>
            <a:off x="548640" y="1371600"/>
            <a:ext cx="5257800" cy="3794760"/>
          </a:xfrm>
          <a:prstGeom prst="roundRect">
            <a:avLst>
              <a:gd name="adj" fmla="val 1687"/>
            </a:avLst>
          </a:prstGeom>
          <a:solidFill>
            <a:srgbClr val="F3F6FA"/>
          </a:solidFill>
          <a:ln/>
        </p:spPr>
      </p:sp>
      <p:sp>
        <p:nvSpPr>
          <p:cNvPr id="10" name="Text 8"/>
          <p:cNvSpPr/>
          <p:nvPr/>
        </p:nvSpPr>
        <p:spPr>
          <a:xfrm>
            <a:off x="822960" y="1591056"/>
            <a:ext cx="4709160" cy="365760"/>
          </a:xfrm>
          <a:prstGeom prst="rect">
            <a:avLst/>
          </a:prstGeom>
          <a:noFill/>
          <a:ln/>
        </p:spPr>
        <p:txBody>
          <a:bodyPr wrap="square" lIns="0" tIns="0" rIns="0" bIns="0" rtlCol="0" anchor="ctr"/>
          <a:lstStyle/>
          <a:p>
            <a:pPr indent="0" marL="0">
              <a:buNone/>
            </a:pPr>
            <a:r>
              <a:rPr lang="en-US" sz="1600" b="1" dirty="0">
                <a:solidFill>
                  <a:srgbClr val="1C2B4A"/>
                </a:solidFill>
                <a:latin typeface="Meiryo" pitchFamily="34" charset="0"/>
                <a:ea typeface="Meiryo" pitchFamily="34" charset="-122"/>
                <a:cs typeface="Meiryo" pitchFamily="34" charset="-120"/>
              </a:rPr>
              <a:t>どんなコンテスト？</a:t>
            </a:r>
            <a:endParaRPr lang="en-US" sz="1600" dirty="0"/>
          </a:p>
        </p:txBody>
      </p:sp>
      <p:sp>
        <p:nvSpPr>
          <p:cNvPr id="11" name="Text 9"/>
          <p:cNvSpPr/>
          <p:nvPr/>
        </p:nvSpPr>
        <p:spPr>
          <a:xfrm>
            <a:off x="822960" y="2121408"/>
            <a:ext cx="4709160" cy="960120"/>
          </a:xfrm>
          <a:prstGeom prst="rect">
            <a:avLst/>
          </a:prstGeom>
          <a:noFill/>
          <a:ln/>
        </p:spPr>
        <p:txBody>
          <a:bodyPr wrap="square" lIns="0" tIns="0" rIns="0" bIns="0" rtlCol="0" anchor="t"/>
          <a:lstStyle/>
          <a:p>
            <a:pPr indent="0" marL="0">
              <a:buNone/>
            </a:pPr>
            <a:r>
              <a:rPr lang="en-US" sz="1300" b="1" dirty="0">
                <a:solidFill>
                  <a:srgbClr val="A55D2B"/>
                </a:solidFill>
                <a:latin typeface="Meiryo" pitchFamily="34" charset="0"/>
                <a:ea typeface="Meiryo" pitchFamily="34" charset="-122"/>
                <a:cs typeface="Meiryo" pitchFamily="34" charset="-120"/>
              </a:rPr>
              <a:t>主催・対象</a:t>
            </a:r>
            <a:endParaRPr lang="en-US" sz="1300" dirty="0"/>
          </a:p>
          <a:p>
            <a:pPr indent="0" marL="0">
              <a:buNone/>
            </a:pPr>
            <a:r>
              <a:rPr lang="en-US" sz="1150" dirty="0">
                <a:solidFill>
                  <a:srgbClr val="5B6B7F"/>
                </a:solidFill>
                <a:latin typeface="Meiryo" pitchFamily="34" charset="0"/>
                <a:ea typeface="Meiryo" pitchFamily="34" charset="-122"/>
                <a:cs typeface="Meiryo" pitchFamily="34" charset="-120"/>
              </a:rPr>
              <a:t>日本経済新聞社が開く、中高生〜大学生向けの「投資を学ぶ」コンテスト。</a:t>
            </a:r>
            <a:endParaRPr lang="en-US" sz="1300" dirty="0"/>
          </a:p>
        </p:txBody>
      </p:sp>
      <p:sp>
        <p:nvSpPr>
          <p:cNvPr id="12" name="Text 10"/>
          <p:cNvSpPr/>
          <p:nvPr/>
        </p:nvSpPr>
        <p:spPr>
          <a:xfrm>
            <a:off x="822960" y="3108960"/>
            <a:ext cx="4709160" cy="960120"/>
          </a:xfrm>
          <a:prstGeom prst="rect">
            <a:avLst/>
          </a:prstGeom>
          <a:noFill/>
          <a:ln/>
        </p:spPr>
        <p:txBody>
          <a:bodyPr wrap="square" lIns="0" tIns="0" rIns="0" bIns="0" rtlCol="0" anchor="t"/>
          <a:lstStyle/>
          <a:p>
            <a:pPr indent="0" marL="0">
              <a:buNone/>
            </a:pPr>
            <a:r>
              <a:rPr lang="en-US" sz="1300" b="1" dirty="0">
                <a:solidFill>
                  <a:srgbClr val="A55D2B"/>
                </a:solidFill>
                <a:latin typeface="Meiryo" pitchFamily="34" charset="0"/>
                <a:ea typeface="Meiryo" pitchFamily="34" charset="-122"/>
                <a:cs typeface="Meiryo" pitchFamily="34" charset="-120"/>
              </a:rPr>
              <a:t>課題</a:t>
            </a:r>
            <a:endParaRPr lang="en-US" sz="1300" dirty="0"/>
          </a:p>
          <a:p>
            <a:pPr indent="0" marL="0">
              <a:buNone/>
            </a:pPr>
            <a:r>
              <a:rPr lang="en-US" sz="1150" dirty="0">
                <a:solidFill>
                  <a:srgbClr val="5B6B7F"/>
                </a:solidFill>
                <a:latin typeface="Meiryo" pitchFamily="34" charset="0"/>
                <a:ea typeface="Meiryo" pitchFamily="34" charset="-122"/>
                <a:cs typeface="Meiryo" pitchFamily="34" charset="-120"/>
              </a:rPr>
              <a:t>仮想のお金 500万円 で 10〜20銘柄 を選び、ポートフォリオと「レポート」を提出する。</a:t>
            </a:r>
            <a:endParaRPr lang="en-US" sz="1300" dirty="0"/>
          </a:p>
        </p:txBody>
      </p:sp>
      <p:sp>
        <p:nvSpPr>
          <p:cNvPr id="13" name="Text 11"/>
          <p:cNvSpPr/>
          <p:nvPr/>
        </p:nvSpPr>
        <p:spPr>
          <a:xfrm>
            <a:off x="822960" y="4096512"/>
            <a:ext cx="4709160" cy="960120"/>
          </a:xfrm>
          <a:prstGeom prst="rect">
            <a:avLst/>
          </a:prstGeom>
          <a:noFill/>
          <a:ln/>
        </p:spPr>
        <p:txBody>
          <a:bodyPr wrap="square" lIns="0" tIns="0" rIns="0" bIns="0" rtlCol="0" anchor="t"/>
          <a:lstStyle/>
          <a:p>
            <a:pPr indent="0" marL="0">
              <a:buNone/>
            </a:pPr>
            <a:r>
              <a:rPr lang="en-US" sz="1300" b="1" dirty="0">
                <a:solidFill>
                  <a:srgbClr val="A55D2B"/>
                </a:solidFill>
                <a:latin typeface="Meiryo" pitchFamily="34" charset="0"/>
                <a:ea typeface="Meiryo" pitchFamily="34" charset="-122"/>
                <a:cs typeface="Meiryo" pitchFamily="34" charset="-120"/>
              </a:rPr>
              <a:t>いちばん大事なこと</a:t>
            </a:r>
            <a:endParaRPr lang="en-US" sz="1300" dirty="0"/>
          </a:p>
          <a:p>
            <a:pPr indent="0" marL="0">
              <a:buNone/>
            </a:pPr>
            <a:r>
              <a:rPr lang="en-US" sz="1150" dirty="0">
                <a:solidFill>
                  <a:srgbClr val="5B6B7F"/>
                </a:solidFill>
                <a:latin typeface="Meiryo" pitchFamily="34" charset="0"/>
                <a:ea typeface="Meiryo" pitchFamily="34" charset="-122"/>
                <a:cs typeface="Meiryo" pitchFamily="34" charset="-120"/>
              </a:rPr>
              <a:t>儲けた金額では評価されない — レポートの中身で審査される。だから「なぜ選んだか」の説明がすべて。</a:t>
            </a:r>
            <a:endParaRPr lang="en-US" sz="1300" dirty="0"/>
          </a:p>
        </p:txBody>
      </p:sp>
      <p:sp>
        <p:nvSpPr>
          <p:cNvPr id="14" name="Text 12"/>
          <p:cNvSpPr/>
          <p:nvPr/>
        </p:nvSpPr>
        <p:spPr>
          <a:xfrm>
            <a:off x="6080760" y="1353312"/>
            <a:ext cx="5562295" cy="365760"/>
          </a:xfrm>
          <a:prstGeom prst="rect">
            <a:avLst/>
          </a:prstGeom>
          <a:noFill/>
          <a:ln/>
        </p:spPr>
        <p:txBody>
          <a:bodyPr wrap="square" lIns="0" tIns="0" rIns="0" bIns="0" rtlCol="0" anchor="ctr"/>
          <a:lstStyle/>
          <a:p>
            <a:pPr indent="0" marL="0">
              <a:buNone/>
            </a:pPr>
            <a:r>
              <a:rPr lang="en-US" sz="1300" b="1" dirty="0">
                <a:solidFill>
                  <a:srgbClr val="1C2B4A"/>
                </a:solidFill>
                <a:latin typeface="Meiryo" pitchFamily="34" charset="0"/>
                <a:ea typeface="Meiryo" pitchFamily="34" charset="-122"/>
                <a:cs typeface="Meiryo" pitchFamily="34" charset="-120"/>
              </a:rPr>
              <a:t>レポート審査のポイント（＝このあとの発表の柱）</a:t>
            </a:r>
            <a:endParaRPr lang="en-US" sz="1300" dirty="0"/>
          </a:p>
        </p:txBody>
      </p:sp>
      <p:sp>
        <p:nvSpPr>
          <p:cNvPr id="15" name="Shape 13"/>
          <p:cNvSpPr/>
          <p:nvPr/>
        </p:nvSpPr>
        <p:spPr>
          <a:xfrm>
            <a:off x="6080760" y="1828800"/>
            <a:ext cx="5562295" cy="749808"/>
          </a:xfrm>
          <a:prstGeom prst="roundRect">
            <a:avLst>
              <a:gd name="adj" fmla="val 8537"/>
            </a:avLst>
          </a:prstGeom>
          <a:solidFill>
            <a:srgbClr val="F3F6FA"/>
          </a:solidFill>
          <a:ln/>
        </p:spPr>
      </p:sp>
      <p:sp>
        <p:nvSpPr>
          <p:cNvPr id="16" name="Text 14"/>
          <p:cNvSpPr/>
          <p:nvPr/>
        </p:nvSpPr>
        <p:spPr>
          <a:xfrm>
            <a:off x="6300216" y="1975104"/>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17" name="Text 15"/>
          <p:cNvSpPr/>
          <p:nvPr/>
        </p:nvSpPr>
        <p:spPr>
          <a:xfrm>
            <a:off x="6940296" y="1920240"/>
            <a:ext cx="4465015" cy="566928"/>
          </a:xfrm>
          <a:prstGeom prst="rect">
            <a:avLst/>
          </a:prstGeom>
          <a:noFill/>
          <a:ln/>
        </p:spPr>
        <p:txBody>
          <a:bodyPr wrap="square" lIns="0" tIns="0" rIns="0" bIns="0" rtlCol="0" anchor="ctr"/>
          <a:lstStyle/>
          <a:p>
            <a:pPr indent="0" marL="0">
              <a:buNone/>
            </a:pPr>
            <a:r>
              <a:rPr lang="en-US" sz="1250" b="1" dirty="0">
                <a:solidFill>
                  <a:srgbClr val="1C2B4A"/>
                </a:solidFill>
                <a:latin typeface="Meiryo" pitchFamily="34" charset="0"/>
                <a:ea typeface="Meiryo" pitchFamily="34" charset="-122"/>
                <a:cs typeface="Meiryo" pitchFamily="34" charset="-120"/>
              </a:rPr>
              <a:t>経済や株式投資の理解　</a:t>
            </a:r>
            <a:pPr indent="0" marL="0">
              <a:buNone/>
            </a:pPr>
            <a:r>
              <a:rPr lang="en-US" sz="1100" dirty="0">
                <a:solidFill>
                  <a:srgbClr val="5B6B7F"/>
                </a:solidFill>
                <a:latin typeface="Meiryo" pitchFamily="34" charset="0"/>
                <a:ea typeface="Meiryo" pitchFamily="34" charset="-122"/>
                <a:cs typeface="Meiryo" pitchFamily="34" charset="-120"/>
              </a:rPr>
              <a:t>経済と株式投資をどれだけ理解したか</a:t>
            </a:r>
            <a:endParaRPr lang="en-US" sz="1250" dirty="0"/>
          </a:p>
        </p:txBody>
      </p:sp>
      <p:sp>
        <p:nvSpPr>
          <p:cNvPr id="18" name="Shape 16"/>
          <p:cNvSpPr/>
          <p:nvPr/>
        </p:nvSpPr>
        <p:spPr>
          <a:xfrm>
            <a:off x="6080760" y="2670048"/>
            <a:ext cx="5562295" cy="749808"/>
          </a:xfrm>
          <a:prstGeom prst="roundRect">
            <a:avLst>
              <a:gd name="adj" fmla="val 8537"/>
            </a:avLst>
          </a:prstGeom>
          <a:solidFill>
            <a:srgbClr val="F3F6FA"/>
          </a:solidFill>
          <a:ln/>
        </p:spPr>
      </p:sp>
      <p:sp>
        <p:nvSpPr>
          <p:cNvPr id="19" name="Text 17"/>
          <p:cNvSpPr/>
          <p:nvPr/>
        </p:nvSpPr>
        <p:spPr>
          <a:xfrm>
            <a:off x="6300216" y="281635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20" name="Text 18"/>
          <p:cNvSpPr/>
          <p:nvPr/>
        </p:nvSpPr>
        <p:spPr>
          <a:xfrm>
            <a:off x="6940296" y="2761488"/>
            <a:ext cx="4465015" cy="566928"/>
          </a:xfrm>
          <a:prstGeom prst="rect">
            <a:avLst/>
          </a:prstGeom>
          <a:noFill/>
          <a:ln/>
        </p:spPr>
        <p:txBody>
          <a:bodyPr wrap="square" lIns="0" tIns="0" rIns="0" bIns="0" rtlCol="0" anchor="ctr"/>
          <a:lstStyle/>
          <a:p>
            <a:pPr indent="0" marL="0">
              <a:buNone/>
            </a:pPr>
            <a:r>
              <a:rPr lang="en-US" sz="1250" b="1" dirty="0">
                <a:solidFill>
                  <a:srgbClr val="1C2B4A"/>
                </a:solidFill>
                <a:latin typeface="Meiryo" pitchFamily="34" charset="0"/>
                <a:ea typeface="Meiryo" pitchFamily="34" charset="-122"/>
                <a:cs typeface="Meiryo" pitchFamily="34" charset="-120"/>
              </a:rPr>
              <a:t>ポートフォリオの創造性・ユニーク性　</a:t>
            </a:r>
            <a:pPr indent="0" marL="0">
              <a:buNone/>
            </a:pPr>
            <a:r>
              <a:rPr lang="en-US" sz="1100" dirty="0">
                <a:solidFill>
                  <a:srgbClr val="5B6B7F"/>
                </a:solidFill>
                <a:latin typeface="Meiryo" pitchFamily="34" charset="0"/>
                <a:ea typeface="Meiryo" pitchFamily="34" charset="-122"/>
                <a:cs typeface="Meiryo" pitchFamily="34" charset="-120"/>
              </a:rPr>
              <a:t>テーマと銘柄選定が独創的か</a:t>
            </a:r>
            <a:endParaRPr lang="en-US" sz="1250" dirty="0"/>
          </a:p>
        </p:txBody>
      </p:sp>
      <p:sp>
        <p:nvSpPr>
          <p:cNvPr id="21" name="Shape 19"/>
          <p:cNvSpPr/>
          <p:nvPr/>
        </p:nvSpPr>
        <p:spPr>
          <a:xfrm>
            <a:off x="6080760" y="3511296"/>
            <a:ext cx="5562295" cy="749808"/>
          </a:xfrm>
          <a:prstGeom prst="roundRect">
            <a:avLst>
              <a:gd name="adj" fmla="val 8537"/>
            </a:avLst>
          </a:prstGeom>
          <a:solidFill>
            <a:srgbClr val="F3F6FA"/>
          </a:solidFill>
          <a:ln/>
        </p:spPr>
      </p:sp>
      <p:sp>
        <p:nvSpPr>
          <p:cNvPr id="22" name="Text 20"/>
          <p:cNvSpPr/>
          <p:nvPr/>
        </p:nvSpPr>
        <p:spPr>
          <a:xfrm>
            <a:off x="6300216" y="3657600"/>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23" name="Text 21"/>
          <p:cNvSpPr/>
          <p:nvPr/>
        </p:nvSpPr>
        <p:spPr>
          <a:xfrm>
            <a:off x="6940296" y="3602736"/>
            <a:ext cx="4465015" cy="566928"/>
          </a:xfrm>
          <a:prstGeom prst="rect">
            <a:avLst/>
          </a:prstGeom>
          <a:noFill/>
          <a:ln/>
        </p:spPr>
        <p:txBody>
          <a:bodyPr wrap="square" lIns="0" tIns="0" rIns="0" bIns="0" rtlCol="0" anchor="ctr"/>
          <a:lstStyle/>
          <a:p>
            <a:pPr indent="0" marL="0">
              <a:buNone/>
            </a:pPr>
            <a:r>
              <a:rPr lang="en-US" sz="1250" b="1" dirty="0">
                <a:solidFill>
                  <a:srgbClr val="1C2B4A"/>
                </a:solidFill>
                <a:latin typeface="Meiryo" pitchFamily="34" charset="0"/>
                <a:ea typeface="Meiryo" pitchFamily="34" charset="-122"/>
                <a:cs typeface="Meiryo" pitchFamily="34" charset="-120"/>
              </a:rPr>
              <a:t>表現力・文章力　</a:t>
            </a:r>
            <a:pPr indent="0" marL="0">
              <a:buNone/>
            </a:pPr>
            <a:r>
              <a:rPr lang="en-US" sz="1100" dirty="0">
                <a:solidFill>
                  <a:srgbClr val="5B6B7F"/>
                </a:solidFill>
                <a:latin typeface="Meiryo" pitchFamily="34" charset="0"/>
                <a:ea typeface="Meiryo" pitchFamily="34" charset="-122"/>
                <a:cs typeface="Meiryo" pitchFamily="34" charset="-120"/>
              </a:rPr>
              <a:t>レポートで明確に伝えられているか</a:t>
            </a:r>
            <a:endParaRPr lang="en-US" sz="1250" dirty="0"/>
          </a:p>
        </p:txBody>
      </p:sp>
      <p:sp>
        <p:nvSpPr>
          <p:cNvPr id="24" name="Shape 22"/>
          <p:cNvSpPr/>
          <p:nvPr/>
        </p:nvSpPr>
        <p:spPr>
          <a:xfrm>
            <a:off x="6080760" y="4352544"/>
            <a:ext cx="5562295" cy="749808"/>
          </a:xfrm>
          <a:prstGeom prst="roundRect">
            <a:avLst>
              <a:gd name="adj" fmla="val 8537"/>
            </a:avLst>
          </a:prstGeom>
          <a:solidFill>
            <a:srgbClr val="F3F6FA"/>
          </a:solidFill>
          <a:ln/>
        </p:spPr>
      </p:sp>
      <p:sp>
        <p:nvSpPr>
          <p:cNvPr id="25" name="Text 23"/>
          <p:cNvSpPr/>
          <p:nvPr/>
        </p:nvSpPr>
        <p:spPr>
          <a:xfrm>
            <a:off x="6300216" y="4498848"/>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6" name="Text 24"/>
          <p:cNvSpPr/>
          <p:nvPr/>
        </p:nvSpPr>
        <p:spPr>
          <a:xfrm>
            <a:off x="6940296" y="4443984"/>
            <a:ext cx="4465015" cy="566928"/>
          </a:xfrm>
          <a:prstGeom prst="rect">
            <a:avLst/>
          </a:prstGeom>
          <a:noFill/>
          <a:ln/>
        </p:spPr>
        <p:txBody>
          <a:bodyPr wrap="square" lIns="0" tIns="0" rIns="0" bIns="0" rtlCol="0" anchor="ctr"/>
          <a:lstStyle/>
          <a:p>
            <a:pPr indent="0" marL="0">
              <a:buNone/>
            </a:pPr>
            <a:r>
              <a:rPr lang="en-US" sz="1250" b="1" dirty="0">
                <a:solidFill>
                  <a:srgbClr val="1C2B4A"/>
                </a:solidFill>
                <a:latin typeface="Meiryo" pitchFamily="34" charset="0"/>
                <a:ea typeface="Meiryo" pitchFamily="34" charset="-122"/>
                <a:cs typeface="Meiryo" pitchFamily="34" charset="-120"/>
              </a:rPr>
              <a:t>学習への熱意・意気込み　</a:t>
            </a:r>
            <a:pPr indent="0" marL="0">
              <a:buNone/>
            </a:pPr>
            <a:r>
              <a:rPr lang="en-US" sz="1100" dirty="0">
                <a:solidFill>
                  <a:srgbClr val="5B6B7F"/>
                </a:solidFill>
                <a:latin typeface="Meiryo" pitchFamily="34" charset="0"/>
                <a:ea typeface="Meiryo" pitchFamily="34" charset="-122"/>
                <a:cs typeface="Meiryo" pitchFamily="34" charset="-120"/>
              </a:rPr>
              <a:t>アンケート・企業取材などの踏み込み</a:t>
            </a:r>
            <a:endParaRPr lang="en-US" sz="1250" dirty="0"/>
          </a:p>
        </p:txBody>
      </p:sp>
      <p:sp>
        <p:nvSpPr>
          <p:cNvPr id="27" name="Shape 25"/>
          <p:cNvSpPr/>
          <p:nvPr/>
        </p:nvSpPr>
        <p:spPr>
          <a:xfrm>
            <a:off x="548640" y="5532120"/>
            <a:ext cx="11094415" cy="566928"/>
          </a:xfrm>
          <a:prstGeom prst="roundRect">
            <a:avLst>
              <a:gd name="adj" fmla="val 11290"/>
            </a:avLst>
          </a:prstGeom>
          <a:solidFill>
            <a:srgbClr val="1C2B4A"/>
          </a:solidFill>
          <a:ln/>
        </p:spPr>
      </p:sp>
      <p:sp>
        <p:nvSpPr>
          <p:cNvPr id="28" name="Text 26"/>
          <p:cNvSpPr/>
          <p:nvPr/>
        </p:nvSpPr>
        <p:spPr>
          <a:xfrm>
            <a:off x="822960" y="5532120"/>
            <a:ext cx="10545775" cy="566928"/>
          </a:xfrm>
          <a:prstGeom prst="rect">
            <a:avLst/>
          </a:prstGeom>
          <a:noFill/>
          <a:ln/>
        </p:spPr>
        <p:txBody>
          <a:bodyPr wrap="square" lIns="0" tIns="0" rIns="0" bIns="0" rtlCol="0" anchor="ctr"/>
          <a:lstStyle/>
          <a:p>
            <a:pPr algn="ctr" indent="0" marL="0">
              <a:buNone/>
            </a:pPr>
            <a:r>
              <a:rPr lang="en-US" sz="1350" dirty="0">
                <a:solidFill>
                  <a:srgbClr val="DCE6F2"/>
                </a:solidFill>
                <a:latin typeface="Meiryo" pitchFamily="34" charset="0"/>
                <a:ea typeface="Meiryo" pitchFamily="34" charset="-122"/>
                <a:cs typeface="Meiryo" pitchFamily="34" charset="-120"/>
              </a:rPr>
              <a:t>私たちのテーマ ＝ </a:t>
            </a:r>
            <a:pPr algn="ctr" indent="0" marL="0">
              <a:buNone/>
            </a:pPr>
            <a:r>
              <a:rPr lang="en-US" sz="1350" b="1" dirty="0">
                <a:solidFill>
                  <a:srgbClr val="FFFFFF"/>
                </a:solidFill>
                <a:latin typeface="Meiryo" pitchFamily="34" charset="0"/>
                <a:ea typeface="Meiryo" pitchFamily="34" charset="-122"/>
                <a:cs typeface="Meiryo" pitchFamily="34" charset="-120"/>
              </a:rPr>
              <a:t>「半導体の“後工程”× 地方」</a:t>
            </a:r>
            <a:pPr algn="ctr" indent="0" marL="0">
              <a:buNone/>
            </a:pPr>
            <a:r>
              <a:rPr lang="en-US" sz="1150" dirty="0">
                <a:solidFill>
                  <a:srgbClr val="DCE6F2"/>
                </a:solidFill>
                <a:latin typeface="Meiryo" pitchFamily="34" charset="0"/>
                <a:ea typeface="Meiryo" pitchFamily="34" charset="-122"/>
                <a:cs typeface="Meiryo" pitchFamily="34" charset="-120"/>
              </a:rPr>
              <a:t>　— まず“後工程”を、次のスライドで説明します。</a:t>
            </a:r>
            <a:endParaRPr lang="en-US" sz="1350" dirty="0"/>
          </a:p>
        </p:txBody>
      </p:sp>
      <p:sp>
        <p:nvSpPr>
          <p:cNvPr id="29" name="Text 29"/>
          <p:cNvSpPr/>
          <p:nvPr/>
        </p:nvSpPr>
        <p:spPr>
          <a:xfrm>
            <a:off x="6940296" y="5102352"/>
            <a:ext cx="4465015" cy="274320"/>
          </a:xfrm>
          <a:prstGeom prst="rect">
            <a:avLst/>
          </a:prstGeom>
          <a:noFill/>
          <a:ln/>
        </p:spPr>
        <p:txBody>
          <a:bodyPr wrap="square" lIns="0" tIns="0" rIns="0" bIns="0" rtlCol="0" anchor="ctr"/>
          <a:lstStyle/>
          <a:p>
            <a:pPr indent="0" marL="0">
              <a:buNone/>
            </a:pPr>
            <a:r>
              <a:rPr lang="en-US" sz="900" dirty="0">
                <a:solidFill>
                  <a:srgbClr val="8A9AA8"/>
                </a:solidFill>
                <a:latin typeface="Meiryo" pitchFamily="34" charset="0"/>
                <a:ea typeface="Meiryo" pitchFamily="34" charset="-122"/>
                <a:cs typeface="Meiryo" pitchFamily="34" charset="-120"/>
              </a:rPr>
              <a:t>＋ 大学・専門学校部門のみ：ポートフォリオの理論性・専門性</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BACKGROUND</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そもそも「後工程」とは？ — 半導体づくりの後半戦</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4</a:t>
            </a:r>
            <a:endParaRPr lang="en-US" sz="900" dirty="0"/>
          </a:p>
        </p:txBody>
      </p:sp>
      <p:sp>
        <p:nvSpPr>
          <p:cNvPr id="9" name="Shape 7"/>
          <p:cNvSpPr/>
          <p:nvPr/>
        </p:nvSpPr>
        <p:spPr>
          <a:xfrm>
            <a:off x="594360" y="1417320"/>
            <a:ext cx="1920240" cy="1051560"/>
          </a:xfrm>
          <a:prstGeom prst="roundRect">
            <a:avLst>
              <a:gd name="adj" fmla="val 6087"/>
            </a:avLst>
          </a:prstGeom>
          <a:solidFill>
            <a:srgbClr val="F3F6FA"/>
          </a:solidFill>
          <a:ln/>
        </p:spPr>
      </p:sp>
      <p:sp>
        <p:nvSpPr>
          <p:cNvPr id="10" name="Text 8"/>
          <p:cNvSpPr/>
          <p:nvPr/>
        </p:nvSpPr>
        <p:spPr>
          <a:xfrm>
            <a:off x="685800" y="1600200"/>
            <a:ext cx="1737360" cy="365760"/>
          </a:xfrm>
          <a:prstGeom prst="rect">
            <a:avLst/>
          </a:prstGeom>
          <a:noFill/>
          <a:ln/>
        </p:spPr>
        <p:txBody>
          <a:bodyPr wrap="square" lIns="0" tIns="0" rIns="0" bIns="0" rtlCol="0" anchor="ctr"/>
          <a:lstStyle/>
          <a:p>
            <a:pPr algn="ctr" indent="0" marL="0">
              <a:buNone/>
            </a:pPr>
            <a:r>
              <a:rPr lang="en-US" sz="1500" b="1" dirty="0">
                <a:solidFill>
                  <a:srgbClr val="20293A"/>
                </a:solidFill>
                <a:latin typeface="Meiryo" pitchFamily="34" charset="0"/>
                <a:ea typeface="Meiryo" pitchFamily="34" charset="-122"/>
                <a:cs typeface="Meiryo" pitchFamily="34" charset="-120"/>
              </a:rPr>
              <a:t>材料</a:t>
            </a:r>
            <a:endParaRPr lang="en-US" sz="1500" dirty="0"/>
          </a:p>
        </p:txBody>
      </p:sp>
      <p:sp>
        <p:nvSpPr>
          <p:cNvPr id="11" name="Text 9"/>
          <p:cNvSpPr/>
          <p:nvPr/>
        </p:nvSpPr>
        <p:spPr>
          <a:xfrm>
            <a:off x="685800" y="1984248"/>
            <a:ext cx="1737360" cy="365760"/>
          </a:xfrm>
          <a:prstGeom prst="rect">
            <a:avLst/>
          </a:prstGeom>
          <a:noFill/>
          <a:ln/>
        </p:spPr>
        <p:txBody>
          <a:bodyPr wrap="square" lIns="0" tIns="0" rIns="0" bIns="0" rtlCol="0" anchor="ctr"/>
          <a:lstStyle/>
          <a:p>
            <a:pPr algn="ctr" indent="0" marL="0">
              <a:buNone/>
            </a:pPr>
            <a:r>
              <a:rPr lang="en-US" sz="1100" dirty="0">
                <a:solidFill>
                  <a:srgbClr val="5B6B7F"/>
                </a:solidFill>
                <a:latin typeface="Meiryo" pitchFamily="34" charset="0"/>
                <a:ea typeface="Meiryo" pitchFamily="34" charset="-122"/>
                <a:cs typeface="Meiryo" pitchFamily="34" charset="-120"/>
              </a:rPr>
              <a:t>砂・シリコン</a:t>
            </a:r>
            <a:endParaRPr lang="en-US" sz="1100" dirty="0"/>
          </a:p>
        </p:txBody>
      </p:sp>
      <p:sp>
        <p:nvSpPr>
          <p:cNvPr id="12" name="Shape 10"/>
          <p:cNvSpPr/>
          <p:nvPr/>
        </p:nvSpPr>
        <p:spPr>
          <a:xfrm>
            <a:off x="2532888" y="1824228"/>
            <a:ext cx="283464" cy="237744"/>
          </a:xfrm>
          <a:prstGeom prst="rightArrow">
            <a:avLst/>
          </a:prstGeom>
          <a:solidFill>
            <a:srgbClr val="D5DEE9"/>
          </a:solidFill>
          <a:ln/>
        </p:spPr>
      </p:sp>
      <p:sp>
        <p:nvSpPr>
          <p:cNvPr id="13" name="Shape 11"/>
          <p:cNvSpPr/>
          <p:nvPr/>
        </p:nvSpPr>
        <p:spPr>
          <a:xfrm>
            <a:off x="2834640" y="1417320"/>
            <a:ext cx="1920240" cy="1051560"/>
          </a:xfrm>
          <a:prstGeom prst="roundRect">
            <a:avLst>
              <a:gd name="adj" fmla="val 6087"/>
            </a:avLst>
          </a:prstGeom>
          <a:solidFill>
            <a:srgbClr val="1C2B4A"/>
          </a:solidFill>
          <a:ln/>
        </p:spPr>
      </p:sp>
      <p:sp>
        <p:nvSpPr>
          <p:cNvPr id="14" name="Text 12"/>
          <p:cNvSpPr/>
          <p:nvPr/>
        </p:nvSpPr>
        <p:spPr>
          <a:xfrm>
            <a:off x="2926080" y="1600200"/>
            <a:ext cx="17373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前工程</a:t>
            </a:r>
            <a:endParaRPr lang="en-US" sz="1500" dirty="0"/>
          </a:p>
        </p:txBody>
      </p:sp>
      <p:sp>
        <p:nvSpPr>
          <p:cNvPr id="15" name="Text 13"/>
          <p:cNvSpPr/>
          <p:nvPr/>
        </p:nvSpPr>
        <p:spPr>
          <a:xfrm>
            <a:off x="2926080" y="1984248"/>
            <a:ext cx="1737360" cy="365760"/>
          </a:xfrm>
          <a:prstGeom prst="rect">
            <a:avLst/>
          </a:prstGeom>
          <a:noFill/>
          <a:ln/>
        </p:spPr>
        <p:txBody>
          <a:bodyPr wrap="square" lIns="0" tIns="0" rIns="0" bIns="0" rtlCol="0" anchor="ctr"/>
          <a:lstStyle/>
          <a:p>
            <a:pPr algn="ctr" indent="0" marL="0">
              <a:buNone/>
            </a:pPr>
            <a:r>
              <a:rPr lang="en-US" sz="1100" dirty="0">
                <a:solidFill>
                  <a:srgbClr val="DCE6F2"/>
                </a:solidFill>
                <a:latin typeface="Meiryo" pitchFamily="34" charset="0"/>
                <a:ea typeface="Meiryo" pitchFamily="34" charset="-122"/>
                <a:cs typeface="Meiryo" pitchFamily="34" charset="-120"/>
              </a:rPr>
              <a:t>回路を“描く”</a:t>
            </a:r>
            <a:endParaRPr lang="en-US" sz="1100" dirty="0"/>
          </a:p>
        </p:txBody>
      </p:sp>
      <p:sp>
        <p:nvSpPr>
          <p:cNvPr id="16" name="Shape 14"/>
          <p:cNvSpPr/>
          <p:nvPr/>
        </p:nvSpPr>
        <p:spPr>
          <a:xfrm>
            <a:off x="4773168" y="1824228"/>
            <a:ext cx="283464" cy="237744"/>
          </a:xfrm>
          <a:prstGeom prst="rightArrow">
            <a:avLst/>
          </a:prstGeom>
          <a:solidFill>
            <a:srgbClr val="C0713A"/>
          </a:solidFill>
          <a:ln/>
        </p:spPr>
      </p:sp>
      <p:sp>
        <p:nvSpPr>
          <p:cNvPr id="17" name="Shape 15"/>
          <p:cNvSpPr/>
          <p:nvPr/>
        </p:nvSpPr>
        <p:spPr>
          <a:xfrm>
            <a:off x="5074920" y="1417320"/>
            <a:ext cx="1920240" cy="1051560"/>
          </a:xfrm>
          <a:prstGeom prst="roundRect">
            <a:avLst>
              <a:gd name="adj" fmla="val 6087"/>
            </a:avLst>
          </a:prstGeom>
          <a:solidFill>
            <a:srgbClr val="C0713A"/>
          </a:solidFill>
          <a:ln/>
        </p:spPr>
      </p:sp>
      <p:sp>
        <p:nvSpPr>
          <p:cNvPr id="18" name="Text 16"/>
          <p:cNvSpPr/>
          <p:nvPr/>
        </p:nvSpPr>
        <p:spPr>
          <a:xfrm>
            <a:off x="5166360" y="1600200"/>
            <a:ext cx="17373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後工程</a:t>
            </a:r>
            <a:endParaRPr lang="en-US" sz="1500" dirty="0"/>
          </a:p>
        </p:txBody>
      </p:sp>
      <p:sp>
        <p:nvSpPr>
          <p:cNvPr id="19" name="Text 17"/>
          <p:cNvSpPr/>
          <p:nvPr/>
        </p:nvSpPr>
        <p:spPr>
          <a:xfrm>
            <a:off x="5166360" y="1984248"/>
            <a:ext cx="1737360" cy="365760"/>
          </a:xfrm>
          <a:prstGeom prst="rect">
            <a:avLst/>
          </a:prstGeom>
          <a:noFill/>
          <a:ln/>
        </p:spPr>
        <p:txBody>
          <a:bodyPr wrap="square" lIns="0" tIns="0" rIns="0" bIns="0" rtlCol="0" anchor="ctr"/>
          <a:lstStyle/>
          <a:p>
            <a:pPr algn="ctr" indent="0" marL="0">
              <a:buNone/>
            </a:pPr>
            <a:r>
              <a:rPr lang="en-US" sz="1100" dirty="0">
                <a:solidFill>
                  <a:srgbClr val="F6E4D6"/>
                </a:solidFill>
                <a:latin typeface="Meiryo" pitchFamily="34" charset="0"/>
                <a:ea typeface="Meiryo" pitchFamily="34" charset="-122"/>
                <a:cs typeface="Meiryo" pitchFamily="34" charset="-120"/>
              </a:rPr>
              <a:t>切る・包む・検査</a:t>
            </a:r>
            <a:endParaRPr lang="en-US" sz="1100" dirty="0"/>
          </a:p>
        </p:txBody>
      </p:sp>
      <p:sp>
        <p:nvSpPr>
          <p:cNvPr id="20" name="Shape 18"/>
          <p:cNvSpPr/>
          <p:nvPr/>
        </p:nvSpPr>
        <p:spPr>
          <a:xfrm>
            <a:off x="7013448" y="1824228"/>
            <a:ext cx="283464" cy="237744"/>
          </a:xfrm>
          <a:prstGeom prst="rightArrow">
            <a:avLst/>
          </a:prstGeom>
          <a:solidFill>
            <a:srgbClr val="D5DEE9"/>
          </a:solidFill>
          <a:ln/>
        </p:spPr>
      </p:sp>
      <p:sp>
        <p:nvSpPr>
          <p:cNvPr id="21" name="Shape 19"/>
          <p:cNvSpPr/>
          <p:nvPr/>
        </p:nvSpPr>
        <p:spPr>
          <a:xfrm>
            <a:off x="7315200" y="1417320"/>
            <a:ext cx="1920240" cy="1051560"/>
          </a:xfrm>
          <a:prstGeom prst="roundRect">
            <a:avLst>
              <a:gd name="adj" fmla="val 6087"/>
            </a:avLst>
          </a:prstGeom>
          <a:solidFill>
            <a:srgbClr val="F3F6FA"/>
          </a:solidFill>
          <a:ln/>
        </p:spPr>
      </p:sp>
      <p:sp>
        <p:nvSpPr>
          <p:cNvPr id="22" name="Text 20"/>
          <p:cNvSpPr/>
          <p:nvPr/>
        </p:nvSpPr>
        <p:spPr>
          <a:xfrm>
            <a:off x="7406640" y="1600200"/>
            <a:ext cx="1737360" cy="365760"/>
          </a:xfrm>
          <a:prstGeom prst="rect">
            <a:avLst/>
          </a:prstGeom>
          <a:noFill/>
          <a:ln/>
        </p:spPr>
        <p:txBody>
          <a:bodyPr wrap="square" lIns="0" tIns="0" rIns="0" bIns="0" rtlCol="0" anchor="ctr"/>
          <a:lstStyle/>
          <a:p>
            <a:pPr algn="ctr" indent="0" marL="0">
              <a:buNone/>
            </a:pPr>
            <a:r>
              <a:rPr lang="en-US" sz="1500" b="1" dirty="0">
                <a:solidFill>
                  <a:srgbClr val="20293A"/>
                </a:solidFill>
                <a:latin typeface="Meiryo" pitchFamily="34" charset="0"/>
                <a:ea typeface="Meiryo" pitchFamily="34" charset="-122"/>
                <a:cs typeface="Meiryo" pitchFamily="34" charset="-120"/>
              </a:rPr>
              <a:t>完成</a:t>
            </a:r>
            <a:endParaRPr lang="en-US" sz="1500" dirty="0"/>
          </a:p>
        </p:txBody>
      </p:sp>
      <p:sp>
        <p:nvSpPr>
          <p:cNvPr id="23" name="Text 21"/>
          <p:cNvSpPr/>
          <p:nvPr/>
        </p:nvSpPr>
        <p:spPr>
          <a:xfrm>
            <a:off x="7406640" y="1984248"/>
            <a:ext cx="1737360" cy="365760"/>
          </a:xfrm>
          <a:prstGeom prst="rect">
            <a:avLst/>
          </a:prstGeom>
          <a:noFill/>
          <a:ln/>
        </p:spPr>
        <p:txBody>
          <a:bodyPr wrap="square" lIns="0" tIns="0" rIns="0" bIns="0" rtlCol="0" anchor="ctr"/>
          <a:lstStyle/>
          <a:p>
            <a:pPr algn="ctr" indent="0" marL="0">
              <a:buNone/>
            </a:pPr>
            <a:r>
              <a:rPr lang="en-US" sz="1100" dirty="0">
                <a:solidFill>
                  <a:srgbClr val="5B6B7F"/>
                </a:solidFill>
                <a:latin typeface="Meiryo" pitchFamily="34" charset="0"/>
                <a:ea typeface="Meiryo" pitchFamily="34" charset="-122"/>
                <a:cs typeface="Meiryo" pitchFamily="34" charset="-120"/>
              </a:rPr>
              <a:t>チップ</a:t>
            </a:r>
            <a:endParaRPr lang="en-US" sz="1100" dirty="0"/>
          </a:p>
        </p:txBody>
      </p:sp>
      <p:sp>
        <p:nvSpPr>
          <p:cNvPr id="24" name="Shape 22"/>
          <p:cNvSpPr/>
          <p:nvPr/>
        </p:nvSpPr>
        <p:spPr>
          <a:xfrm>
            <a:off x="9253728" y="1824228"/>
            <a:ext cx="283464" cy="237744"/>
          </a:xfrm>
          <a:prstGeom prst="rightArrow">
            <a:avLst/>
          </a:prstGeom>
          <a:solidFill>
            <a:srgbClr val="D5DEE9"/>
          </a:solidFill>
          <a:ln/>
        </p:spPr>
      </p:sp>
      <p:sp>
        <p:nvSpPr>
          <p:cNvPr id="25" name="Shape 23"/>
          <p:cNvSpPr/>
          <p:nvPr/>
        </p:nvSpPr>
        <p:spPr>
          <a:xfrm>
            <a:off x="9555480" y="1417320"/>
            <a:ext cx="1920240" cy="1051560"/>
          </a:xfrm>
          <a:prstGeom prst="roundRect">
            <a:avLst>
              <a:gd name="adj" fmla="val 6087"/>
            </a:avLst>
          </a:prstGeom>
          <a:solidFill>
            <a:srgbClr val="F3F6FA"/>
          </a:solidFill>
          <a:ln/>
        </p:spPr>
      </p:sp>
      <p:sp>
        <p:nvSpPr>
          <p:cNvPr id="26" name="Text 24"/>
          <p:cNvSpPr/>
          <p:nvPr/>
        </p:nvSpPr>
        <p:spPr>
          <a:xfrm>
            <a:off x="9646920" y="1600200"/>
            <a:ext cx="1737360" cy="365760"/>
          </a:xfrm>
          <a:prstGeom prst="rect">
            <a:avLst/>
          </a:prstGeom>
          <a:noFill/>
          <a:ln/>
        </p:spPr>
        <p:txBody>
          <a:bodyPr wrap="square" lIns="0" tIns="0" rIns="0" bIns="0" rtlCol="0" anchor="ctr"/>
          <a:lstStyle/>
          <a:p>
            <a:pPr algn="ctr" indent="0" marL="0">
              <a:buNone/>
            </a:pPr>
            <a:r>
              <a:rPr lang="en-US" sz="1500" b="1" dirty="0">
                <a:solidFill>
                  <a:srgbClr val="20293A"/>
                </a:solidFill>
                <a:latin typeface="Meiryo" pitchFamily="34" charset="0"/>
                <a:ea typeface="Meiryo" pitchFamily="34" charset="-122"/>
                <a:cs typeface="Meiryo" pitchFamily="34" charset="-120"/>
              </a:rPr>
              <a:t>製品へ</a:t>
            </a:r>
            <a:endParaRPr lang="en-US" sz="1500" dirty="0"/>
          </a:p>
        </p:txBody>
      </p:sp>
      <p:sp>
        <p:nvSpPr>
          <p:cNvPr id="27" name="Text 25"/>
          <p:cNvSpPr/>
          <p:nvPr/>
        </p:nvSpPr>
        <p:spPr>
          <a:xfrm>
            <a:off x="9646920" y="1984248"/>
            <a:ext cx="1737360" cy="365760"/>
          </a:xfrm>
          <a:prstGeom prst="rect">
            <a:avLst/>
          </a:prstGeom>
          <a:noFill/>
          <a:ln/>
        </p:spPr>
        <p:txBody>
          <a:bodyPr wrap="square" lIns="0" tIns="0" rIns="0" bIns="0" rtlCol="0" anchor="ctr"/>
          <a:lstStyle/>
          <a:p>
            <a:pPr algn="ctr" indent="0" marL="0">
              <a:buNone/>
            </a:pPr>
            <a:r>
              <a:rPr lang="en-US" sz="1100" dirty="0">
                <a:solidFill>
                  <a:srgbClr val="5B6B7F"/>
                </a:solidFill>
                <a:latin typeface="Meiryo" pitchFamily="34" charset="0"/>
                <a:ea typeface="Meiryo" pitchFamily="34" charset="-122"/>
                <a:cs typeface="Meiryo" pitchFamily="34" charset="-120"/>
              </a:rPr>
              <a:t>スマホ・AI・車</a:t>
            </a:r>
            <a:endParaRPr lang="en-US" sz="1100" dirty="0"/>
          </a:p>
        </p:txBody>
      </p:sp>
      <p:sp>
        <p:nvSpPr>
          <p:cNvPr id="28" name="Shape 26"/>
          <p:cNvSpPr/>
          <p:nvPr/>
        </p:nvSpPr>
        <p:spPr>
          <a:xfrm>
            <a:off x="548640" y="2926080"/>
            <a:ext cx="5413248" cy="1691640"/>
          </a:xfrm>
          <a:prstGeom prst="roundRect">
            <a:avLst>
              <a:gd name="adj" fmla="val 3784"/>
            </a:avLst>
          </a:prstGeom>
          <a:solidFill>
            <a:srgbClr val="F3F6FA"/>
          </a:solidFill>
          <a:ln/>
        </p:spPr>
      </p:sp>
      <p:sp>
        <p:nvSpPr>
          <p:cNvPr id="29" name="Text 27"/>
          <p:cNvSpPr/>
          <p:nvPr/>
        </p:nvSpPr>
        <p:spPr>
          <a:xfrm>
            <a:off x="822960" y="3127248"/>
            <a:ext cx="4864608" cy="365760"/>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前工程（フロントエンド）</a:t>
            </a:r>
            <a:endParaRPr lang="en-US" sz="1500" dirty="0"/>
          </a:p>
        </p:txBody>
      </p:sp>
      <p:sp>
        <p:nvSpPr>
          <p:cNvPr id="30" name="Text 28"/>
          <p:cNvSpPr/>
          <p:nvPr/>
        </p:nvSpPr>
        <p:spPr>
          <a:xfrm>
            <a:off x="822960" y="3584448"/>
            <a:ext cx="4864608" cy="822960"/>
          </a:xfrm>
          <a:prstGeom prst="rect">
            <a:avLst/>
          </a:prstGeom>
          <a:noFill/>
          <a:ln/>
        </p:spPr>
        <p:txBody>
          <a:bodyPr wrap="square" lIns="0" tIns="0" rIns="0" bIns="0" rtlCol="0" anchor="t"/>
          <a:lstStyle/>
          <a:p>
            <a:pPr indent="0" marL="0">
              <a:buNone/>
            </a:pPr>
            <a:r>
              <a:rPr lang="en-US" sz="1150" dirty="0">
                <a:solidFill>
                  <a:srgbClr val="5B6B7F"/>
                </a:solidFill>
                <a:latin typeface="Meiryo" pitchFamily="34" charset="0"/>
                <a:ea typeface="Meiryo" pitchFamily="34" charset="-122"/>
                <a:cs typeface="Meiryo" pitchFamily="34" charset="-120"/>
              </a:rPr>
              <a:t>ウエハに、髪の毛の約1万分の1の細さの回路を描く工程。巨大な「メガファブ」に集約される（TSMC熊本・ラピダス北海道）。ニュースで話題になるのは、主にここ。</a:t>
            </a:r>
            <a:endParaRPr lang="en-US" sz="1150" dirty="0"/>
          </a:p>
        </p:txBody>
      </p:sp>
      <p:sp>
        <p:nvSpPr>
          <p:cNvPr id="31" name="Shape 29"/>
          <p:cNvSpPr/>
          <p:nvPr/>
        </p:nvSpPr>
        <p:spPr>
          <a:xfrm>
            <a:off x="6227064" y="2926080"/>
            <a:ext cx="5413248" cy="1691640"/>
          </a:xfrm>
          <a:prstGeom prst="roundRect">
            <a:avLst>
              <a:gd name="adj" fmla="val 3784"/>
            </a:avLst>
          </a:prstGeom>
          <a:solidFill>
            <a:srgbClr val="F3F6FA"/>
          </a:solidFill>
          <a:ln/>
        </p:spPr>
      </p:sp>
      <p:sp>
        <p:nvSpPr>
          <p:cNvPr id="32" name="Text 30"/>
          <p:cNvSpPr/>
          <p:nvPr/>
        </p:nvSpPr>
        <p:spPr>
          <a:xfrm>
            <a:off x="6501384" y="3127248"/>
            <a:ext cx="4864608" cy="365760"/>
          </a:xfrm>
          <a:prstGeom prst="rect">
            <a:avLst/>
          </a:prstGeom>
          <a:noFill/>
          <a:ln/>
        </p:spPr>
        <p:txBody>
          <a:bodyPr wrap="square" lIns="0" tIns="0" rIns="0" bIns="0" rtlCol="0" anchor="ctr"/>
          <a:lstStyle/>
          <a:p>
            <a:pPr indent="0" marL="0">
              <a:buNone/>
            </a:pPr>
            <a:r>
              <a:rPr lang="en-US" sz="1500" b="1" dirty="0">
                <a:solidFill>
                  <a:srgbClr val="A55D2B"/>
                </a:solidFill>
                <a:latin typeface="Meiryo" pitchFamily="34" charset="0"/>
                <a:ea typeface="Meiryo" pitchFamily="34" charset="-122"/>
                <a:cs typeface="Meiryo" pitchFamily="34" charset="-120"/>
              </a:rPr>
              <a:t>後工程（バックエンド）</a:t>
            </a:r>
            <a:endParaRPr lang="en-US" sz="1500" dirty="0"/>
          </a:p>
        </p:txBody>
      </p:sp>
      <p:sp>
        <p:nvSpPr>
          <p:cNvPr id="33" name="Text 31"/>
          <p:cNvSpPr/>
          <p:nvPr/>
        </p:nvSpPr>
        <p:spPr>
          <a:xfrm>
            <a:off x="6501384" y="3584448"/>
            <a:ext cx="4864608" cy="822960"/>
          </a:xfrm>
          <a:prstGeom prst="rect">
            <a:avLst/>
          </a:prstGeom>
          <a:noFill/>
          <a:ln/>
        </p:spPr>
        <p:txBody>
          <a:bodyPr wrap="square" lIns="0" tIns="0" rIns="0" bIns="0" rtlCol="0" anchor="t"/>
          <a:lstStyle/>
          <a:p>
            <a:pPr indent="0" marL="0">
              <a:buNone/>
            </a:pPr>
            <a:r>
              <a:rPr lang="en-US" sz="1150" dirty="0">
                <a:solidFill>
                  <a:srgbClr val="5B6B7F"/>
                </a:solidFill>
                <a:latin typeface="Meiryo" pitchFamily="34" charset="0"/>
                <a:ea typeface="Meiryo" pitchFamily="34" charset="-122"/>
                <a:cs typeface="Meiryo" pitchFamily="34" charset="-120"/>
              </a:rPr>
              <a:t>できたウエハを1個ずつに切り、樹脂で包み、検査して“使えるチップ”に仕上げる工程。地味だが、これがなければチップは製品にならない。</a:t>
            </a:r>
            <a:endParaRPr lang="en-US" sz="1150" dirty="0"/>
          </a:p>
        </p:txBody>
      </p:sp>
      <p:sp>
        <p:nvSpPr>
          <p:cNvPr id="34" name="Shape 32"/>
          <p:cNvSpPr/>
          <p:nvPr/>
        </p:nvSpPr>
        <p:spPr>
          <a:xfrm>
            <a:off x="548640" y="4892040"/>
            <a:ext cx="11094415" cy="1097280"/>
          </a:xfrm>
          <a:prstGeom prst="roundRect">
            <a:avLst>
              <a:gd name="adj" fmla="val 5833"/>
            </a:avLst>
          </a:prstGeom>
          <a:solidFill>
            <a:srgbClr val="1C2B4A"/>
          </a:solidFill>
          <a:ln/>
        </p:spPr>
      </p:sp>
      <p:sp>
        <p:nvSpPr>
          <p:cNvPr id="35" name="Text 33"/>
          <p:cNvSpPr/>
          <p:nvPr/>
        </p:nvSpPr>
        <p:spPr>
          <a:xfrm>
            <a:off x="822960" y="5029200"/>
            <a:ext cx="10545775" cy="868680"/>
          </a:xfrm>
          <a:prstGeom prst="rect">
            <a:avLst/>
          </a:prstGeom>
          <a:noFill/>
          <a:ln/>
        </p:spPr>
        <p:txBody>
          <a:bodyPr wrap="square" lIns="0" tIns="0" rIns="0" bIns="0" rtlCol="0" anchor="t"/>
          <a:lstStyle/>
          <a:p>
            <a:pPr indent="0" marL="0">
              <a:spcAft>
                <a:spcPts val="400"/>
              </a:spcAft>
              <a:buNone/>
            </a:pPr>
            <a:r>
              <a:rPr lang="en-US" sz="1300" b="1" dirty="0">
                <a:solidFill>
                  <a:srgbClr val="C0713A"/>
                </a:solidFill>
                <a:latin typeface="Meiryo" pitchFamily="34" charset="0"/>
                <a:ea typeface="Meiryo" pitchFamily="34" charset="-122"/>
                <a:cs typeface="Meiryo" pitchFamily="34" charset="-120"/>
              </a:rPr>
              <a:t>ここがポイント　</a:t>
            </a:r>
            <a:endParaRPr lang="en-US" sz="1300" dirty="0"/>
          </a:p>
          <a:p>
            <a:pPr indent="0" marL="0">
              <a:buNone/>
            </a:pPr>
            <a:r>
              <a:rPr lang="en-US" sz="1250" dirty="0">
                <a:solidFill>
                  <a:srgbClr val="FFFFFF"/>
                </a:solidFill>
                <a:latin typeface="Meiryo" pitchFamily="34" charset="0"/>
                <a:ea typeface="Meiryo" pitchFamily="34" charset="-122"/>
                <a:cs typeface="Meiryo" pitchFamily="34" charset="-120"/>
              </a:rPr>
              <a:t>前工程は1か所に集約できる。でも後工程は、消耗品・装置・検査が“ファブのすぐ近く”に集まる — だから世界トップの後工程技術が、東京ではなく地方（熊本・青森・福島）に生まれる。それが私たちのテーマです。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EXECUTIVE SUMMARY</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全体サマリー — 4,438社から、規律あるゲートで15社へ</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5</a:t>
            </a:r>
            <a:endParaRPr lang="en-US" sz="900" dirty="0"/>
          </a:p>
        </p:txBody>
      </p:sp>
      <p:sp>
        <p:nvSpPr>
          <p:cNvPr id="9" name="Shape 7"/>
          <p:cNvSpPr/>
          <p:nvPr/>
        </p:nvSpPr>
        <p:spPr>
          <a:xfrm>
            <a:off x="548640" y="1325880"/>
            <a:ext cx="3246120" cy="1298448"/>
          </a:xfrm>
          <a:prstGeom prst="roundRect">
            <a:avLst>
              <a:gd name="adj" fmla="val 4930"/>
            </a:avLst>
          </a:prstGeom>
          <a:solidFill>
            <a:srgbClr val="F3F6FA"/>
          </a:solidFill>
          <a:ln/>
        </p:spPr>
      </p:sp>
      <p:sp>
        <p:nvSpPr>
          <p:cNvPr id="10" name="Text 8"/>
          <p:cNvSpPr/>
          <p:nvPr/>
        </p:nvSpPr>
        <p:spPr>
          <a:xfrm>
            <a:off x="777240" y="1426464"/>
            <a:ext cx="2788920" cy="384048"/>
          </a:xfrm>
          <a:prstGeom prst="rect">
            <a:avLst/>
          </a:prstGeom>
          <a:noFill/>
          <a:ln/>
        </p:spPr>
        <p:txBody>
          <a:bodyPr wrap="square" lIns="0" tIns="0" rIns="0" bIns="0" rtlCol="0" anchor="ctr"/>
          <a:lstStyle/>
          <a:p>
            <a:pPr indent="0" marL="0">
              <a:buNone/>
            </a:pPr>
            <a:r>
              <a:rPr lang="en-US" sz="2500" b="1" dirty="0">
                <a:solidFill>
                  <a:srgbClr val="C0713A"/>
                </a:solidFill>
                <a:latin typeface="Meiryo" pitchFamily="34" charset="0"/>
                <a:ea typeface="Meiryo" pitchFamily="34" charset="-122"/>
                <a:cs typeface="Meiryo" pitchFamily="34" charset="-120"/>
              </a:rPr>
              <a:t>106社</a:t>
            </a:r>
            <a:endParaRPr lang="en-US" sz="2500" dirty="0"/>
          </a:p>
        </p:txBody>
      </p:sp>
      <p:sp>
        <p:nvSpPr>
          <p:cNvPr id="11" name="Text 9"/>
          <p:cNvSpPr/>
          <p:nvPr/>
        </p:nvSpPr>
        <p:spPr>
          <a:xfrm>
            <a:off x="777240" y="1828800"/>
            <a:ext cx="2788920" cy="256032"/>
          </a:xfrm>
          <a:prstGeom prst="rect">
            <a:avLst/>
          </a:prstGeom>
          <a:noFill/>
          <a:ln/>
        </p:spPr>
        <p:txBody>
          <a:bodyPr wrap="square" lIns="0" tIns="0" rIns="0" bIns="0" rtlCol="0" anchor="ctr"/>
          <a:lstStyle/>
          <a:p>
            <a:pPr indent="0" marL="0">
              <a:buNone/>
            </a:pPr>
            <a:r>
              <a:rPr lang="en-US" sz="1200" b="1" dirty="0">
                <a:solidFill>
                  <a:srgbClr val="1C2B4A"/>
                </a:solidFill>
                <a:latin typeface="Meiryo" pitchFamily="34" charset="0"/>
                <a:ea typeface="Meiryo" pitchFamily="34" charset="-122"/>
                <a:cs typeface="Meiryo" pitchFamily="34" charset="-120"/>
              </a:rPr>
              <a:t>調査ユニバース</a:t>
            </a:r>
            <a:endParaRPr lang="en-US" sz="1200" dirty="0"/>
          </a:p>
        </p:txBody>
      </p:sp>
      <p:sp>
        <p:nvSpPr>
          <p:cNvPr id="12" name="Text 10"/>
          <p:cNvSpPr/>
          <p:nvPr/>
        </p:nvSpPr>
        <p:spPr>
          <a:xfrm>
            <a:off x="777240" y="2112264"/>
            <a:ext cx="2788920" cy="457200"/>
          </a:xfrm>
          <a:prstGeom prst="rect">
            <a:avLst/>
          </a:prstGeom>
          <a:noFill/>
          <a:ln/>
        </p:spPr>
        <p:txBody>
          <a:bodyPr wrap="square" lIns="0" tIns="0" rIns="0" bIns="0" rtlCol="0" anchor="t"/>
          <a:lstStyle/>
          <a:p>
            <a:pPr indent="0" marL="0">
              <a:buNone/>
            </a:pPr>
            <a:r>
              <a:rPr lang="en-US" sz="1000" dirty="0">
                <a:solidFill>
                  <a:srgbClr val="5B6B7F"/>
                </a:solidFill>
                <a:latin typeface="Meiryo" pitchFamily="34" charset="0"/>
                <a:ea typeface="Meiryo" pitchFamily="34" charset="-122"/>
                <a:cs typeface="Meiryo" pitchFamily="34" charset="-120"/>
              </a:rPr>
              <a:t>母集団を体系的に再定義</a:t>
            </a:r>
            <a:endParaRPr lang="en-US" sz="1000" dirty="0"/>
          </a:p>
          <a:p>
            <a:pPr indent="0" marL="0">
              <a:buNone/>
            </a:pPr>
            <a:r>
              <a:rPr lang="en-US" sz="1000" dirty="0">
                <a:solidFill>
                  <a:srgbClr val="5B6B7F"/>
                </a:solidFill>
                <a:latin typeface="Meiryo" pitchFamily="34" charset="0"/>
                <a:ea typeface="Meiryo" pitchFamily="34" charset="-122"/>
                <a:cs typeface="Meiryo" pitchFamily="34" charset="-120"/>
              </a:rPr>
              <a:t>(4,438→1,039→106社)</a:t>
            </a:r>
            <a:endParaRPr lang="en-US" sz="1000" dirty="0"/>
          </a:p>
        </p:txBody>
      </p:sp>
      <p:sp>
        <p:nvSpPr>
          <p:cNvPr id="13" name="Shape 11"/>
          <p:cNvSpPr/>
          <p:nvPr/>
        </p:nvSpPr>
        <p:spPr>
          <a:xfrm>
            <a:off x="3904488" y="1828800"/>
            <a:ext cx="438912" cy="292608"/>
          </a:xfrm>
          <a:prstGeom prst="rightArrow">
            <a:avLst/>
          </a:prstGeom>
          <a:solidFill>
            <a:srgbClr val="DCE6F2"/>
          </a:solidFill>
          <a:ln/>
        </p:spPr>
      </p:sp>
      <p:sp>
        <p:nvSpPr>
          <p:cNvPr id="14" name="Shape 12"/>
          <p:cNvSpPr/>
          <p:nvPr/>
        </p:nvSpPr>
        <p:spPr>
          <a:xfrm>
            <a:off x="4453128" y="1325880"/>
            <a:ext cx="3246120" cy="1298448"/>
          </a:xfrm>
          <a:prstGeom prst="roundRect">
            <a:avLst>
              <a:gd name="adj" fmla="val 4930"/>
            </a:avLst>
          </a:prstGeom>
          <a:solidFill>
            <a:srgbClr val="F3F6FA"/>
          </a:solidFill>
          <a:ln/>
        </p:spPr>
      </p:sp>
      <p:sp>
        <p:nvSpPr>
          <p:cNvPr id="15" name="Text 13"/>
          <p:cNvSpPr/>
          <p:nvPr/>
        </p:nvSpPr>
        <p:spPr>
          <a:xfrm>
            <a:off x="4681728" y="1426464"/>
            <a:ext cx="2788920" cy="384048"/>
          </a:xfrm>
          <a:prstGeom prst="rect">
            <a:avLst/>
          </a:prstGeom>
          <a:noFill/>
          <a:ln/>
        </p:spPr>
        <p:txBody>
          <a:bodyPr wrap="square" lIns="0" tIns="0" rIns="0" bIns="0" rtlCol="0" anchor="ctr"/>
          <a:lstStyle/>
          <a:p>
            <a:pPr indent="0" marL="0">
              <a:buNone/>
            </a:pPr>
            <a:r>
              <a:rPr lang="en-US" sz="2500" b="1" dirty="0">
                <a:solidFill>
                  <a:srgbClr val="C0713A"/>
                </a:solidFill>
                <a:latin typeface="Meiryo" pitchFamily="34" charset="0"/>
                <a:ea typeface="Meiryo" pitchFamily="34" charset="-122"/>
                <a:cs typeface="Meiryo" pitchFamily="34" charset="-120"/>
              </a:rPr>
              <a:t>48社</a:t>
            </a:r>
            <a:endParaRPr lang="en-US" sz="2500" dirty="0"/>
          </a:p>
        </p:txBody>
      </p:sp>
      <p:sp>
        <p:nvSpPr>
          <p:cNvPr id="16" name="Text 14"/>
          <p:cNvSpPr/>
          <p:nvPr/>
        </p:nvSpPr>
        <p:spPr>
          <a:xfrm>
            <a:off x="4681728" y="1828800"/>
            <a:ext cx="2788920" cy="256032"/>
          </a:xfrm>
          <a:prstGeom prst="rect">
            <a:avLst/>
          </a:prstGeom>
          <a:noFill/>
          <a:ln/>
        </p:spPr>
        <p:txBody>
          <a:bodyPr wrap="square" lIns="0" tIns="0" rIns="0" bIns="0" rtlCol="0" anchor="ctr"/>
          <a:lstStyle/>
          <a:p>
            <a:pPr indent="0" marL="0">
              <a:buNone/>
            </a:pPr>
            <a:r>
              <a:rPr lang="en-US" sz="1200" b="1" dirty="0">
                <a:solidFill>
                  <a:srgbClr val="1C2B4A"/>
                </a:solidFill>
                <a:latin typeface="Meiryo" pitchFamily="34" charset="0"/>
                <a:ea typeface="Meiryo" pitchFamily="34" charset="-122"/>
                <a:cs typeface="Meiryo" pitchFamily="34" charset="-120"/>
              </a:rPr>
              <a:t>財務・スコープゲート通過</a:t>
            </a:r>
            <a:endParaRPr lang="en-US" sz="1200" dirty="0"/>
          </a:p>
        </p:txBody>
      </p:sp>
      <p:sp>
        <p:nvSpPr>
          <p:cNvPr id="17" name="Text 15"/>
          <p:cNvSpPr/>
          <p:nvPr/>
        </p:nvSpPr>
        <p:spPr>
          <a:xfrm>
            <a:off x="4681728" y="2112264"/>
            <a:ext cx="2788920" cy="457200"/>
          </a:xfrm>
          <a:prstGeom prst="rect">
            <a:avLst/>
          </a:prstGeom>
          <a:noFill/>
          <a:ln/>
        </p:spPr>
        <p:txBody>
          <a:bodyPr wrap="square" lIns="0" tIns="0" rIns="0" bIns="0" rtlCol="0" anchor="t"/>
          <a:lstStyle/>
          <a:p>
            <a:pPr indent="0" marL="0">
              <a:buNone/>
            </a:pPr>
            <a:r>
              <a:rPr lang="en-US" sz="1000" dirty="0">
                <a:solidFill>
                  <a:srgbClr val="5B6B7F"/>
                </a:solidFill>
                <a:latin typeface="Meiryo" pitchFamily="34" charset="0"/>
                <a:ea typeface="Meiryo" pitchFamily="34" charset="-122"/>
                <a:cs typeface="Meiryo" pitchFamily="34" charset="-120"/>
              </a:rPr>
              <a:t>自己資本≥40%・営業利益率≥8%</a:t>
            </a:r>
            <a:endParaRPr lang="en-US" sz="1000" dirty="0"/>
          </a:p>
          <a:p>
            <a:pPr indent="0" marL="0">
              <a:buNone/>
            </a:pPr>
            <a:r>
              <a:rPr lang="en-US" sz="1000" dirty="0">
                <a:solidFill>
                  <a:srgbClr val="5B6B7F"/>
                </a:solidFill>
                <a:latin typeface="Meiryo" pitchFamily="34" charset="0"/>
                <a:ea typeface="Meiryo" pitchFamily="34" charset="-122"/>
                <a:cs typeface="Meiryo" pitchFamily="34" charset="-120"/>
              </a:rPr>
              <a:t>前工程専用装置はスコープ外</a:t>
            </a:r>
            <a:endParaRPr lang="en-US" sz="1000" dirty="0"/>
          </a:p>
        </p:txBody>
      </p:sp>
      <p:sp>
        <p:nvSpPr>
          <p:cNvPr id="18" name="Shape 16"/>
          <p:cNvSpPr/>
          <p:nvPr/>
        </p:nvSpPr>
        <p:spPr>
          <a:xfrm>
            <a:off x="7808976" y="1828800"/>
            <a:ext cx="438912" cy="292608"/>
          </a:xfrm>
          <a:prstGeom prst="rightArrow">
            <a:avLst/>
          </a:prstGeom>
          <a:solidFill>
            <a:srgbClr val="DCE6F2"/>
          </a:solidFill>
          <a:ln/>
        </p:spPr>
      </p:sp>
      <p:sp>
        <p:nvSpPr>
          <p:cNvPr id="19" name="Shape 17"/>
          <p:cNvSpPr/>
          <p:nvPr/>
        </p:nvSpPr>
        <p:spPr>
          <a:xfrm>
            <a:off x="8357616" y="1325880"/>
            <a:ext cx="3246120" cy="1298448"/>
          </a:xfrm>
          <a:prstGeom prst="roundRect">
            <a:avLst>
              <a:gd name="adj" fmla="val 4930"/>
            </a:avLst>
          </a:prstGeom>
          <a:solidFill>
            <a:srgbClr val="1C2B4A"/>
          </a:solidFill>
          <a:ln/>
        </p:spPr>
      </p:sp>
      <p:sp>
        <p:nvSpPr>
          <p:cNvPr id="20" name="Text 18"/>
          <p:cNvSpPr/>
          <p:nvPr/>
        </p:nvSpPr>
        <p:spPr>
          <a:xfrm>
            <a:off x="8586216" y="1426464"/>
            <a:ext cx="2788920" cy="384048"/>
          </a:xfrm>
          <a:prstGeom prst="rect">
            <a:avLst/>
          </a:prstGeom>
          <a:noFill/>
          <a:ln/>
        </p:spPr>
        <p:txBody>
          <a:bodyPr wrap="square" lIns="0" tIns="0" rIns="0" bIns="0" rtlCol="0" anchor="ctr"/>
          <a:lstStyle/>
          <a:p>
            <a:pPr indent="0" marL="0">
              <a:buNone/>
            </a:pPr>
            <a:r>
              <a:rPr lang="en-US" sz="2500" b="1" dirty="0">
                <a:solidFill>
                  <a:srgbClr val="FFFFFF"/>
                </a:solidFill>
                <a:latin typeface="Meiryo" pitchFamily="34" charset="0"/>
                <a:ea typeface="Meiryo" pitchFamily="34" charset="-122"/>
                <a:cs typeface="Meiryo" pitchFamily="34" charset="-120"/>
              </a:rPr>
              <a:t>15社</a:t>
            </a:r>
            <a:endParaRPr lang="en-US" sz="2500" dirty="0"/>
          </a:p>
        </p:txBody>
      </p:sp>
      <p:sp>
        <p:nvSpPr>
          <p:cNvPr id="21" name="Text 19"/>
          <p:cNvSpPr/>
          <p:nvPr/>
        </p:nvSpPr>
        <p:spPr>
          <a:xfrm>
            <a:off x="8586216" y="1828800"/>
            <a:ext cx="2788920" cy="256032"/>
          </a:xfrm>
          <a:prstGeom prst="rect">
            <a:avLst/>
          </a:prstGeom>
          <a:noFill/>
          <a:ln/>
        </p:spPr>
        <p:txBody>
          <a:bodyPr wrap="square" lIns="0" tIns="0" rIns="0" bIns="0" rtlCol="0" anchor="ctr"/>
          <a:lstStyle/>
          <a:p>
            <a:pPr indent="0" marL="0">
              <a:buNone/>
            </a:pPr>
            <a:r>
              <a:rPr lang="en-US" sz="1200" b="1" dirty="0">
                <a:solidFill>
                  <a:srgbClr val="DCE6F2"/>
                </a:solidFill>
                <a:latin typeface="Meiryo" pitchFamily="34" charset="0"/>
                <a:ea typeface="Meiryo" pitchFamily="34" charset="-122"/>
                <a:cs typeface="Meiryo" pitchFamily="34" charset="-120"/>
              </a:rPr>
              <a:t>確定アンカーゲート通過</a:t>
            </a:r>
            <a:endParaRPr lang="en-US" sz="1200" dirty="0"/>
          </a:p>
        </p:txBody>
      </p:sp>
      <p:sp>
        <p:nvSpPr>
          <p:cNvPr id="22" name="Text 20"/>
          <p:cNvSpPr/>
          <p:nvPr/>
        </p:nvSpPr>
        <p:spPr>
          <a:xfrm>
            <a:off x="8586216" y="2112264"/>
            <a:ext cx="2788920" cy="457200"/>
          </a:xfrm>
          <a:prstGeom prst="rect">
            <a:avLst/>
          </a:prstGeom>
          <a:noFill/>
          <a:ln/>
        </p:spPr>
        <p:txBody>
          <a:bodyPr wrap="square" lIns="0" tIns="0" rIns="0" bIns="0" rtlCol="0" anchor="t"/>
          <a:lstStyle/>
          <a:p>
            <a:pPr indent="0" marL="0">
              <a:buNone/>
            </a:pPr>
            <a:r>
              <a:rPr lang="en-US" sz="1000" dirty="0">
                <a:solidFill>
                  <a:srgbClr val="AEBFDC"/>
                </a:solidFill>
                <a:latin typeface="Meiryo" pitchFamily="34" charset="0"/>
                <a:ea typeface="Meiryo" pitchFamily="34" charset="-122"/>
                <a:cs typeface="Meiryo" pitchFamily="34" charset="-120"/>
              </a:rPr>
              <a:t>立地・供給リンクを一次情報で全数検証</a:t>
            </a:r>
            <a:endParaRPr lang="en-US" sz="1000" dirty="0"/>
          </a:p>
          <a:p>
            <a:pPr indent="0" marL="0">
              <a:buNone/>
            </a:pPr>
            <a:r>
              <a:rPr lang="en-US" sz="1000" dirty="0">
                <a:solidFill>
                  <a:srgbClr val="AEBFDC"/>
                </a:solidFill>
                <a:latin typeface="Meiryo" pitchFamily="34" charset="0"/>
                <a:ea typeface="Meiryo" pitchFamily="34" charset="-122"/>
                <a:cs typeface="Meiryo" pitchFamily="34" charset="-120"/>
              </a:rPr>
              <a:t>九州13社 + 東北2社</a:t>
            </a:r>
            <a:endParaRPr lang="en-US" sz="1000" dirty="0"/>
          </a:p>
        </p:txBody>
      </p:sp>
      <p:sp>
        <p:nvSpPr>
          <p:cNvPr id="23" name="Shape 21"/>
          <p:cNvSpPr/>
          <p:nvPr/>
        </p:nvSpPr>
        <p:spPr>
          <a:xfrm>
            <a:off x="548640" y="3063240"/>
            <a:ext cx="2587752" cy="1737360"/>
          </a:xfrm>
          <a:prstGeom prst="roundRect">
            <a:avLst>
              <a:gd name="adj" fmla="val 3684"/>
            </a:avLst>
          </a:prstGeom>
          <a:solidFill>
            <a:srgbClr val="F3F6FA"/>
          </a:solidFill>
          <a:ln/>
        </p:spPr>
      </p:sp>
      <p:sp>
        <p:nvSpPr>
          <p:cNvPr id="24" name="Text 22"/>
          <p:cNvSpPr/>
          <p:nvPr/>
        </p:nvSpPr>
        <p:spPr>
          <a:xfrm>
            <a:off x="749808" y="3227832"/>
            <a:ext cx="2185416" cy="502920"/>
          </a:xfrm>
          <a:prstGeom prst="rect">
            <a:avLst/>
          </a:prstGeom>
          <a:noFill/>
          <a:ln/>
        </p:spPr>
        <p:txBody>
          <a:bodyPr wrap="square" lIns="0" tIns="0" rIns="0" bIns="0" rtlCol="0" anchor="ctr"/>
          <a:lstStyle/>
          <a:p>
            <a:pPr indent="0" marL="0">
              <a:buNone/>
            </a:pPr>
            <a:r>
              <a:rPr lang="en-US" sz="2400" b="1" dirty="0">
                <a:solidFill>
                  <a:srgbClr val="C0713A"/>
                </a:solidFill>
                <a:latin typeface="Meiryo" pitchFamily="34" charset="0"/>
                <a:ea typeface="Meiryo" pitchFamily="34" charset="-122"/>
                <a:cs typeface="Meiryo" pitchFamily="34" charset="-120"/>
              </a:rPr>
              <a:t>15/15</a:t>
            </a:r>
            <a:endParaRPr lang="en-US" sz="2400" dirty="0"/>
          </a:p>
        </p:txBody>
      </p:sp>
      <p:sp>
        <p:nvSpPr>
          <p:cNvPr id="25" name="Text 23"/>
          <p:cNvSpPr/>
          <p:nvPr/>
        </p:nvSpPr>
        <p:spPr>
          <a:xfrm>
            <a:off x="749808" y="3739896"/>
            <a:ext cx="2185416" cy="292608"/>
          </a:xfrm>
          <a:prstGeom prst="rect">
            <a:avLst/>
          </a:prstGeom>
          <a:noFill/>
          <a:ln/>
        </p:spPr>
        <p:txBody>
          <a:bodyPr wrap="square" lIns="0" tIns="0" rIns="0" bIns="0" rtlCol="0" anchor="ctr"/>
          <a:lstStyle/>
          <a:p>
            <a:pPr indent="0" marL="0">
              <a:buNone/>
            </a:pPr>
            <a:r>
              <a:rPr lang="en-US" sz="1200" b="1" dirty="0">
                <a:solidFill>
                  <a:srgbClr val="1C2B4A"/>
                </a:solidFill>
                <a:latin typeface="Meiryo" pitchFamily="34" charset="0"/>
                <a:ea typeface="Meiryo" pitchFamily="34" charset="-122"/>
                <a:cs typeface="Meiryo" pitchFamily="34" charset="-120"/>
              </a:rPr>
              <a:t>一次情報検証 完了</a:t>
            </a:r>
            <a:endParaRPr lang="en-US" sz="1200" dirty="0"/>
          </a:p>
        </p:txBody>
      </p:sp>
      <p:sp>
        <p:nvSpPr>
          <p:cNvPr id="26" name="Text 24"/>
          <p:cNvSpPr/>
          <p:nvPr/>
        </p:nvSpPr>
        <p:spPr>
          <a:xfrm>
            <a:off x="749808" y="4050792"/>
            <a:ext cx="2185416" cy="676656"/>
          </a:xfrm>
          <a:prstGeom prst="rect">
            <a:avLst/>
          </a:prstGeom>
          <a:noFill/>
          <a:ln/>
        </p:spPr>
        <p:txBody>
          <a:bodyPr wrap="square" lIns="0" tIns="0" rIns="0" bIns="0" rtlCol="0" anchor="t"/>
          <a:lstStyle/>
          <a:p>
            <a:pPr indent="0" marL="0">
              <a:buNone/>
            </a:pPr>
            <a:r>
              <a:rPr lang="en-US" sz="950" dirty="0">
                <a:solidFill>
                  <a:srgbClr val="5B6B7F"/>
                </a:solidFill>
                <a:latin typeface="Meiryo" pitchFamily="34" charset="0"/>
                <a:ea typeface="Meiryo" pitchFamily="34" charset="-122"/>
                <a:cs typeface="Meiryo" pitchFamily="34" charset="-120"/>
              </a:rPr>
              <a:t>財務は最新通期実績で全社照合、アンカーは有報・IR・受賞リリースで確認</a:t>
            </a:r>
            <a:endParaRPr lang="en-US" sz="950" dirty="0"/>
          </a:p>
        </p:txBody>
      </p:sp>
      <p:sp>
        <p:nvSpPr>
          <p:cNvPr id="27" name="Shape 25"/>
          <p:cNvSpPr/>
          <p:nvPr/>
        </p:nvSpPr>
        <p:spPr>
          <a:xfrm>
            <a:off x="3383280" y="3063240"/>
            <a:ext cx="2587752" cy="1737360"/>
          </a:xfrm>
          <a:prstGeom prst="roundRect">
            <a:avLst>
              <a:gd name="adj" fmla="val 3684"/>
            </a:avLst>
          </a:prstGeom>
          <a:solidFill>
            <a:srgbClr val="F3F6FA"/>
          </a:solidFill>
          <a:ln/>
        </p:spPr>
      </p:sp>
      <p:sp>
        <p:nvSpPr>
          <p:cNvPr id="28" name="Text 26"/>
          <p:cNvSpPr/>
          <p:nvPr/>
        </p:nvSpPr>
        <p:spPr>
          <a:xfrm>
            <a:off x="3584448" y="3227832"/>
            <a:ext cx="2185416" cy="502920"/>
          </a:xfrm>
          <a:prstGeom prst="rect">
            <a:avLst/>
          </a:prstGeom>
          <a:noFill/>
          <a:ln/>
        </p:spPr>
        <p:txBody>
          <a:bodyPr wrap="square" lIns="0" tIns="0" rIns="0" bIns="0" rtlCol="0" anchor="ctr"/>
          <a:lstStyle/>
          <a:p>
            <a:pPr indent="0" marL="0">
              <a:buNone/>
            </a:pPr>
            <a:r>
              <a:rPr lang="en-US" sz="2400" b="1" dirty="0">
                <a:solidFill>
                  <a:srgbClr val="C0713A"/>
                </a:solidFill>
                <a:latin typeface="Meiryo" pitchFamily="34" charset="0"/>
                <a:ea typeface="Meiryo" pitchFamily="34" charset="-122"/>
                <a:cs typeface="Meiryo" pitchFamily="34" charset="-120"/>
              </a:rPr>
              <a:t>★★★ 9社</a:t>
            </a:r>
            <a:endParaRPr lang="en-US" sz="2400" dirty="0"/>
          </a:p>
        </p:txBody>
      </p:sp>
      <p:sp>
        <p:nvSpPr>
          <p:cNvPr id="29" name="Text 27"/>
          <p:cNvSpPr/>
          <p:nvPr/>
        </p:nvSpPr>
        <p:spPr>
          <a:xfrm>
            <a:off x="3584448" y="3739896"/>
            <a:ext cx="2185416" cy="292608"/>
          </a:xfrm>
          <a:prstGeom prst="rect">
            <a:avLst/>
          </a:prstGeom>
          <a:noFill/>
          <a:ln/>
        </p:spPr>
        <p:txBody>
          <a:bodyPr wrap="square" lIns="0" tIns="0" rIns="0" bIns="0" rtlCol="0" anchor="ctr"/>
          <a:lstStyle/>
          <a:p>
            <a:pPr indent="0" marL="0">
              <a:buNone/>
            </a:pPr>
            <a:r>
              <a:rPr lang="en-US" sz="1200" b="1" dirty="0">
                <a:solidFill>
                  <a:srgbClr val="1C2B4A"/>
                </a:solidFill>
                <a:latin typeface="Meiryo" pitchFamily="34" charset="0"/>
                <a:ea typeface="Meiryo" pitchFamily="34" charset="-122"/>
                <a:cs typeface="Meiryo" pitchFamily="34" charset="-120"/>
              </a:rPr>
              <a:t>時系列因果を確認</a:t>
            </a:r>
            <a:endParaRPr lang="en-US" sz="1200" dirty="0"/>
          </a:p>
        </p:txBody>
      </p:sp>
      <p:sp>
        <p:nvSpPr>
          <p:cNvPr id="30" name="Text 28"/>
          <p:cNvSpPr/>
          <p:nvPr/>
        </p:nvSpPr>
        <p:spPr>
          <a:xfrm>
            <a:off x="3584448" y="4050792"/>
            <a:ext cx="2185416" cy="676656"/>
          </a:xfrm>
          <a:prstGeom prst="rect">
            <a:avLst/>
          </a:prstGeom>
          <a:noFill/>
          <a:ln/>
        </p:spPr>
        <p:txBody>
          <a:bodyPr wrap="square" lIns="0" tIns="0" rIns="0" bIns="0" rtlCol="0" anchor="t"/>
          <a:lstStyle/>
          <a:p>
            <a:pPr indent="0" marL="0">
              <a:buNone/>
            </a:pPr>
            <a:r>
              <a:rPr lang="en-US" sz="950" dirty="0">
                <a:solidFill>
                  <a:srgbClr val="5B6B7F"/>
                </a:solidFill>
                <a:latin typeface="Meiryo" pitchFamily="34" charset="0"/>
                <a:ea typeface="Meiryo" pitchFamily="34" charset="-122"/>
                <a:cs typeface="Meiryo" pitchFamily="34" charset="-120"/>
              </a:rPr>
              <a:t>アンカー投資「発表の後」の増設・受賞を一次情報で確認できた銘柄数</a:t>
            </a:r>
            <a:endParaRPr lang="en-US" sz="950" dirty="0"/>
          </a:p>
        </p:txBody>
      </p:sp>
      <p:sp>
        <p:nvSpPr>
          <p:cNvPr id="31" name="Shape 29"/>
          <p:cNvSpPr/>
          <p:nvPr/>
        </p:nvSpPr>
        <p:spPr>
          <a:xfrm>
            <a:off x="6217920" y="3063240"/>
            <a:ext cx="2587752" cy="1737360"/>
          </a:xfrm>
          <a:prstGeom prst="roundRect">
            <a:avLst>
              <a:gd name="adj" fmla="val 3684"/>
            </a:avLst>
          </a:prstGeom>
          <a:solidFill>
            <a:srgbClr val="F3F6FA"/>
          </a:solidFill>
          <a:ln/>
        </p:spPr>
      </p:sp>
      <p:sp>
        <p:nvSpPr>
          <p:cNvPr id="32" name="Text 30"/>
          <p:cNvSpPr/>
          <p:nvPr/>
        </p:nvSpPr>
        <p:spPr>
          <a:xfrm>
            <a:off x="6419088" y="3227832"/>
            <a:ext cx="2185416" cy="502920"/>
          </a:xfrm>
          <a:prstGeom prst="rect">
            <a:avLst/>
          </a:prstGeom>
          <a:noFill/>
          <a:ln/>
        </p:spPr>
        <p:txBody>
          <a:bodyPr wrap="square" lIns="0" tIns="0" rIns="0" bIns="0" rtlCol="0" anchor="ctr"/>
          <a:lstStyle/>
          <a:p>
            <a:pPr indent="0" marL="0">
              <a:buNone/>
            </a:pPr>
            <a:r>
              <a:rPr lang="en-US" sz="2400" b="1" dirty="0">
                <a:solidFill>
                  <a:srgbClr val="C0713A"/>
                </a:solidFill>
                <a:latin typeface="Meiryo" pitchFamily="34" charset="0"/>
                <a:ea typeface="Meiryo" pitchFamily="34" charset="-122"/>
                <a:cs typeface="Meiryo" pitchFamily="34" charset="-120"/>
              </a:rPr>
              <a:t>13 + 2</a:t>
            </a:r>
            <a:endParaRPr lang="en-US" sz="2400" dirty="0"/>
          </a:p>
        </p:txBody>
      </p:sp>
      <p:sp>
        <p:nvSpPr>
          <p:cNvPr id="33" name="Text 31"/>
          <p:cNvSpPr/>
          <p:nvPr/>
        </p:nvSpPr>
        <p:spPr>
          <a:xfrm>
            <a:off x="6419088" y="3739896"/>
            <a:ext cx="2185416" cy="292608"/>
          </a:xfrm>
          <a:prstGeom prst="rect">
            <a:avLst/>
          </a:prstGeom>
          <a:noFill/>
          <a:ln/>
        </p:spPr>
        <p:txBody>
          <a:bodyPr wrap="square" lIns="0" tIns="0" rIns="0" bIns="0" rtlCol="0" anchor="ctr"/>
          <a:lstStyle/>
          <a:p>
            <a:pPr indent="0" marL="0">
              <a:buNone/>
            </a:pPr>
            <a:r>
              <a:rPr lang="en-US" sz="1200" b="1" dirty="0">
                <a:solidFill>
                  <a:srgbClr val="1C2B4A"/>
                </a:solidFill>
                <a:latin typeface="Meiryo" pitchFamily="34" charset="0"/>
                <a:ea typeface="Meiryo" pitchFamily="34" charset="-122"/>
                <a:cs typeface="Meiryo" pitchFamily="34" charset="-120"/>
              </a:rPr>
              <a:t>二軸クラスター</a:t>
            </a:r>
            <a:endParaRPr lang="en-US" sz="1200" dirty="0"/>
          </a:p>
        </p:txBody>
      </p:sp>
      <p:sp>
        <p:nvSpPr>
          <p:cNvPr id="34" name="Text 32"/>
          <p:cNvSpPr/>
          <p:nvPr/>
        </p:nvSpPr>
        <p:spPr>
          <a:xfrm>
            <a:off x="6419088" y="4050792"/>
            <a:ext cx="2185416" cy="676656"/>
          </a:xfrm>
          <a:prstGeom prst="rect">
            <a:avLst/>
          </a:prstGeom>
          <a:noFill/>
          <a:ln/>
        </p:spPr>
        <p:txBody>
          <a:bodyPr wrap="square" lIns="0" tIns="0" rIns="0" bIns="0" rtlCol="0" anchor="t"/>
          <a:lstStyle/>
          <a:p>
            <a:pPr indent="0" marL="0">
              <a:buNone/>
            </a:pPr>
            <a:r>
              <a:rPr lang="en-US" sz="950" dirty="0">
                <a:solidFill>
                  <a:srgbClr val="5B6B7F"/>
                </a:solidFill>
                <a:latin typeface="Meiryo" pitchFamily="34" charset="0"/>
                <a:ea typeface="Meiryo" pitchFamily="34" charset="-122"/>
                <a:cs typeface="Meiryo" pitchFamily="34" charset="-120"/>
              </a:rPr>
              <a:t>九州(TSMC熊本ほか多層アンカー)と東北(キオクシア北上)の二軸構成</a:t>
            </a:r>
            <a:endParaRPr lang="en-US" sz="950" dirty="0"/>
          </a:p>
        </p:txBody>
      </p:sp>
      <p:sp>
        <p:nvSpPr>
          <p:cNvPr id="35" name="Shape 33"/>
          <p:cNvSpPr/>
          <p:nvPr/>
        </p:nvSpPr>
        <p:spPr>
          <a:xfrm>
            <a:off x="9052560" y="3063240"/>
            <a:ext cx="2587752" cy="1737360"/>
          </a:xfrm>
          <a:prstGeom prst="roundRect">
            <a:avLst>
              <a:gd name="adj" fmla="val 3684"/>
            </a:avLst>
          </a:prstGeom>
          <a:solidFill>
            <a:srgbClr val="F3F6FA"/>
          </a:solidFill>
          <a:ln/>
        </p:spPr>
      </p:sp>
      <p:sp>
        <p:nvSpPr>
          <p:cNvPr id="36" name="Text 34"/>
          <p:cNvSpPr/>
          <p:nvPr/>
        </p:nvSpPr>
        <p:spPr>
          <a:xfrm>
            <a:off x="9253728" y="3227832"/>
            <a:ext cx="2185416" cy="502920"/>
          </a:xfrm>
          <a:prstGeom prst="rect">
            <a:avLst/>
          </a:prstGeom>
          <a:noFill/>
          <a:ln/>
        </p:spPr>
        <p:txBody>
          <a:bodyPr wrap="square" lIns="0" tIns="0" rIns="0" bIns="0" rtlCol="0" anchor="ctr"/>
          <a:lstStyle/>
          <a:p>
            <a:pPr indent="0" marL="0">
              <a:buNone/>
            </a:pPr>
            <a:r>
              <a:rPr lang="en-US" sz="2400" b="1" dirty="0">
                <a:solidFill>
                  <a:srgbClr val="C0713A"/>
                </a:solidFill>
                <a:latin typeface="Meiryo" pitchFamily="34" charset="0"/>
                <a:ea typeface="Meiryo" pitchFamily="34" charset="-122"/>
                <a:cs typeface="Meiryo" pitchFamily="34" charset="-120"/>
              </a:rPr>
              <a:t>500万円</a:t>
            </a:r>
            <a:endParaRPr lang="en-US" sz="2400" dirty="0"/>
          </a:p>
        </p:txBody>
      </p:sp>
      <p:sp>
        <p:nvSpPr>
          <p:cNvPr id="37" name="Text 35"/>
          <p:cNvSpPr/>
          <p:nvPr/>
        </p:nvSpPr>
        <p:spPr>
          <a:xfrm>
            <a:off x="9253728" y="3739896"/>
            <a:ext cx="2185416" cy="292608"/>
          </a:xfrm>
          <a:prstGeom prst="rect">
            <a:avLst/>
          </a:prstGeom>
          <a:noFill/>
          <a:ln/>
        </p:spPr>
        <p:txBody>
          <a:bodyPr wrap="square" lIns="0" tIns="0" rIns="0" bIns="0" rtlCol="0" anchor="ctr"/>
          <a:lstStyle/>
          <a:p>
            <a:pPr indent="0" marL="0">
              <a:buNone/>
            </a:pPr>
            <a:r>
              <a:rPr lang="en-US" sz="1200" b="1" dirty="0">
                <a:solidFill>
                  <a:srgbClr val="1C2B4A"/>
                </a:solidFill>
                <a:latin typeface="Meiryo" pitchFamily="34" charset="0"/>
                <a:ea typeface="Meiryo" pitchFamily="34" charset="-122"/>
                <a:cs typeface="Meiryo" pitchFamily="34" charset="-120"/>
              </a:rPr>
              <a:t>配分設計 完了</a:t>
            </a:r>
            <a:endParaRPr lang="en-US" sz="1200" dirty="0"/>
          </a:p>
        </p:txBody>
      </p:sp>
      <p:sp>
        <p:nvSpPr>
          <p:cNvPr id="38" name="Text 36"/>
          <p:cNvSpPr/>
          <p:nvPr/>
        </p:nvSpPr>
        <p:spPr>
          <a:xfrm>
            <a:off x="9253728" y="4050792"/>
            <a:ext cx="2185416" cy="676656"/>
          </a:xfrm>
          <a:prstGeom prst="rect">
            <a:avLst/>
          </a:prstGeom>
          <a:noFill/>
          <a:ln/>
        </p:spPr>
        <p:txBody>
          <a:bodyPr wrap="square" lIns="0" tIns="0" rIns="0" bIns="0" rtlCol="0" anchor="t"/>
          <a:lstStyle/>
          <a:p>
            <a:pPr indent="0" marL="0">
              <a:buNone/>
            </a:pPr>
            <a:r>
              <a:rPr lang="en-US" sz="950" dirty="0">
                <a:solidFill>
                  <a:srgbClr val="5B6B7F"/>
                </a:solidFill>
                <a:latin typeface="Meiryo" pitchFamily="34" charset="0"/>
                <a:ea typeface="Meiryo" pitchFamily="34" charset="-122"/>
                <a:cs typeface="Meiryo" pitchFamily="34" charset="-120"/>
              </a:rPr>
              <a:t>現在値QARP比例+上限10%/下限4%、売買手数料1.1%控除済み</a:t>
            </a:r>
            <a:endParaRPr lang="en-US" sz="950" dirty="0"/>
          </a:p>
        </p:txBody>
      </p:sp>
      <p:sp>
        <p:nvSpPr>
          <p:cNvPr id="39" name="Text 37"/>
          <p:cNvSpPr/>
          <p:nvPr/>
        </p:nvSpPr>
        <p:spPr>
          <a:xfrm>
            <a:off x="548640" y="5138928"/>
            <a:ext cx="11094415" cy="457200"/>
          </a:xfrm>
          <a:prstGeom prst="rect">
            <a:avLst/>
          </a:prstGeom>
          <a:noFill/>
          <a:ln/>
        </p:spPr>
        <p:txBody>
          <a:bodyPr wrap="square" lIns="0" tIns="0" rIns="0" bIns="0" rtlCol="0" anchor="t"/>
          <a:lstStyle/>
          <a:p>
            <a:pPr algn="ctr" indent="0" marL="0">
              <a:buNone/>
            </a:pPr>
            <a:r>
              <a:rPr lang="en-US" sz="1200" b="1" dirty="0">
                <a:solidFill>
                  <a:srgbClr val="1C2B4A"/>
                </a:solidFill>
                <a:latin typeface="Meiryo" pitchFamily="34" charset="0"/>
                <a:ea typeface="Meiryo" pitchFamily="34" charset="-122"/>
                <a:cs typeface="Meiryo" pitchFamily="34" charset="-120"/>
              </a:rPr>
              <a:t>選定＝アンカー（＝集積の核になる大工場）で決め ・ 順位＝QARP（良質×割安の自前指標）・ 比重＝現在の株価ベース　</a:t>
            </a:r>
            <a:pPr algn="ctr" indent="0" marL="0">
              <a:buNone/>
            </a:pPr>
            <a:r>
              <a:rPr lang="en-US" sz="1200" dirty="0">
                <a:solidFill>
                  <a:srgbClr val="5B6B7F"/>
                </a:solidFill>
                <a:latin typeface="Meiryo" pitchFamily="34" charset="0"/>
                <a:ea typeface="Meiryo" pitchFamily="34" charset="-122"/>
                <a:cs typeface="Meiryo" pitchFamily="34" charset="-120"/>
              </a:rPr>
              <a:t>—「テーマを検証する銘柄の中で、良く・安く」</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THEME &amp; SOCIAL VALUE</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投資テーマの社会的意義 — 地方創生 × 経済安全保障</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6</a:t>
            </a:r>
            <a:endParaRPr lang="en-US" sz="900" dirty="0"/>
          </a:p>
        </p:txBody>
      </p:sp>
      <p:sp>
        <p:nvSpPr>
          <p:cNvPr id="9" name="Shape 7"/>
          <p:cNvSpPr/>
          <p:nvPr/>
        </p:nvSpPr>
        <p:spPr>
          <a:xfrm>
            <a:off x="548640" y="1371600"/>
            <a:ext cx="5413248" cy="3931920"/>
          </a:xfrm>
          <a:prstGeom prst="roundRect">
            <a:avLst>
              <a:gd name="adj" fmla="val 1628"/>
            </a:avLst>
          </a:prstGeom>
          <a:solidFill>
            <a:srgbClr val="F3F6FA"/>
          </a:solidFill>
          <a:ln/>
        </p:spPr>
      </p:sp>
      <p:sp>
        <p:nvSpPr>
          <p:cNvPr id="10" name="Text 8"/>
          <p:cNvSpPr/>
          <p:nvPr/>
        </p:nvSpPr>
        <p:spPr>
          <a:xfrm>
            <a:off x="822960" y="1645920"/>
            <a:ext cx="566928" cy="566928"/>
          </a:xfrm>
          <a:prstGeom prst="ellipse">
            <a:avLst/>
          </a:prstGeom>
          <a:solidFill>
            <a:srgbClr val="C0713A"/>
          </a:solid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創</a:t>
            </a:r>
            <a:endParaRPr lang="en-US" sz="2000" dirty="0"/>
          </a:p>
        </p:txBody>
      </p:sp>
      <p:sp>
        <p:nvSpPr>
          <p:cNvPr id="11" name="Text 9"/>
          <p:cNvSpPr/>
          <p:nvPr/>
        </p:nvSpPr>
        <p:spPr>
          <a:xfrm>
            <a:off x="1554480" y="1627632"/>
            <a:ext cx="4133088" cy="365760"/>
          </a:xfrm>
          <a:prstGeom prst="rect">
            <a:avLst/>
          </a:prstGeom>
          <a:noFill/>
          <a:ln/>
        </p:spPr>
        <p:txBody>
          <a:bodyPr wrap="square" lIns="0" tIns="0" rIns="0" bIns="0" rtlCol="0" anchor="ctr"/>
          <a:lstStyle/>
          <a:p>
            <a:pPr indent="0" marL="0">
              <a:buNone/>
            </a:pPr>
            <a:r>
              <a:rPr lang="en-US" sz="1900" b="1" dirty="0">
                <a:solidFill>
                  <a:srgbClr val="1C2B4A"/>
                </a:solidFill>
                <a:latin typeface="Meiryo" pitchFamily="34" charset="0"/>
                <a:ea typeface="Meiryo" pitchFamily="34" charset="-122"/>
                <a:cs typeface="Meiryo" pitchFamily="34" charset="-120"/>
              </a:rPr>
              <a:t>地方創生</a:t>
            </a:r>
            <a:endParaRPr lang="en-US" sz="1900" dirty="0"/>
          </a:p>
        </p:txBody>
      </p:sp>
      <p:sp>
        <p:nvSpPr>
          <p:cNvPr id="12" name="Text 10"/>
          <p:cNvSpPr/>
          <p:nvPr/>
        </p:nvSpPr>
        <p:spPr>
          <a:xfrm>
            <a:off x="1554480" y="1993392"/>
            <a:ext cx="4133088" cy="292608"/>
          </a:xfrm>
          <a:prstGeom prst="rect">
            <a:avLst/>
          </a:prstGeom>
          <a:noFill/>
          <a:ln/>
        </p:spPr>
        <p:txBody>
          <a:bodyPr wrap="square" lIns="0" tIns="0" rIns="0" bIns="0" rtlCol="0" anchor="ctr"/>
          <a:lstStyle/>
          <a:p>
            <a:pPr indent="0" marL="0">
              <a:buNone/>
            </a:pPr>
            <a:r>
              <a:rPr lang="en-US" sz="1100" dirty="0">
                <a:solidFill>
                  <a:srgbClr val="5B6B7F"/>
                </a:solidFill>
                <a:latin typeface="Meiryo" pitchFamily="34" charset="0"/>
                <a:ea typeface="Meiryo" pitchFamily="34" charset="-122"/>
                <a:cs typeface="Meiryo" pitchFamily="34" charset="-120"/>
              </a:rPr>
              <a:t>アンカーファブが、地方に雇用と生態系を生む</a:t>
            </a:r>
            <a:endParaRPr lang="en-US" sz="1100" dirty="0"/>
          </a:p>
        </p:txBody>
      </p:sp>
      <p:sp>
        <p:nvSpPr>
          <p:cNvPr id="13" name="Text 11"/>
          <p:cNvSpPr/>
          <p:nvPr/>
        </p:nvSpPr>
        <p:spPr>
          <a:xfrm>
            <a:off x="868680" y="2560320"/>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平田機工（熊本）</a:t>
            </a:r>
            <a:endParaRPr lang="en-US" sz="1200" dirty="0"/>
          </a:p>
          <a:p>
            <a:pPr indent="0" marL="0">
              <a:buNone/>
            </a:pPr>
            <a:r>
              <a:rPr lang="en-US" sz="1050" dirty="0">
                <a:solidFill>
                  <a:srgbClr val="5B6B7F"/>
                </a:solidFill>
                <a:latin typeface="Meiryo" pitchFamily="34" charset="0"/>
                <a:ea typeface="Meiryo" pitchFamily="34" charset="-122"/>
                <a:cs typeface="Meiryo" pitchFamily="34" charset="-120"/>
              </a:rPr>
              <a:t>本社は熊本市 — 地場企業がTSMC誘致を機に菊池新工場で半導体5割増産へ</a:t>
            </a:r>
            <a:endParaRPr lang="en-US" sz="1200" dirty="0"/>
          </a:p>
        </p:txBody>
      </p:sp>
      <p:sp>
        <p:nvSpPr>
          <p:cNvPr id="14" name="Text 12"/>
          <p:cNvSpPr/>
          <p:nvPr/>
        </p:nvSpPr>
        <p:spPr>
          <a:xfrm>
            <a:off x="868680" y="3456432"/>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日東紡（福島）</a:t>
            </a:r>
            <a:endParaRPr lang="en-US" sz="1200" dirty="0"/>
          </a:p>
          <a:p>
            <a:pPr indent="0" marL="0">
              <a:buNone/>
            </a:pPr>
            <a:r>
              <a:rPr lang="en-US" sz="1050" dirty="0">
                <a:solidFill>
                  <a:srgbClr val="5B6B7F"/>
                </a:solidFill>
                <a:latin typeface="Meiryo" pitchFamily="34" charset="0"/>
                <a:ea typeface="Meiryo" pitchFamily="34" charset="-122"/>
                <a:cs typeface="Meiryo" pitchFamily="34" charset="-120"/>
              </a:rPr>
              <a:t>本社福島市。150億円の新工場棟を建設 — 地元雇用の拡大が報道される</a:t>
            </a:r>
            <a:endParaRPr lang="en-US" sz="1200" dirty="0"/>
          </a:p>
        </p:txBody>
      </p:sp>
      <p:sp>
        <p:nvSpPr>
          <p:cNvPr id="15" name="Text 13"/>
          <p:cNvSpPr/>
          <p:nvPr/>
        </p:nvSpPr>
        <p:spPr>
          <a:xfrm>
            <a:off x="868680" y="4352544"/>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日本マイクロニクス（青森）</a:t>
            </a:r>
            <a:endParaRPr lang="en-US" sz="1200" dirty="0"/>
          </a:p>
          <a:p>
            <a:pPr indent="0" marL="0">
              <a:buNone/>
            </a:pPr>
            <a:r>
              <a:rPr lang="en-US" sz="1050" dirty="0">
                <a:solidFill>
                  <a:srgbClr val="5B6B7F"/>
                </a:solidFill>
                <a:latin typeface="Meiryo" pitchFamily="34" charset="0"/>
                <a:ea typeface="Meiryo" pitchFamily="34" charset="-122"/>
                <a:cs typeface="Meiryo" pitchFamily="34" charset="-120"/>
              </a:rPr>
              <a:t>平川の拠点は1981年から。新棟110億円+追加241億円の大型投資</a:t>
            </a:r>
            <a:endParaRPr lang="en-US" sz="1200" dirty="0"/>
          </a:p>
        </p:txBody>
      </p:sp>
      <p:sp>
        <p:nvSpPr>
          <p:cNvPr id="16" name="Shape 14"/>
          <p:cNvSpPr/>
          <p:nvPr/>
        </p:nvSpPr>
        <p:spPr>
          <a:xfrm>
            <a:off x="6227064" y="1371600"/>
            <a:ext cx="5413248" cy="3931920"/>
          </a:xfrm>
          <a:prstGeom prst="roundRect">
            <a:avLst>
              <a:gd name="adj" fmla="val 1628"/>
            </a:avLst>
          </a:prstGeom>
          <a:solidFill>
            <a:srgbClr val="F3F6FA"/>
          </a:solidFill>
          <a:ln/>
        </p:spPr>
      </p:sp>
      <p:sp>
        <p:nvSpPr>
          <p:cNvPr id="17" name="Text 15"/>
          <p:cNvSpPr/>
          <p:nvPr/>
        </p:nvSpPr>
        <p:spPr>
          <a:xfrm>
            <a:off x="6501384" y="1645920"/>
            <a:ext cx="566928" cy="566928"/>
          </a:xfrm>
          <a:prstGeom prst="ellipse">
            <a:avLst/>
          </a:prstGeom>
          <a:solidFill>
            <a:srgbClr val="C0713A"/>
          </a:solid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保</a:t>
            </a:r>
            <a:endParaRPr lang="en-US" sz="2000" dirty="0"/>
          </a:p>
        </p:txBody>
      </p:sp>
      <p:sp>
        <p:nvSpPr>
          <p:cNvPr id="18" name="Text 16"/>
          <p:cNvSpPr/>
          <p:nvPr/>
        </p:nvSpPr>
        <p:spPr>
          <a:xfrm>
            <a:off x="7232904" y="1627632"/>
            <a:ext cx="4133088" cy="365760"/>
          </a:xfrm>
          <a:prstGeom prst="rect">
            <a:avLst/>
          </a:prstGeom>
          <a:noFill/>
          <a:ln/>
        </p:spPr>
        <p:txBody>
          <a:bodyPr wrap="square" lIns="0" tIns="0" rIns="0" bIns="0" rtlCol="0" anchor="ctr"/>
          <a:lstStyle/>
          <a:p>
            <a:pPr indent="0" marL="0">
              <a:buNone/>
            </a:pPr>
            <a:r>
              <a:rPr lang="en-US" sz="1900" b="1" dirty="0">
                <a:solidFill>
                  <a:srgbClr val="1C2B4A"/>
                </a:solidFill>
                <a:latin typeface="Meiryo" pitchFamily="34" charset="0"/>
                <a:ea typeface="Meiryo" pitchFamily="34" charset="-122"/>
                <a:cs typeface="Meiryo" pitchFamily="34" charset="-120"/>
              </a:rPr>
              <a:t>経済安全保障</a:t>
            </a:r>
            <a:endParaRPr lang="en-US" sz="1900" dirty="0"/>
          </a:p>
        </p:txBody>
      </p:sp>
      <p:sp>
        <p:nvSpPr>
          <p:cNvPr id="19" name="Text 17"/>
          <p:cNvSpPr/>
          <p:nvPr/>
        </p:nvSpPr>
        <p:spPr>
          <a:xfrm>
            <a:off x="7232904" y="1993392"/>
            <a:ext cx="4133088" cy="292608"/>
          </a:xfrm>
          <a:prstGeom prst="rect">
            <a:avLst/>
          </a:prstGeom>
          <a:noFill/>
          <a:ln/>
        </p:spPr>
        <p:txBody>
          <a:bodyPr wrap="square" lIns="0" tIns="0" rIns="0" bIns="0" rtlCol="0" anchor="ctr"/>
          <a:lstStyle/>
          <a:p>
            <a:pPr indent="0" marL="0">
              <a:buNone/>
            </a:pPr>
            <a:r>
              <a:rPr lang="en-US" sz="1100" dirty="0">
                <a:solidFill>
                  <a:srgbClr val="5B6B7F"/>
                </a:solidFill>
                <a:latin typeface="Meiryo" pitchFamily="34" charset="0"/>
                <a:ea typeface="Meiryo" pitchFamily="34" charset="-122"/>
                <a:cs typeface="Meiryo" pitchFamily="34" charset="-120"/>
              </a:rPr>
              <a:t>半導体サプライチェーンの国内再構築</a:t>
            </a:r>
            <a:endParaRPr lang="en-US" sz="1100" dirty="0"/>
          </a:p>
        </p:txBody>
      </p:sp>
      <p:sp>
        <p:nvSpPr>
          <p:cNvPr id="20" name="Text 18"/>
          <p:cNvSpPr/>
          <p:nvPr/>
        </p:nvSpPr>
        <p:spPr>
          <a:xfrm>
            <a:off x="6547104" y="2560320"/>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経産省「供給確保計画」認定</a:t>
            </a:r>
            <a:endParaRPr lang="en-US" sz="1200" dirty="0"/>
          </a:p>
          <a:p>
            <a:pPr indent="0" marL="0">
              <a:buNone/>
            </a:pPr>
            <a:r>
              <a:rPr lang="en-US" sz="1050" dirty="0">
                <a:solidFill>
                  <a:srgbClr val="5B6B7F"/>
                </a:solidFill>
                <a:latin typeface="Meiryo" pitchFamily="34" charset="0"/>
                <a:ea typeface="Meiryo" pitchFamily="34" charset="-122"/>
                <a:cs typeface="Meiryo" pitchFamily="34" charset="-120"/>
              </a:rPr>
              <a:t>日東紡のTガラス新工場は国の供給確保計画に認定 — 政策との整合</a:t>
            </a:r>
            <a:endParaRPr lang="en-US" sz="1200" dirty="0"/>
          </a:p>
        </p:txBody>
      </p:sp>
      <p:sp>
        <p:nvSpPr>
          <p:cNvPr id="21" name="Text 19"/>
          <p:cNvSpPr/>
          <p:nvPr/>
        </p:nvSpPr>
        <p:spPr>
          <a:xfrm>
            <a:off x="6547104" y="3456432"/>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国策誘致が背景</a:t>
            </a:r>
            <a:endParaRPr lang="en-US" sz="1200" dirty="0"/>
          </a:p>
          <a:p>
            <a:pPr indent="0" marL="0">
              <a:buNone/>
            </a:pPr>
            <a:r>
              <a:rPr lang="en-US" sz="1050" dirty="0">
                <a:solidFill>
                  <a:srgbClr val="5B6B7F"/>
                </a:solidFill>
                <a:latin typeface="Meiryo" pitchFamily="34" charset="0"/>
                <a:ea typeface="Meiryo" pitchFamily="34" charset="-122"/>
                <a:cs typeface="Meiryo" pitchFamily="34" charset="-120"/>
              </a:rPr>
              <a:t>TSMC熊本(JASM)・ラピダス北海道 — 国が誘致した先端ファブが集積の起点</a:t>
            </a:r>
            <a:endParaRPr lang="en-US" sz="1200" dirty="0"/>
          </a:p>
        </p:txBody>
      </p:sp>
      <p:sp>
        <p:nvSpPr>
          <p:cNvPr id="22" name="Text 20"/>
          <p:cNvSpPr/>
          <p:nvPr/>
        </p:nvSpPr>
        <p:spPr>
          <a:xfrm>
            <a:off x="6547104" y="4352544"/>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基盤インフラの国内確保</a:t>
            </a:r>
            <a:endParaRPr lang="en-US" sz="1200" dirty="0"/>
          </a:p>
          <a:p>
            <a:pPr indent="0" marL="0">
              <a:buNone/>
            </a:pPr>
            <a:r>
              <a:rPr lang="en-US" sz="1050" dirty="0">
                <a:solidFill>
                  <a:srgbClr val="5B6B7F"/>
                </a:solidFill>
                <a:latin typeface="Meiryo" pitchFamily="34" charset="0"/>
                <a:ea typeface="Meiryo" pitchFamily="34" charset="-122"/>
                <a:cs typeface="Meiryo" pitchFamily="34" charset="-120"/>
              </a:rPr>
              <a:t>超純水・特殊ガス・精密部材 — ファブを支える「見えない技術」を国内に保つ</a:t>
            </a:r>
            <a:endParaRPr lang="en-US" sz="1200" dirty="0"/>
          </a:p>
        </p:txBody>
      </p:sp>
      <p:sp>
        <p:nvSpPr>
          <p:cNvPr id="23" name="Shape 21"/>
          <p:cNvSpPr/>
          <p:nvPr/>
        </p:nvSpPr>
        <p:spPr>
          <a:xfrm>
            <a:off x="548640" y="5532120"/>
            <a:ext cx="11094415" cy="566928"/>
          </a:xfrm>
          <a:prstGeom prst="roundRect">
            <a:avLst>
              <a:gd name="adj" fmla="val 11290"/>
            </a:avLst>
          </a:prstGeom>
          <a:solidFill>
            <a:srgbClr val="1C2B4A"/>
          </a:solidFill>
          <a:ln/>
        </p:spPr>
      </p:sp>
      <p:sp>
        <p:nvSpPr>
          <p:cNvPr id="24" name="Text 22"/>
          <p:cNvSpPr/>
          <p:nvPr/>
        </p:nvSpPr>
        <p:spPr>
          <a:xfrm>
            <a:off x="822960" y="5532120"/>
            <a:ext cx="10545775"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pitchFamily="34" charset="0"/>
                <a:ea typeface="Meiryo" pitchFamily="34" charset="-122"/>
                <a:cs typeface="Meiryo" pitchFamily="34" charset="-120"/>
              </a:rPr>
              <a:t>このポートフォリオ自体が、地方創生と経済安全保障の「進行指標」になる — 投資で社会課題を読む。</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HYPOTHESIS</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なぜ後工程はファブの近くに集まるのか — 4つの構造要因</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7</a:t>
            </a:r>
            <a:endParaRPr lang="en-US" sz="900" dirty="0"/>
          </a:p>
        </p:txBody>
      </p:sp>
      <p:sp>
        <p:nvSpPr>
          <p:cNvPr id="9" name="Text 7"/>
          <p:cNvSpPr/>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5B6B7F"/>
                </a:solidFill>
                <a:latin typeface="Meiryo" pitchFamily="34" charset="0"/>
                <a:ea typeface="Meiryo" pitchFamily="34" charset="-122"/>
                <a:cs typeface="Meiryo" pitchFamily="34" charset="-120"/>
              </a:rPr>
              <a:t>前工程（ウエハ製造）は資本集約・中央集中でメガファブに凝集する。一方、後工程・素材・装置は </a:t>
            </a:r>
            <a:pPr indent="0" marL="0">
              <a:buNone/>
            </a:pPr>
            <a:r>
              <a:rPr lang="en-US" sz="1300" b="1" dirty="0">
                <a:solidFill>
                  <a:srgbClr val="A55D2B"/>
                </a:solidFill>
                <a:latin typeface="Meiryo" pitchFamily="34" charset="0"/>
                <a:ea typeface="Meiryo" pitchFamily="34" charset="-122"/>
                <a:cs typeface="Meiryo" pitchFamily="34" charset="-120"/>
              </a:rPr>
              <a:t>「近接性」そのものが競争力</a:t>
            </a:r>
            <a:pPr indent="0" marL="0">
              <a:buNone/>
            </a:pPr>
            <a:r>
              <a:rPr lang="en-US" sz="1300" dirty="0">
                <a:solidFill>
                  <a:srgbClr val="5B6B7F"/>
                </a:solidFill>
                <a:latin typeface="Meiryo" pitchFamily="34" charset="0"/>
                <a:ea typeface="Meiryo" pitchFamily="34" charset="-122"/>
                <a:cs typeface="Meiryo" pitchFamily="34" charset="-120"/>
              </a:rPr>
              <a:t> になる。</a:t>
            </a:r>
            <a:endParaRPr lang="en-US" sz="1300" dirty="0"/>
          </a:p>
        </p:txBody>
      </p:sp>
      <p:sp>
        <p:nvSpPr>
          <p:cNvPr id="10" name="Shape 8"/>
          <p:cNvSpPr/>
          <p:nvPr/>
        </p:nvSpPr>
        <p:spPr>
          <a:xfrm>
            <a:off x="548640" y="1737360"/>
            <a:ext cx="5413248" cy="1810512"/>
          </a:xfrm>
          <a:prstGeom prst="roundRect">
            <a:avLst>
              <a:gd name="adj" fmla="val 3535"/>
            </a:avLst>
          </a:prstGeom>
          <a:solidFill>
            <a:srgbClr val="F3F6FA"/>
          </a:solidFill>
          <a:ln/>
        </p:spPr>
      </p:sp>
      <p:sp>
        <p:nvSpPr>
          <p:cNvPr id="11" name="Text 9"/>
          <p:cNvSpPr/>
          <p:nvPr/>
        </p:nvSpPr>
        <p:spPr>
          <a:xfrm>
            <a:off x="786384" y="1975104"/>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12" name="Text 10"/>
          <p:cNvSpPr/>
          <p:nvPr/>
        </p:nvSpPr>
        <p:spPr>
          <a:xfrm>
            <a:off x="1408176" y="1993392"/>
            <a:ext cx="4315968" cy="384048"/>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高頻度の消耗品供給</a:t>
            </a:r>
            <a:endParaRPr lang="en-US" sz="1500" dirty="0"/>
          </a:p>
        </p:txBody>
      </p:sp>
      <p:sp>
        <p:nvSpPr>
          <p:cNvPr id="13" name="Text 11"/>
          <p:cNvSpPr/>
          <p:nvPr/>
        </p:nvSpPr>
        <p:spPr>
          <a:xfrm>
            <a:off x="1408176" y="2432304"/>
            <a:ext cx="4279392" cy="1005840"/>
          </a:xfrm>
          <a:prstGeom prst="rect">
            <a:avLst/>
          </a:prstGeom>
          <a:noFill/>
          <a:ln/>
        </p:spPr>
        <p:txBody>
          <a:bodyPr wrap="square" lIns="0" tIns="0" rIns="0" bIns="0" rtlCol="0" anchor="t"/>
          <a:lstStyle/>
          <a:p>
            <a:pPr indent="0" marL="0">
              <a:buNone/>
            </a:pPr>
            <a:r>
              <a:rPr lang="en-US" sz="1100" dirty="0">
                <a:solidFill>
                  <a:srgbClr val="5B6B7F"/>
                </a:solidFill>
                <a:latin typeface="Meiryo" pitchFamily="34" charset="0"/>
                <a:ea typeface="Meiryo" pitchFamily="34" charset="-122"/>
                <a:cs typeface="Meiryo" pitchFamily="34" charset="-120"/>
              </a:rPr>
              <a:t>ダイシングテープ・スラリー・ボンディングワイヤ・特殊ガス — JITと近接物流が効く消耗品をファブは毎日使う。</a:t>
            </a:r>
            <a:endParaRPr lang="en-US" sz="1100" dirty="0"/>
          </a:p>
        </p:txBody>
      </p:sp>
      <p:sp>
        <p:nvSpPr>
          <p:cNvPr id="14" name="Shape 12"/>
          <p:cNvSpPr/>
          <p:nvPr/>
        </p:nvSpPr>
        <p:spPr>
          <a:xfrm>
            <a:off x="6227064" y="1737360"/>
            <a:ext cx="5413248" cy="1810512"/>
          </a:xfrm>
          <a:prstGeom prst="roundRect">
            <a:avLst>
              <a:gd name="adj" fmla="val 3535"/>
            </a:avLst>
          </a:prstGeom>
          <a:solidFill>
            <a:srgbClr val="F3F6FA"/>
          </a:solidFill>
          <a:ln/>
        </p:spPr>
      </p:sp>
      <p:sp>
        <p:nvSpPr>
          <p:cNvPr id="15" name="Text 13"/>
          <p:cNvSpPr/>
          <p:nvPr/>
        </p:nvSpPr>
        <p:spPr>
          <a:xfrm>
            <a:off x="6464808" y="1975104"/>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6" name="Text 14"/>
          <p:cNvSpPr/>
          <p:nvPr/>
        </p:nvSpPr>
        <p:spPr>
          <a:xfrm>
            <a:off x="7086600" y="1993392"/>
            <a:ext cx="4315968" cy="384048"/>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装置の現場サービス</a:t>
            </a:r>
            <a:endParaRPr lang="en-US" sz="1500" dirty="0"/>
          </a:p>
        </p:txBody>
      </p:sp>
      <p:sp>
        <p:nvSpPr>
          <p:cNvPr id="17" name="Text 15"/>
          <p:cNvSpPr/>
          <p:nvPr/>
        </p:nvSpPr>
        <p:spPr>
          <a:xfrm>
            <a:off x="7086600" y="2432304"/>
            <a:ext cx="4279392" cy="1005840"/>
          </a:xfrm>
          <a:prstGeom prst="rect">
            <a:avLst/>
          </a:prstGeom>
          <a:noFill/>
          <a:ln/>
        </p:spPr>
        <p:txBody>
          <a:bodyPr wrap="square" lIns="0" tIns="0" rIns="0" bIns="0" rtlCol="0" anchor="t"/>
          <a:lstStyle/>
          <a:p>
            <a:pPr indent="0" marL="0">
              <a:buNone/>
            </a:pPr>
            <a:r>
              <a:rPr lang="en-US" sz="1100" dirty="0">
                <a:solidFill>
                  <a:srgbClr val="5B6B7F"/>
                </a:solidFill>
                <a:latin typeface="Meiryo" pitchFamily="34" charset="0"/>
                <a:ea typeface="Meiryo" pitchFamily="34" charset="-122"/>
                <a:cs typeface="Meiryo" pitchFamily="34" charset="-120"/>
              </a:rPr>
              <a:t>設置・保守・歩留りチューニングはエンジニアの常駐が前提 — ファブ近接拠点が事実上必須。</a:t>
            </a:r>
            <a:endParaRPr lang="en-US" sz="1100" dirty="0"/>
          </a:p>
        </p:txBody>
      </p:sp>
      <p:sp>
        <p:nvSpPr>
          <p:cNvPr id="18" name="Shape 16"/>
          <p:cNvSpPr/>
          <p:nvPr/>
        </p:nvSpPr>
        <p:spPr>
          <a:xfrm>
            <a:off x="548640" y="3767328"/>
            <a:ext cx="5413248" cy="1810512"/>
          </a:xfrm>
          <a:prstGeom prst="roundRect">
            <a:avLst>
              <a:gd name="adj" fmla="val 3535"/>
            </a:avLst>
          </a:prstGeom>
          <a:solidFill>
            <a:srgbClr val="F3F6FA"/>
          </a:solidFill>
          <a:ln/>
        </p:spPr>
      </p:sp>
      <p:sp>
        <p:nvSpPr>
          <p:cNvPr id="19" name="Text 17"/>
          <p:cNvSpPr/>
          <p:nvPr/>
        </p:nvSpPr>
        <p:spPr>
          <a:xfrm>
            <a:off x="786384" y="400507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20" name="Text 18"/>
          <p:cNvSpPr/>
          <p:nvPr/>
        </p:nvSpPr>
        <p:spPr>
          <a:xfrm>
            <a:off x="1408176" y="4023360"/>
            <a:ext cx="4315968" cy="384048"/>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組立・検査（OSAT）</a:t>
            </a:r>
            <a:endParaRPr lang="en-US" sz="1500" dirty="0"/>
          </a:p>
        </p:txBody>
      </p:sp>
      <p:sp>
        <p:nvSpPr>
          <p:cNvPr id="21" name="Text 19"/>
          <p:cNvSpPr/>
          <p:nvPr/>
        </p:nvSpPr>
        <p:spPr>
          <a:xfrm>
            <a:off x="1408176" y="4462272"/>
            <a:ext cx="4279392" cy="1005840"/>
          </a:xfrm>
          <a:prstGeom prst="rect">
            <a:avLst/>
          </a:prstGeom>
          <a:noFill/>
          <a:ln/>
        </p:spPr>
        <p:txBody>
          <a:bodyPr wrap="square" lIns="0" tIns="0" rIns="0" bIns="0" rtlCol="0" anchor="t"/>
          <a:lstStyle/>
          <a:p>
            <a:pPr indent="0" marL="0">
              <a:buNone/>
            </a:pPr>
            <a:r>
              <a:rPr lang="en-US" sz="1100" dirty="0">
                <a:solidFill>
                  <a:srgbClr val="5B6B7F"/>
                </a:solidFill>
                <a:latin typeface="Meiryo" pitchFamily="34" charset="0"/>
                <a:ea typeface="Meiryo" pitchFamily="34" charset="-122"/>
                <a:cs typeface="Meiryo" pitchFamily="34" charset="-120"/>
              </a:rPr>
              <a:t>ファブの産出物を受けて加工するため、物理的近接がリードタイムと歩留り協業に直結する。</a:t>
            </a:r>
            <a:endParaRPr lang="en-US" sz="1100" dirty="0"/>
          </a:p>
        </p:txBody>
      </p:sp>
      <p:sp>
        <p:nvSpPr>
          <p:cNvPr id="22" name="Shape 20"/>
          <p:cNvSpPr/>
          <p:nvPr/>
        </p:nvSpPr>
        <p:spPr>
          <a:xfrm>
            <a:off x="6227064" y="3767328"/>
            <a:ext cx="5413248" cy="1810512"/>
          </a:xfrm>
          <a:prstGeom prst="roundRect">
            <a:avLst>
              <a:gd name="adj" fmla="val 3535"/>
            </a:avLst>
          </a:prstGeom>
          <a:solidFill>
            <a:srgbClr val="F3F6FA"/>
          </a:solidFill>
          <a:ln/>
        </p:spPr>
      </p:sp>
      <p:sp>
        <p:nvSpPr>
          <p:cNvPr id="23" name="Text 21"/>
          <p:cNvSpPr/>
          <p:nvPr/>
        </p:nvSpPr>
        <p:spPr>
          <a:xfrm>
            <a:off x="6464808" y="400507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4" name="Text 22"/>
          <p:cNvSpPr/>
          <p:nvPr/>
        </p:nvSpPr>
        <p:spPr>
          <a:xfrm>
            <a:off x="7086600" y="4023360"/>
            <a:ext cx="4315968" cy="384048"/>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先端パッケージ共同開発</a:t>
            </a:r>
            <a:endParaRPr lang="en-US" sz="1500" dirty="0"/>
          </a:p>
        </p:txBody>
      </p:sp>
      <p:sp>
        <p:nvSpPr>
          <p:cNvPr id="25" name="Text 23"/>
          <p:cNvSpPr/>
          <p:nvPr/>
        </p:nvSpPr>
        <p:spPr>
          <a:xfrm>
            <a:off x="7086600" y="4462272"/>
            <a:ext cx="4279392" cy="1005840"/>
          </a:xfrm>
          <a:prstGeom prst="rect">
            <a:avLst/>
          </a:prstGeom>
          <a:noFill/>
          <a:ln/>
        </p:spPr>
        <p:txBody>
          <a:bodyPr wrap="square" lIns="0" tIns="0" rIns="0" bIns="0" rtlCol="0" anchor="t"/>
          <a:lstStyle/>
          <a:p>
            <a:pPr indent="0" marL="0">
              <a:buNone/>
            </a:pPr>
            <a:r>
              <a:rPr lang="en-US" sz="1100" dirty="0">
                <a:solidFill>
                  <a:srgbClr val="5B6B7F"/>
                </a:solidFill>
                <a:latin typeface="Meiryo" pitchFamily="34" charset="0"/>
                <a:ea typeface="Meiryo" pitchFamily="34" charset="-122"/>
                <a:cs typeface="Meiryo" pitchFamily="34" charset="-120"/>
              </a:rPr>
              <a:t>FC-BGA・チップレットはファブ×素材×装置の co-engineering 密度が競争力 — 対面近接が有利。</a:t>
            </a:r>
            <a:endParaRPr lang="en-US" sz="1100" dirty="0"/>
          </a:p>
        </p:txBody>
      </p:sp>
      <p:sp>
        <p:nvSpPr>
          <p:cNvPr id="26" name="Text 24"/>
          <p:cNvSpPr/>
          <p:nvPr/>
        </p:nvSpPr>
        <p:spPr>
          <a:xfrm>
            <a:off x="548640" y="5806440"/>
            <a:ext cx="11094415" cy="365760"/>
          </a:xfrm>
          <a:prstGeom prst="rect">
            <a:avLst/>
          </a:prstGeom>
          <a:noFill/>
          <a:ln/>
        </p:spPr>
        <p:txBody>
          <a:bodyPr wrap="square" lIns="0" tIns="0" rIns="0" bIns="0" rtlCol="0" anchor="ctr"/>
          <a:lstStyle/>
          <a:p>
            <a:pPr indent="0" marL="0">
              <a:buNone/>
            </a:pPr>
            <a:r>
              <a:rPr lang="en-US" sz="1350" b="1" dirty="0">
                <a:solidFill>
                  <a:srgbClr val="1C2B4A"/>
                </a:solidFill>
                <a:latin typeface="Meiryo" pitchFamily="34" charset="0"/>
                <a:ea typeface="Meiryo" pitchFamily="34" charset="-122"/>
                <a:cs typeface="Meiryo" pitchFamily="34" charset="-120"/>
              </a:rPr>
              <a:t>→ 後工程エコシステムには、アンカーファブの周囲に集積する構造的誘因がある。</a:t>
            </a:r>
            <a:pPr indent="0" marL="0">
              <a:buNone/>
            </a:pPr>
            <a:r>
              <a:rPr lang="en-US" sz="1350" dirty="0">
                <a:solidFill>
                  <a:srgbClr val="5B6B7F"/>
                </a:solidFill>
                <a:latin typeface="Meiryo" pitchFamily="34" charset="0"/>
                <a:ea typeface="Meiryo" pitchFamily="34" charset="-122"/>
                <a:cs typeface="Meiryo" pitchFamily="34" charset="-120"/>
              </a:rPr>
              <a:t>　この理論を、熊本と東北で検証した。</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EVIDENCE 1 — KYUSHU</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実証① 熊本 — TSMC（JASM）が集積を実際に生んだ</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8</a:t>
            </a:r>
            <a:endParaRPr lang="en-US" sz="900" dirty="0"/>
          </a:p>
        </p:txBody>
      </p:sp>
      <p:sp>
        <p:nvSpPr>
          <p:cNvPr id="9" name="Text 7"/>
          <p:cNvSpPr/>
          <p:nvPr/>
        </p:nvSpPr>
        <p:spPr>
          <a:xfrm>
            <a:off x="548640" y="1188720"/>
            <a:ext cx="6949440" cy="347472"/>
          </a:xfrm>
          <a:prstGeom prst="rect">
            <a:avLst/>
          </a:prstGeom>
          <a:noFill/>
          <a:ln/>
        </p:spPr>
        <p:txBody>
          <a:bodyPr wrap="square" lIns="0" tIns="0" rIns="0" bIns="0" rtlCol="0" anchor="ctr"/>
          <a:lstStyle/>
          <a:p>
            <a:pPr indent="0" marL="0">
              <a:buNone/>
            </a:pPr>
            <a:r>
              <a:rPr lang="en-US" sz="1250" b="1" dirty="0">
                <a:solidFill>
                  <a:srgbClr val="A55D2B"/>
                </a:solidFill>
                <a:latin typeface="Meiryo" pitchFamily="34" charset="0"/>
                <a:ea typeface="Meiryo" pitchFamily="34" charset="-122"/>
                <a:cs typeface="Meiryo" pitchFamily="34" charset="-120"/>
              </a:rPr>
              <a:t>時系列が証拠：</a:t>
            </a:r>
            <a:pPr indent="0" marL="0">
              <a:buNone/>
            </a:pPr>
            <a:r>
              <a:rPr lang="en-US" sz="1250" dirty="0">
                <a:solidFill>
                  <a:srgbClr val="5B6B7F"/>
                </a:solidFill>
                <a:latin typeface="Meiryo" pitchFamily="34" charset="0"/>
                <a:ea typeface="Meiryo" pitchFamily="34" charset="-122"/>
                <a:cs typeface="Meiryo" pitchFamily="34" charset="-120"/>
              </a:rPr>
              <a:t> TSMC 2021年進出発表 → 2024年稼働。その「後」に受賞・増設が続く。</a:t>
            </a:r>
            <a:endParaRPr lang="en-US" sz="1250" dirty="0"/>
          </a:p>
        </p:txBody>
      </p:sp>
      <p:sp>
        <p:nvSpPr>
          <p:cNvPr id="10" name="Shape 8"/>
          <p:cNvSpPr/>
          <p:nvPr/>
        </p:nvSpPr>
        <p:spPr>
          <a:xfrm>
            <a:off x="594360" y="1709928"/>
            <a:ext cx="128016" cy="128016"/>
          </a:xfrm>
          <a:prstGeom prst="ellipse">
            <a:avLst/>
          </a:prstGeom>
          <a:solidFill>
            <a:srgbClr val="C0713A"/>
          </a:solidFill>
          <a:ln/>
        </p:spPr>
      </p:sp>
      <p:sp>
        <p:nvSpPr>
          <p:cNvPr id="11" name="Text 9"/>
          <p:cNvSpPr/>
          <p:nvPr/>
        </p:nvSpPr>
        <p:spPr>
          <a:xfrm>
            <a:off x="859536" y="1627632"/>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eiryo" pitchFamily="34" charset="0"/>
                <a:ea typeface="Meiryo" pitchFamily="34" charset="-122"/>
                <a:cs typeface="Meiryo" pitchFamily="34" charset="-120"/>
              </a:rPr>
              <a:t>オルガノ　</a:t>
            </a:r>
            <a:pPr indent="0" marL="0">
              <a:buNone/>
            </a:pPr>
            <a:r>
              <a:rPr lang="en-US" sz="1100" dirty="0">
                <a:solidFill>
                  <a:srgbClr val="5B6B7F"/>
                </a:solidFill>
                <a:latin typeface="Meiryo" pitchFamily="34" charset="0"/>
                <a:ea typeface="Meiryo" pitchFamily="34" charset="-122"/>
                <a:cs typeface="Meiryo" pitchFamily="34" charset="-120"/>
              </a:rPr>
              <a:t>TSMC熊本へ超純水を直接納入 — 2024 Excellent Performance Award（新ファブ建設）受賞</a:t>
            </a:r>
            <a:endParaRPr lang="en-US" sz="1250" dirty="0"/>
          </a:p>
        </p:txBody>
      </p:sp>
      <p:sp>
        <p:nvSpPr>
          <p:cNvPr id="12" name="Shape 10"/>
          <p:cNvSpPr/>
          <p:nvPr/>
        </p:nvSpPr>
        <p:spPr>
          <a:xfrm>
            <a:off x="594360" y="2615184"/>
            <a:ext cx="128016" cy="128016"/>
          </a:xfrm>
          <a:prstGeom prst="ellipse">
            <a:avLst/>
          </a:prstGeom>
          <a:solidFill>
            <a:srgbClr val="C0713A"/>
          </a:solidFill>
          <a:ln/>
        </p:spPr>
      </p:sp>
      <p:sp>
        <p:nvSpPr>
          <p:cNvPr id="13" name="Text 11"/>
          <p:cNvSpPr/>
          <p:nvPr/>
        </p:nvSpPr>
        <p:spPr>
          <a:xfrm>
            <a:off x="859536" y="2532888"/>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eiryo" pitchFamily="34" charset="0"/>
                <a:ea typeface="Meiryo" pitchFamily="34" charset="-122"/>
                <a:cs typeface="Meiryo" pitchFamily="34" charset="-120"/>
              </a:rPr>
              <a:t>ディスコ ／ 芝浦メカトロニクス　</a:t>
            </a:r>
            <a:pPr indent="0" marL="0">
              <a:buNone/>
            </a:pPr>
            <a:r>
              <a:rPr lang="en-US" sz="1100" dirty="0">
                <a:solidFill>
                  <a:srgbClr val="5B6B7F"/>
                </a:solidFill>
                <a:latin typeface="Meiryo" pitchFamily="34" charset="0"/>
                <a:ea typeface="Meiryo" pitchFamily="34" charset="-122"/>
                <a:cs typeface="Meiryo" pitchFamily="34" charset="-120"/>
              </a:rPr>
              <a:t>TSMC「先端パッケージング」部門の優秀サプライヤー受賞 — 後工程ニッチがアンカーに直結</a:t>
            </a:r>
            <a:endParaRPr lang="en-US" sz="1250" dirty="0"/>
          </a:p>
        </p:txBody>
      </p:sp>
      <p:sp>
        <p:nvSpPr>
          <p:cNvPr id="14" name="Shape 12"/>
          <p:cNvSpPr/>
          <p:nvPr/>
        </p:nvSpPr>
        <p:spPr>
          <a:xfrm>
            <a:off x="594360" y="3520440"/>
            <a:ext cx="128016" cy="128016"/>
          </a:xfrm>
          <a:prstGeom prst="ellipse">
            <a:avLst/>
          </a:prstGeom>
          <a:solidFill>
            <a:srgbClr val="C0713A"/>
          </a:solidFill>
          <a:ln/>
        </p:spPr>
      </p:sp>
      <p:sp>
        <p:nvSpPr>
          <p:cNvPr id="15" name="Text 13"/>
          <p:cNvSpPr/>
          <p:nvPr/>
        </p:nvSpPr>
        <p:spPr>
          <a:xfrm>
            <a:off x="859536" y="3438144"/>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eiryo" pitchFamily="34" charset="0"/>
                <a:ea typeface="Meiryo" pitchFamily="34" charset="-122"/>
                <a:cs typeface="Meiryo" pitchFamily="34" charset="-120"/>
              </a:rPr>
              <a:t>東京応化工業　</a:t>
            </a:r>
            <a:pPr indent="0" marL="0">
              <a:buNone/>
            </a:pPr>
            <a:r>
              <a:rPr lang="en-US" sz="1100" dirty="0">
                <a:solidFill>
                  <a:srgbClr val="5B6B7F"/>
                </a:solidFill>
                <a:latin typeface="Meiryo" pitchFamily="34" charset="0"/>
                <a:ea typeface="Meiryo" pitchFamily="34" charset="-122"/>
                <a:cs typeface="Meiryo" pitchFamily="34" charset="-120"/>
              </a:rPr>
              <a:t>進出発表の後、熊本菊池に新工場130億円（2025稼働）— 発表→増設の時系列が明確</a:t>
            </a:r>
            <a:endParaRPr lang="en-US" sz="1250" dirty="0"/>
          </a:p>
        </p:txBody>
      </p:sp>
      <p:sp>
        <p:nvSpPr>
          <p:cNvPr id="16" name="Shape 14"/>
          <p:cNvSpPr/>
          <p:nvPr/>
        </p:nvSpPr>
        <p:spPr>
          <a:xfrm>
            <a:off x="594360" y="4425696"/>
            <a:ext cx="128016" cy="128016"/>
          </a:xfrm>
          <a:prstGeom prst="ellipse">
            <a:avLst/>
          </a:prstGeom>
          <a:solidFill>
            <a:srgbClr val="C0713A"/>
          </a:solidFill>
          <a:ln/>
        </p:spPr>
      </p:sp>
      <p:sp>
        <p:nvSpPr>
          <p:cNvPr id="17" name="Text 15"/>
          <p:cNvSpPr/>
          <p:nvPr/>
        </p:nvSpPr>
        <p:spPr>
          <a:xfrm>
            <a:off x="859536" y="4343400"/>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eiryo" pitchFamily="34" charset="0"/>
                <a:ea typeface="Meiryo" pitchFamily="34" charset="-122"/>
                <a:cs typeface="Meiryo" pitchFamily="34" charset="-120"/>
              </a:rPr>
              <a:t>平田機工　</a:t>
            </a:r>
            <a:pPr indent="0" marL="0">
              <a:buNone/>
            </a:pPr>
            <a:r>
              <a:rPr lang="en-US" sz="1100" dirty="0">
                <a:solidFill>
                  <a:srgbClr val="5B6B7F"/>
                </a:solidFill>
                <a:latin typeface="Meiryo" pitchFamily="34" charset="0"/>
                <a:ea typeface="Meiryo" pitchFamily="34" charset="-122"/>
                <a:cs typeface="Meiryo" pitchFamily="34" charset="-120"/>
              </a:rPr>
              <a:t>本社は熊本市（創業地）。菊池新工場を取得し半導体5割増産 — 地場企業の内生成長</a:t>
            </a:r>
            <a:endParaRPr lang="en-US" sz="1250" dirty="0"/>
          </a:p>
        </p:txBody>
      </p:sp>
      <p:sp>
        <p:nvSpPr>
          <p:cNvPr id="18" name="Shape 16"/>
          <p:cNvSpPr/>
          <p:nvPr/>
        </p:nvSpPr>
        <p:spPr>
          <a:xfrm>
            <a:off x="594360" y="5330952"/>
            <a:ext cx="128016" cy="128016"/>
          </a:xfrm>
          <a:prstGeom prst="ellipse">
            <a:avLst/>
          </a:prstGeom>
          <a:solidFill>
            <a:srgbClr val="C0713A"/>
          </a:solidFill>
          <a:ln/>
        </p:spPr>
      </p:sp>
      <p:sp>
        <p:nvSpPr>
          <p:cNvPr id="19" name="Text 17"/>
          <p:cNvSpPr/>
          <p:nvPr/>
        </p:nvSpPr>
        <p:spPr>
          <a:xfrm>
            <a:off x="859536" y="5248656"/>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eiryo" pitchFamily="34" charset="0"/>
                <a:ea typeface="Meiryo" pitchFamily="34" charset="-122"/>
                <a:cs typeface="Meiryo" pitchFamily="34" charset="-120"/>
              </a:rPr>
              <a:t>ジャパンマテリアル　</a:t>
            </a:r>
            <a:pPr indent="0" marL="0">
              <a:buNone/>
            </a:pPr>
            <a:r>
              <a:rPr lang="en-US" sz="1100" dirty="0">
                <a:solidFill>
                  <a:srgbClr val="5B6B7F"/>
                </a:solidFill>
                <a:latin typeface="Meiryo" pitchFamily="34" charset="0"/>
                <a:ea typeface="Meiryo" pitchFamily="34" charset="-122"/>
                <a:cs typeface="Meiryo" pitchFamily="34" charset="-120"/>
              </a:rPr>
              <a:t>大津町の新拠点（2022〜）からJASM/TSMCへ特殊ガスをオンサイト供給</a:t>
            </a:r>
            <a:endParaRPr lang="en-US" sz="1250" dirty="0"/>
          </a:p>
        </p:txBody>
      </p:sp>
      <p:sp>
        <p:nvSpPr>
          <p:cNvPr id="20" name="Shape 18"/>
          <p:cNvSpPr/>
          <p:nvPr/>
        </p:nvSpPr>
        <p:spPr>
          <a:xfrm>
            <a:off x="8001000" y="1234440"/>
            <a:ext cx="3639312" cy="4937760"/>
          </a:xfrm>
          <a:prstGeom prst="roundRect">
            <a:avLst>
              <a:gd name="adj" fmla="val 1759"/>
            </a:avLst>
          </a:prstGeom>
          <a:solidFill>
            <a:srgbClr val="1C2B4A"/>
          </a:solidFill>
          <a:ln/>
        </p:spPr>
      </p:sp>
      <p:sp>
        <p:nvSpPr>
          <p:cNvPr id="21" name="Text 19"/>
          <p:cNvSpPr/>
          <p:nvPr/>
        </p:nvSpPr>
        <p:spPr>
          <a:xfrm>
            <a:off x="8275320" y="1463040"/>
            <a:ext cx="3090672" cy="5943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アンカーは多層 — TSMCだけではない</a:t>
            </a:r>
            <a:endParaRPr lang="en-US" sz="1450" dirty="0"/>
          </a:p>
        </p:txBody>
      </p:sp>
      <p:sp>
        <p:nvSpPr>
          <p:cNvPr id="22" name="Text 20"/>
          <p:cNvSpPr/>
          <p:nvPr/>
        </p:nvSpPr>
        <p:spPr>
          <a:xfrm>
            <a:off x="8275320" y="2194560"/>
            <a:ext cx="3090672" cy="822960"/>
          </a:xfrm>
          <a:prstGeom prst="rect">
            <a:avLst/>
          </a:prstGeom>
          <a:noFill/>
          <a:ln/>
        </p:spPr>
        <p:txBody>
          <a:bodyPr wrap="square" lIns="0" tIns="0" rIns="0" bIns="0" rtlCol="0" anchor="t"/>
          <a:lstStyle/>
          <a:p>
            <a:pPr indent="0" marL="0">
              <a:buNone/>
            </a:pPr>
            <a:r>
              <a:rPr lang="en-US" sz="1250" b="1" dirty="0">
                <a:solidFill>
                  <a:srgbClr val="C0713A"/>
                </a:solidFill>
                <a:latin typeface="Meiryo" pitchFamily="34" charset="0"/>
                <a:ea typeface="Meiryo" pitchFamily="34" charset="-122"/>
                <a:cs typeface="Meiryo" pitchFamily="34" charset="-120"/>
              </a:rPr>
              <a:t>三菱電機</a:t>
            </a:r>
            <a:endParaRPr lang="en-US" sz="1250" dirty="0"/>
          </a:p>
          <a:p>
            <a:pPr indent="0" marL="0">
              <a:buNone/>
            </a:pPr>
            <a:r>
              <a:rPr lang="en-US" sz="1050" dirty="0">
                <a:solidFill>
                  <a:srgbClr val="DCE6F2"/>
                </a:solidFill>
                <a:latin typeface="Meiryo" pitchFamily="34" charset="0"/>
                <a:ea typeface="Meiryo" pitchFamily="34" charset="-122"/>
                <a:cs typeface="Meiryo" pitchFamily="34" charset="-120"/>
              </a:rPr>
              <a:t>SiCパワー半導体 約1,000億円（菊池、2025.11完成）</a:t>
            </a:r>
            <a:endParaRPr lang="en-US" sz="1250" dirty="0"/>
          </a:p>
        </p:txBody>
      </p:sp>
      <p:sp>
        <p:nvSpPr>
          <p:cNvPr id="23" name="Text 21"/>
          <p:cNvSpPr/>
          <p:nvPr/>
        </p:nvSpPr>
        <p:spPr>
          <a:xfrm>
            <a:off x="8275320" y="3063240"/>
            <a:ext cx="3090672" cy="822960"/>
          </a:xfrm>
          <a:prstGeom prst="rect">
            <a:avLst/>
          </a:prstGeom>
          <a:noFill/>
          <a:ln/>
        </p:spPr>
        <p:txBody>
          <a:bodyPr wrap="square" lIns="0" tIns="0" rIns="0" bIns="0" rtlCol="0" anchor="t"/>
          <a:lstStyle/>
          <a:p>
            <a:pPr indent="0" marL="0">
              <a:buNone/>
            </a:pPr>
            <a:r>
              <a:rPr lang="en-US" sz="1250" b="1" dirty="0">
                <a:solidFill>
                  <a:srgbClr val="C0713A"/>
                </a:solidFill>
                <a:latin typeface="Meiryo" pitchFamily="34" charset="0"/>
                <a:ea typeface="Meiryo" pitchFamily="34" charset="-122"/>
                <a:cs typeface="Meiryo" pitchFamily="34" charset="-120"/>
              </a:rPr>
              <a:t>ソニー</a:t>
            </a:r>
            <a:endParaRPr lang="en-US" sz="1250" dirty="0"/>
          </a:p>
          <a:p>
            <a:pPr indent="0" marL="0">
              <a:buNone/>
            </a:pPr>
            <a:r>
              <a:rPr lang="en-US" sz="1050" dirty="0">
                <a:solidFill>
                  <a:srgbClr val="DCE6F2"/>
                </a:solidFill>
                <a:latin typeface="Meiryo" pitchFamily="34" charset="0"/>
                <a:ea typeface="Meiryo" pitchFamily="34" charset="-122"/>
                <a:cs typeface="Meiryo" pitchFamily="34" charset="-120"/>
              </a:rPr>
              <a:t>イメージセンサー新工場を合志に建設中</a:t>
            </a:r>
            <a:endParaRPr lang="en-US" sz="1250" dirty="0"/>
          </a:p>
        </p:txBody>
      </p:sp>
      <p:sp>
        <p:nvSpPr>
          <p:cNvPr id="24" name="Text 22"/>
          <p:cNvSpPr/>
          <p:nvPr/>
        </p:nvSpPr>
        <p:spPr>
          <a:xfrm>
            <a:off x="8275320" y="3931920"/>
            <a:ext cx="3090672" cy="822960"/>
          </a:xfrm>
          <a:prstGeom prst="rect">
            <a:avLst/>
          </a:prstGeom>
          <a:noFill/>
          <a:ln/>
        </p:spPr>
        <p:txBody>
          <a:bodyPr wrap="square" lIns="0" tIns="0" rIns="0" bIns="0" rtlCol="0" anchor="t"/>
          <a:lstStyle/>
          <a:p>
            <a:pPr indent="0" marL="0">
              <a:buNone/>
            </a:pPr>
            <a:r>
              <a:rPr lang="en-US" sz="1250" b="1" dirty="0">
                <a:solidFill>
                  <a:srgbClr val="C0713A"/>
                </a:solidFill>
                <a:latin typeface="Meiryo" pitchFamily="34" charset="0"/>
                <a:ea typeface="Meiryo" pitchFamily="34" charset="-122"/>
                <a:cs typeface="Meiryo" pitchFamily="34" charset="-120"/>
              </a:rPr>
              <a:t>TEL九州</a:t>
            </a:r>
            <a:endParaRPr lang="en-US" sz="1250" dirty="0"/>
          </a:p>
          <a:p>
            <a:pPr indent="0" marL="0">
              <a:buNone/>
            </a:pPr>
            <a:r>
              <a:rPr lang="en-US" sz="1050" dirty="0">
                <a:solidFill>
                  <a:srgbClr val="DCE6F2"/>
                </a:solidFill>
                <a:latin typeface="Meiryo" pitchFamily="34" charset="0"/>
                <a:ea typeface="Meiryo" pitchFamily="34" charset="-122"/>
                <a:cs typeface="Meiryo" pitchFamily="34" charset="-120"/>
              </a:rPr>
              <a:t>新開発棟 約470億円（合志、2025.10竣工）</a:t>
            </a:r>
            <a:endParaRPr lang="en-US" sz="1250" dirty="0"/>
          </a:p>
        </p:txBody>
      </p:sp>
      <p:sp>
        <p:nvSpPr>
          <p:cNvPr id="25" name="Shape 23"/>
          <p:cNvSpPr/>
          <p:nvPr/>
        </p:nvSpPr>
        <p:spPr>
          <a:xfrm>
            <a:off x="8275320" y="4846320"/>
            <a:ext cx="3090672" cy="0"/>
          </a:xfrm>
          <a:prstGeom prst="line">
            <a:avLst/>
          </a:prstGeom>
          <a:noFill/>
          <a:ln w="12700">
            <a:solidFill>
              <a:srgbClr val="3A4F7E"/>
            </a:solidFill>
            <a:prstDash val="solid"/>
          </a:ln>
        </p:spPr>
      </p:sp>
      <p:sp>
        <p:nvSpPr>
          <p:cNvPr id="26" name="Text 24"/>
          <p:cNvSpPr/>
          <p:nvPr/>
        </p:nvSpPr>
        <p:spPr>
          <a:xfrm>
            <a:off x="8275320" y="4956048"/>
            <a:ext cx="3090672" cy="1097280"/>
          </a:xfrm>
          <a:prstGeom prst="rect">
            <a:avLst/>
          </a:prstGeom>
          <a:noFill/>
          <a:ln/>
        </p:spPr>
        <p:txBody>
          <a:bodyPr wrap="square" lIns="0" tIns="0" rIns="0" bIns="0" rtlCol="0" anchor="t"/>
          <a:lstStyle/>
          <a:p>
            <a:pPr indent="0" marL="0">
              <a:buNone/>
            </a:pPr>
            <a:r>
              <a:rPr lang="en-US" sz="1050" dirty="0">
                <a:solidFill>
                  <a:srgbClr val="AEBFDC"/>
                </a:solidFill>
                <a:latin typeface="Meiryo" pitchFamily="34" charset="0"/>
                <a:ea typeface="Meiryo" pitchFamily="34" charset="-122"/>
                <a:cs typeface="Meiryo" pitchFamily="34" charset="-120"/>
              </a:rPr>
              <a:t>ソニー・TELは TSMC「以前」から熊本に — 土壌があり、TSMCが加速し、アンカーが多層化する。「新生シリコンアイランド九州」</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EVIDENCE 2 — TOHOKU</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実証② 東北 — メモリ・バリューチェーンの地理的まとまり</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9</a:t>
            </a:r>
            <a:endParaRPr lang="en-US" sz="900" dirty="0"/>
          </a:p>
        </p:txBody>
      </p:sp>
      <p:sp>
        <p:nvSpPr>
          <p:cNvPr id="9" name="Shape 7"/>
          <p:cNvSpPr/>
          <p:nvPr/>
        </p:nvSpPr>
        <p:spPr>
          <a:xfrm>
            <a:off x="548640" y="1234440"/>
            <a:ext cx="11094415" cy="658368"/>
          </a:xfrm>
          <a:prstGeom prst="roundRect">
            <a:avLst>
              <a:gd name="adj" fmla="val 9722"/>
            </a:avLst>
          </a:prstGeom>
          <a:solidFill>
            <a:srgbClr val="1C2B4A"/>
          </a:solidFill>
          <a:ln/>
        </p:spPr>
      </p:sp>
      <p:sp>
        <p:nvSpPr>
          <p:cNvPr id="10" name="Text 8"/>
          <p:cNvSpPr/>
          <p:nvPr/>
        </p:nvSpPr>
        <p:spPr>
          <a:xfrm>
            <a:off x="822960" y="1234440"/>
            <a:ext cx="10545775" cy="65836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アンカー：キオクシア北上工場（岩手）</a:t>
            </a:r>
            <a:pPr indent="0" marL="0">
              <a:buNone/>
            </a:pPr>
            <a:r>
              <a:rPr lang="en-US" sz="1150" dirty="0">
                <a:solidFill>
                  <a:srgbClr val="DCE6F2"/>
                </a:solidFill>
                <a:latin typeface="Meiryo" pitchFamily="34" charset="0"/>
                <a:ea typeface="Meiryo" pitchFamily="34" charset="-122"/>
                <a:cs typeface="Meiryo" pitchFamily="34" charset="-120"/>
              </a:rPr>
              <a:t>　K1（2020〜）+ K2棟 2025年9月稼働 — AI向け最新NAND、フル稼働で能力約2倍</a:t>
            </a:r>
            <a:endParaRPr lang="en-US" sz="1300" dirty="0"/>
          </a:p>
        </p:txBody>
      </p:sp>
      <p:sp>
        <p:nvSpPr>
          <p:cNvPr id="11" name="Shape 9"/>
          <p:cNvSpPr/>
          <p:nvPr/>
        </p:nvSpPr>
        <p:spPr>
          <a:xfrm>
            <a:off x="548640" y="2148840"/>
            <a:ext cx="5413248" cy="2377440"/>
          </a:xfrm>
          <a:prstGeom prst="roundRect">
            <a:avLst>
              <a:gd name="adj" fmla="val 2692"/>
            </a:avLst>
          </a:prstGeom>
          <a:solidFill>
            <a:srgbClr val="F3F6FA"/>
          </a:solidFill>
          <a:ln/>
        </p:spPr>
      </p:sp>
      <p:sp>
        <p:nvSpPr>
          <p:cNvPr id="12" name="Text 10"/>
          <p:cNvSpPr/>
          <p:nvPr/>
        </p:nvSpPr>
        <p:spPr>
          <a:xfrm>
            <a:off x="822960" y="2350008"/>
            <a:ext cx="4864608" cy="365760"/>
          </a:xfrm>
          <a:prstGeom prst="rect">
            <a:avLst/>
          </a:prstGeom>
          <a:noFill/>
          <a:ln/>
        </p:spPr>
        <p:txBody>
          <a:bodyPr wrap="square" lIns="0" tIns="0" rIns="0" bIns="0" rtlCol="0" anchor="ctr"/>
          <a:lstStyle/>
          <a:p>
            <a:pPr indent="0" marL="0">
              <a:buNone/>
            </a:pPr>
            <a:r>
              <a:rPr lang="en-US" sz="1450" b="1" dirty="0">
                <a:solidFill>
                  <a:srgbClr val="1C2B4A"/>
                </a:solidFill>
                <a:latin typeface="Meiryo" pitchFamily="34" charset="0"/>
                <a:ea typeface="Meiryo" pitchFamily="34" charset="-122"/>
                <a:cs typeface="Meiryo" pitchFamily="34" charset="-120"/>
              </a:rPr>
              <a:t>日本マイクロニクス（6871）　</a:t>
            </a:r>
            <a:pPr indent="0" marL="0">
              <a:buNone/>
            </a:pPr>
            <a:r>
              <a:rPr lang="en-US" sz="1200" b="1" dirty="0">
                <a:solidFill>
                  <a:srgbClr val="4A6FA5"/>
                </a:solidFill>
                <a:latin typeface="Meiryo" pitchFamily="34" charset="0"/>
                <a:ea typeface="Meiryo" pitchFamily="34" charset="-122"/>
                <a:cs typeface="Meiryo" pitchFamily="34" charset="-120"/>
              </a:rPr>
              <a:t>青森・平川</a:t>
            </a:r>
            <a:endParaRPr lang="en-US" sz="1450" dirty="0"/>
          </a:p>
        </p:txBody>
      </p:sp>
      <p:sp>
        <p:nvSpPr>
          <p:cNvPr id="13" name="Text 11"/>
          <p:cNvSpPr/>
          <p:nvPr/>
        </p:nvSpPr>
        <p:spPr>
          <a:xfrm>
            <a:off x="822960" y="2807208"/>
            <a:ext cx="4864608" cy="150876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5B6B7F"/>
                </a:solidFill>
                <a:latin typeface="Meiryo" pitchFamily="34" charset="0"/>
                <a:ea typeface="Meiryo" pitchFamily="34" charset="-122"/>
                <a:cs typeface="Meiryo" pitchFamily="34" charset="-120"/>
              </a:rPr>
              <a:t>プローブカード世界上位（メモリ用トップ級）</a:t>
            </a:r>
            <a:endParaRPr lang="en-US" sz="1100" dirty="0"/>
          </a:p>
          <a:p>
            <a:pPr marL="127000" indent="-127000">
              <a:spcAft>
                <a:spcPts val="500"/>
              </a:spcAft>
              <a:buSzPct val="100000"/>
              <a:buChar char="•"/>
            </a:pPr>
            <a:r>
              <a:rPr lang="en-US" sz="1100" dirty="0">
                <a:solidFill>
                  <a:srgbClr val="5B6B7F"/>
                </a:solidFill>
                <a:latin typeface="Meiryo" pitchFamily="34" charset="0"/>
                <a:ea typeface="Meiryo" pitchFamily="34" charset="-122"/>
                <a:cs typeface="Meiryo" pitchFamily="34" charset="-120"/>
              </a:rPr>
              <a:t>最大生産拠点は青森平川 — 1981年から40年以上</a:t>
            </a:r>
            <a:endParaRPr lang="en-US" sz="1100" dirty="0"/>
          </a:p>
          <a:p>
            <a:pPr marL="127000" indent="-127000">
              <a:spcAft>
                <a:spcPts val="500"/>
              </a:spcAft>
              <a:buSzPct val="100000"/>
              <a:buChar char="•"/>
            </a:pPr>
            <a:r>
              <a:rPr lang="en-US" sz="1100" dirty="0">
                <a:solidFill>
                  <a:srgbClr val="5B6B7F"/>
                </a:solidFill>
                <a:latin typeface="Meiryo" pitchFamily="34" charset="0"/>
                <a:ea typeface="Meiryo" pitchFamily="34" charset="-122"/>
                <a:cs typeface="Meiryo" pitchFamily="34" charset="-120"/>
              </a:rPr>
              <a:t>新棟110億円（2024.12竣工）+ 追加241億円投資 — 動因はHBM/AIメモリのテスト需要（IR明記）</a:t>
            </a:r>
            <a:endParaRPr lang="en-US" sz="1100" dirty="0"/>
          </a:p>
        </p:txBody>
      </p:sp>
      <p:sp>
        <p:nvSpPr>
          <p:cNvPr id="14" name="Shape 12"/>
          <p:cNvSpPr/>
          <p:nvPr/>
        </p:nvSpPr>
        <p:spPr>
          <a:xfrm>
            <a:off x="6227064" y="2148840"/>
            <a:ext cx="5413248" cy="2377440"/>
          </a:xfrm>
          <a:prstGeom prst="roundRect">
            <a:avLst>
              <a:gd name="adj" fmla="val 2692"/>
            </a:avLst>
          </a:prstGeom>
          <a:solidFill>
            <a:srgbClr val="F3F6FA"/>
          </a:solidFill>
          <a:ln/>
        </p:spPr>
      </p:sp>
      <p:sp>
        <p:nvSpPr>
          <p:cNvPr id="15" name="Text 13"/>
          <p:cNvSpPr/>
          <p:nvPr/>
        </p:nvSpPr>
        <p:spPr>
          <a:xfrm>
            <a:off x="6501384" y="2350008"/>
            <a:ext cx="4864608" cy="365760"/>
          </a:xfrm>
          <a:prstGeom prst="rect">
            <a:avLst/>
          </a:prstGeom>
          <a:noFill/>
          <a:ln/>
        </p:spPr>
        <p:txBody>
          <a:bodyPr wrap="square" lIns="0" tIns="0" rIns="0" bIns="0" rtlCol="0" anchor="ctr"/>
          <a:lstStyle/>
          <a:p>
            <a:pPr indent="0" marL="0">
              <a:buNone/>
            </a:pPr>
            <a:r>
              <a:rPr lang="en-US" sz="1450" b="1" dirty="0">
                <a:solidFill>
                  <a:srgbClr val="1C2B4A"/>
                </a:solidFill>
                <a:latin typeface="Meiryo" pitchFamily="34" charset="0"/>
                <a:ea typeface="Meiryo" pitchFamily="34" charset="-122"/>
                <a:cs typeface="Meiryo" pitchFamily="34" charset="-120"/>
              </a:rPr>
              <a:t>日東紡（3110）　</a:t>
            </a:r>
            <a:pPr indent="0" marL="0">
              <a:buNone/>
            </a:pPr>
            <a:r>
              <a:rPr lang="en-US" sz="1200" b="1" dirty="0">
                <a:solidFill>
                  <a:srgbClr val="4A6FA5"/>
                </a:solidFill>
                <a:latin typeface="Meiryo" pitchFamily="34" charset="0"/>
                <a:ea typeface="Meiryo" pitchFamily="34" charset="-122"/>
                <a:cs typeface="Meiryo" pitchFamily="34" charset="-120"/>
              </a:rPr>
              <a:t>福島</a:t>
            </a:r>
            <a:endParaRPr lang="en-US" sz="1450" dirty="0"/>
          </a:p>
        </p:txBody>
      </p:sp>
      <p:sp>
        <p:nvSpPr>
          <p:cNvPr id="16" name="Text 14"/>
          <p:cNvSpPr/>
          <p:nvPr/>
        </p:nvSpPr>
        <p:spPr>
          <a:xfrm>
            <a:off x="6501384" y="2807208"/>
            <a:ext cx="4864608" cy="150876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5B6B7F"/>
                </a:solidFill>
                <a:latin typeface="Meiryo" pitchFamily="34" charset="0"/>
                <a:ea typeface="Meiryo" pitchFamily="34" charset="-122"/>
                <a:cs typeface="Meiryo" pitchFamily="34" charset="-120"/>
              </a:rPr>
              <a:t>先端パッケージ基板に不可欠なTガラスクロスで世界トップ — 福島で単独生産</a:t>
            </a:r>
            <a:endParaRPr lang="en-US" sz="1100" dirty="0"/>
          </a:p>
          <a:p>
            <a:pPr marL="127000" indent="-127000">
              <a:spcAft>
                <a:spcPts val="500"/>
              </a:spcAft>
              <a:buSzPct val="100000"/>
              <a:buChar char="•"/>
            </a:pPr>
            <a:r>
              <a:rPr lang="en-US" sz="1100" dirty="0">
                <a:solidFill>
                  <a:srgbClr val="5B6B7F"/>
                </a:solidFill>
                <a:latin typeface="Meiryo" pitchFamily="34" charset="0"/>
                <a:ea typeface="Meiryo" pitchFamily="34" charset="-122"/>
                <a:cs typeface="Meiryo" pitchFamily="34" charset="-120"/>
              </a:rPr>
              <a:t>150億円新工場棟（2027稼働）・経産省供給確保計画認定</a:t>
            </a:r>
            <a:endParaRPr lang="en-US" sz="1100" dirty="0"/>
          </a:p>
          <a:p>
            <a:pPr marL="127000" indent="-127000">
              <a:spcAft>
                <a:spcPts val="500"/>
              </a:spcAft>
              <a:buSzPct val="100000"/>
              <a:buChar char="•"/>
            </a:pPr>
            <a:r>
              <a:rPr lang="en-US" sz="1100" dirty="0">
                <a:solidFill>
                  <a:srgbClr val="5B6B7F"/>
                </a:solidFill>
                <a:latin typeface="Meiryo" pitchFamily="34" charset="0"/>
                <a:ea typeface="Meiryo" pitchFamily="34" charset="-122"/>
                <a:cs typeface="Meiryo" pitchFamily="34" charset="-120"/>
              </a:rPr>
              <a:t>本社も福島市 — 「地方ニッチトップ」の典型</a:t>
            </a:r>
            <a:endParaRPr lang="en-US" sz="1100" dirty="0"/>
          </a:p>
        </p:txBody>
      </p:sp>
      <p:sp>
        <p:nvSpPr>
          <p:cNvPr id="17" name="Shape 15"/>
          <p:cNvSpPr/>
          <p:nvPr/>
        </p:nvSpPr>
        <p:spPr>
          <a:xfrm>
            <a:off x="548640" y="4800600"/>
            <a:ext cx="11094415" cy="1234440"/>
          </a:xfrm>
          <a:prstGeom prst="roundRect">
            <a:avLst>
              <a:gd name="adj" fmla="val 5185"/>
            </a:avLst>
          </a:prstGeom>
          <a:solidFill>
            <a:srgbClr val="F3F6FA"/>
          </a:solidFill>
          <a:ln/>
        </p:spPr>
      </p:sp>
      <p:sp>
        <p:nvSpPr>
          <p:cNvPr id="18" name="Text 16"/>
          <p:cNvSpPr/>
          <p:nvPr/>
        </p:nvSpPr>
        <p:spPr>
          <a:xfrm>
            <a:off x="822960" y="4956048"/>
            <a:ext cx="10545775" cy="960120"/>
          </a:xfrm>
          <a:prstGeom prst="rect">
            <a:avLst/>
          </a:prstGeom>
          <a:noFill/>
          <a:ln/>
        </p:spPr>
        <p:txBody>
          <a:bodyPr wrap="square" lIns="0" tIns="0" rIns="0" bIns="0" rtlCol="0" anchor="t"/>
          <a:lstStyle/>
          <a:p>
            <a:pPr indent="0" marL="0">
              <a:spcAft>
                <a:spcPts val="400"/>
              </a:spcAft>
              <a:buNone/>
            </a:pPr>
            <a:r>
              <a:rPr lang="en-US" sz="1250" b="1" dirty="0">
                <a:solidFill>
                  <a:srgbClr val="A55D2B"/>
                </a:solidFill>
                <a:latin typeface="Meiryo" pitchFamily="34" charset="0"/>
                <a:ea typeface="Meiryo" pitchFamily="34" charset="-122"/>
                <a:cs typeface="Meiryo" pitchFamily="34" charset="-120"/>
              </a:rPr>
              <a:t>正直な整理 — 誇張しないことが、この軸の説得力。</a:t>
            </a:r>
            <a:endParaRPr lang="en-US" sz="1250" dirty="0"/>
          </a:p>
          <a:p>
            <a:pPr indent="0" marL="0">
              <a:buNone/>
            </a:pPr>
            <a:r>
              <a:rPr lang="en-US" sz="1100" dirty="0">
                <a:solidFill>
                  <a:srgbClr val="5B6B7F"/>
                </a:solidFill>
                <a:latin typeface="Meiryo" pitchFamily="34" charset="0"/>
                <a:ea typeface="Meiryo" pitchFamily="34" charset="-122"/>
                <a:cs typeface="Meiryo" pitchFamily="34" charset="-120"/>
              </a:rPr>
              <a:t>東北2社の増設の一次的動因はグローバルAI/HBM需要であり、熊本型「誘致→進出」の因果とは異なる。メモリファブ（北上）・テスト消耗品（青森）・基板素材（福島）が同じ圏域で世界需要を受け止める「バリューチェーンの地理的まとまり」として記述する。</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METHODOLOGY</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選定方法論 — 3段階ゲート</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10</a:t>
            </a:r>
            <a:endParaRPr lang="en-US" sz="900" dirty="0"/>
          </a:p>
        </p:txBody>
      </p:sp>
      <p:sp>
        <p:nvSpPr>
          <p:cNvPr id="9" name="Shape 7"/>
          <p:cNvSpPr/>
          <p:nvPr/>
        </p:nvSpPr>
        <p:spPr>
          <a:xfrm>
            <a:off x="548640" y="1371600"/>
            <a:ext cx="8732520" cy="1444752"/>
          </a:xfrm>
          <a:prstGeom prst="roundRect">
            <a:avLst>
              <a:gd name="adj" fmla="val 4430"/>
            </a:avLst>
          </a:prstGeom>
          <a:solidFill>
            <a:srgbClr val="F3F6FA"/>
          </a:solidFill>
          <a:ln/>
        </p:spPr>
      </p:sp>
      <p:sp>
        <p:nvSpPr>
          <p:cNvPr id="10" name="Text 8"/>
          <p:cNvSpPr/>
          <p:nvPr/>
        </p:nvSpPr>
        <p:spPr>
          <a:xfrm>
            <a:off x="804672" y="1627632"/>
            <a:ext cx="512064" cy="512064"/>
          </a:xfrm>
          <a:prstGeom prst="ellipse">
            <a:avLst/>
          </a:prstGeom>
          <a:solidFill>
            <a:srgbClr val="1C2B4A"/>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11" name="Text 9"/>
          <p:cNvSpPr/>
          <p:nvPr/>
        </p:nvSpPr>
        <p:spPr>
          <a:xfrm>
            <a:off x="1508760" y="1517904"/>
            <a:ext cx="7498080" cy="365760"/>
          </a:xfrm>
          <a:prstGeom prst="rect">
            <a:avLst/>
          </a:prstGeom>
          <a:noFill/>
          <a:ln/>
        </p:spPr>
        <p:txBody>
          <a:bodyPr wrap="square" lIns="0" tIns="0" rIns="0" bIns="0" rtlCol="0" anchor="ctr"/>
          <a:lstStyle/>
          <a:p>
            <a:pPr indent="0" marL="0">
              <a:buNone/>
            </a:pPr>
            <a:r>
              <a:rPr lang="en-US" sz="1550" b="1" dirty="0">
                <a:solidFill>
                  <a:srgbClr val="1C2B4A"/>
                </a:solidFill>
                <a:latin typeface="Meiryo" pitchFamily="34" charset="0"/>
                <a:ea typeface="Meiryo" pitchFamily="34" charset="-122"/>
                <a:cs typeface="Meiryo" pitchFamily="34" charset="-120"/>
              </a:rPr>
              <a:t>レッドラインゲート　</a:t>
            </a:r>
            <a:pPr indent="0" marL="0">
              <a:buNone/>
            </a:pPr>
            <a:r>
              <a:rPr lang="en-US" sz="1300" b="1" dirty="0">
                <a:solidFill>
                  <a:srgbClr val="A55D2B"/>
                </a:solidFill>
                <a:latin typeface="Meiryo" pitchFamily="34" charset="0"/>
                <a:ea typeface="Meiryo" pitchFamily="34" charset="-122"/>
                <a:cs typeface="Meiryo" pitchFamily="34" charset="-120"/>
              </a:rPr>
              <a:t>106社 → 48社</a:t>
            </a:r>
            <a:endParaRPr lang="en-US" sz="1550" dirty="0"/>
          </a:p>
        </p:txBody>
      </p:sp>
      <p:sp>
        <p:nvSpPr>
          <p:cNvPr id="12" name="Text 10"/>
          <p:cNvSpPr/>
          <p:nvPr/>
        </p:nvSpPr>
        <p:spPr>
          <a:xfrm>
            <a:off x="1508760" y="1901952"/>
            <a:ext cx="7543800" cy="859536"/>
          </a:xfrm>
          <a:prstGeom prst="rect">
            <a:avLst/>
          </a:prstGeom>
          <a:noFill/>
          <a:ln/>
        </p:spPr>
        <p:txBody>
          <a:bodyPr wrap="square" lIns="0" tIns="0" rIns="0" bIns="0" rtlCol="0" anchor="t"/>
          <a:lstStyle/>
          <a:p>
            <a:pPr indent="0" marL="0">
              <a:buNone/>
            </a:pPr>
            <a:r>
              <a:rPr lang="en-US" sz="1050" dirty="0">
                <a:solidFill>
                  <a:srgbClr val="5B6B7F"/>
                </a:solidFill>
                <a:latin typeface="Meiryo" pitchFamily="34" charset="0"/>
                <a:ea typeface="Meiryo" pitchFamily="34" charset="-122"/>
                <a:cs typeface="Meiryo" pitchFamily="34" charset="-120"/>
              </a:rPr>
              <a:t>財務基準で機械的に絞る：自己資本比率 ≥ 40%・営業利益率 ≥ 8%・上場継続。スコープ規則 — 前工程「専用」プロセス装置はテーマ外（レーザーテック・荏原などを除外する規律）。</a:t>
            </a:r>
            <a:endParaRPr lang="en-US" sz="1050" dirty="0"/>
          </a:p>
        </p:txBody>
      </p:sp>
      <p:sp>
        <p:nvSpPr>
          <p:cNvPr id="13" name="Shape 11"/>
          <p:cNvSpPr/>
          <p:nvPr/>
        </p:nvSpPr>
        <p:spPr>
          <a:xfrm>
            <a:off x="4709160" y="2834640"/>
            <a:ext cx="274320" cy="182880"/>
          </a:xfrm>
          <a:prstGeom prst="downArrow">
            <a:avLst/>
          </a:prstGeom>
          <a:solidFill>
            <a:srgbClr val="DCE6F2"/>
          </a:solidFill>
          <a:ln/>
        </p:spPr>
      </p:sp>
      <p:sp>
        <p:nvSpPr>
          <p:cNvPr id="14" name="Shape 12"/>
          <p:cNvSpPr/>
          <p:nvPr/>
        </p:nvSpPr>
        <p:spPr>
          <a:xfrm>
            <a:off x="548640" y="3035808"/>
            <a:ext cx="8732520" cy="1444752"/>
          </a:xfrm>
          <a:prstGeom prst="roundRect">
            <a:avLst>
              <a:gd name="adj" fmla="val 4430"/>
            </a:avLst>
          </a:prstGeom>
          <a:solidFill>
            <a:srgbClr val="F3F6FA"/>
          </a:solidFill>
          <a:ln/>
        </p:spPr>
      </p:sp>
      <p:sp>
        <p:nvSpPr>
          <p:cNvPr id="15" name="Text 13"/>
          <p:cNvSpPr/>
          <p:nvPr/>
        </p:nvSpPr>
        <p:spPr>
          <a:xfrm>
            <a:off x="804672" y="3291840"/>
            <a:ext cx="512064" cy="512064"/>
          </a:xfrm>
          <a:prstGeom prst="ellipse">
            <a:avLst/>
          </a:prstGeom>
          <a:solidFill>
            <a:srgbClr val="C0713A"/>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16" name="Text 14"/>
          <p:cNvSpPr/>
          <p:nvPr/>
        </p:nvSpPr>
        <p:spPr>
          <a:xfrm>
            <a:off x="1508760" y="3182112"/>
            <a:ext cx="7498080" cy="365760"/>
          </a:xfrm>
          <a:prstGeom prst="rect">
            <a:avLst/>
          </a:prstGeom>
          <a:noFill/>
          <a:ln/>
        </p:spPr>
        <p:txBody>
          <a:bodyPr wrap="square" lIns="0" tIns="0" rIns="0" bIns="0" rtlCol="0" anchor="ctr"/>
          <a:lstStyle/>
          <a:p>
            <a:pPr indent="0" marL="0">
              <a:buNone/>
            </a:pPr>
            <a:r>
              <a:rPr lang="en-US" sz="1550" b="1" dirty="0">
                <a:solidFill>
                  <a:srgbClr val="1C2B4A"/>
                </a:solidFill>
                <a:latin typeface="Meiryo" pitchFamily="34" charset="0"/>
                <a:ea typeface="Meiryo" pitchFamily="34" charset="-122"/>
                <a:cs typeface="Meiryo" pitchFamily="34" charset="-120"/>
              </a:rPr>
              <a:t>確定アンカーゲート　</a:t>
            </a:r>
            <a:pPr indent="0" marL="0">
              <a:buNone/>
            </a:pPr>
            <a:r>
              <a:rPr lang="en-US" sz="1300" b="1" dirty="0">
                <a:solidFill>
                  <a:srgbClr val="A55D2B"/>
                </a:solidFill>
                <a:latin typeface="Meiryo" pitchFamily="34" charset="0"/>
                <a:ea typeface="Meiryo" pitchFamily="34" charset="-122"/>
                <a:cs typeface="Meiryo" pitchFamily="34" charset="-120"/>
              </a:rPr>
              <a:t>48社 → 15社</a:t>
            </a:r>
            <a:endParaRPr lang="en-US" sz="1550" dirty="0"/>
          </a:p>
        </p:txBody>
      </p:sp>
      <p:sp>
        <p:nvSpPr>
          <p:cNvPr id="17" name="Text 15"/>
          <p:cNvSpPr/>
          <p:nvPr/>
        </p:nvSpPr>
        <p:spPr>
          <a:xfrm>
            <a:off x="1508760" y="3566160"/>
            <a:ext cx="7543800" cy="859536"/>
          </a:xfrm>
          <a:prstGeom prst="rect">
            <a:avLst/>
          </a:prstGeom>
          <a:noFill/>
          <a:ln/>
        </p:spPr>
        <p:txBody>
          <a:bodyPr wrap="square" lIns="0" tIns="0" rIns="0" bIns="0" rtlCol="0" anchor="t"/>
          <a:lstStyle/>
          <a:p>
            <a:pPr indent="0" marL="0">
              <a:buNone/>
            </a:pPr>
            <a:r>
              <a:rPr lang="en-US" sz="1050" dirty="0">
                <a:solidFill>
                  <a:srgbClr val="5B6B7F"/>
                </a:solidFill>
                <a:latin typeface="Meiryo" pitchFamily="34" charset="0"/>
                <a:ea typeface="Meiryo" pitchFamily="34" charset="-122"/>
                <a:cs typeface="Meiryo" pitchFamily="34" charset="-120"/>
              </a:rPr>
              <a:t>立地・供給リンクを一次情報で全数検証 — 有価証券報告書の事業所現況・IR・TSMC受賞・設備投資リリース。仮説タグの誤りを多数反証（タグ≠検証）。アンカー→企業方向の名簿照合と全国クラスター全数調査で、取りこぼしも点検。</a:t>
            </a:r>
            <a:endParaRPr lang="en-US" sz="1050" dirty="0"/>
          </a:p>
        </p:txBody>
      </p:sp>
      <p:sp>
        <p:nvSpPr>
          <p:cNvPr id="18" name="Shape 16"/>
          <p:cNvSpPr/>
          <p:nvPr/>
        </p:nvSpPr>
        <p:spPr>
          <a:xfrm>
            <a:off x="4709160" y="4498848"/>
            <a:ext cx="274320" cy="182880"/>
          </a:xfrm>
          <a:prstGeom prst="downArrow">
            <a:avLst/>
          </a:prstGeom>
          <a:solidFill>
            <a:srgbClr val="DCE6F2"/>
          </a:solidFill>
          <a:ln/>
        </p:spPr>
      </p:sp>
      <p:sp>
        <p:nvSpPr>
          <p:cNvPr id="19" name="Shape 17"/>
          <p:cNvSpPr/>
          <p:nvPr/>
        </p:nvSpPr>
        <p:spPr>
          <a:xfrm>
            <a:off x="548640" y="4700016"/>
            <a:ext cx="8732520" cy="1444752"/>
          </a:xfrm>
          <a:prstGeom prst="roundRect">
            <a:avLst>
              <a:gd name="adj" fmla="val 4430"/>
            </a:avLst>
          </a:prstGeom>
          <a:solidFill>
            <a:srgbClr val="F3F6FA"/>
          </a:solidFill>
          <a:ln/>
        </p:spPr>
      </p:sp>
      <p:sp>
        <p:nvSpPr>
          <p:cNvPr id="20" name="Text 18"/>
          <p:cNvSpPr/>
          <p:nvPr/>
        </p:nvSpPr>
        <p:spPr>
          <a:xfrm>
            <a:off x="804672" y="4956048"/>
            <a:ext cx="512064" cy="512064"/>
          </a:xfrm>
          <a:prstGeom prst="ellipse">
            <a:avLst/>
          </a:prstGeom>
          <a:solidFill>
            <a:srgbClr val="1C2B4A"/>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21" name="Text 19"/>
          <p:cNvSpPr/>
          <p:nvPr/>
        </p:nvSpPr>
        <p:spPr>
          <a:xfrm>
            <a:off x="1508760" y="4846320"/>
            <a:ext cx="7498080" cy="365760"/>
          </a:xfrm>
          <a:prstGeom prst="rect">
            <a:avLst/>
          </a:prstGeom>
          <a:noFill/>
          <a:ln/>
        </p:spPr>
        <p:txBody>
          <a:bodyPr wrap="square" lIns="0" tIns="0" rIns="0" bIns="0" rtlCol="0" anchor="ctr"/>
          <a:lstStyle/>
          <a:p>
            <a:pPr indent="0" marL="0">
              <a:buNone/>
            </a:pPr>
            <a:r>
              <a:rPr lang="en-US" sz="1550" b="1" dirty="0">
                <a:solidFill>
                  <a:srgbClr val="1C2B4A"/>
                </a:solidFill>
                <a:latin typeface="Meiryo" pitchFamily="34" charset="0"/>
                <a:ea typeface="Meiryo" pitchFamily="34" charset="-122"/>
                <a:cs typeface="Meiryo" pitchFamily="34" charset="-120"/>
              </a:rPr>
              <a:t>QARP順位付け　</a:t>
            </a:r>
            <a:pPr indent="0" marL="0">
              <a:buNone/>
            </a:pPr>
            <a:r>
              <a:rPr lang="en-US" sz="1300" b="1" dirty="0">
                <a:solidFill>
                  <a:srgbClr val="A55D2B"/>
                </a:solidFill>
                <a:latin typeface="Meiryo" pitchFamily="34" charset="0"/>
                <a:ea typeface="Meiryo" pitchFamily="34" charset="-122"/>
                <a:cs typeface="Meiryo" pitchFamily="34" charset="-120"/>
              </a:rPr>
              <a:t>15社の中で</a:t>
            </a:r>
            <a:endParaRPr lang="en-US" sz="1550" dirty="0"/>
          </a:p>
        </p:txBody>
      </p:sp>
      <p:sp>
        <p:nvSpPr>
          <p:cNvPr id="22" name="Text 20"/>
          <p:cNvSpPr/>
          <p:nvPr/>
        </p:nvSpPr>
        <p:spPr>
          <a:xfrm>
            <a:off x="1508760" y="5230368"/>
            <a:ext cx="7543800" cy="859536"/>
          </a:xfrm>
          <a:prstGeom prst="rect">
            <a:avLst/>
          </a:prstGeom>
          <a:noFill/>
          <a:ln/>
        </p:spPr>
        <p:txBody>
          <a:bodyPr wrap="square" lIns="0" tIns="0" rIns="0" bIns="0" rtlCol="0" anchor="t"/>
          <a:lstStyle/>
          <a:p>
            <a:pPr indent="0" marL="0">
              <a:buNone/>
            </a:pPr>
            <a:r>
              <a:rPr lang="en-US" sz="1050" dirty="0">
                <a:solidFill>
                  <a:srgbClr val="5B6B7F"/>
                </a:solidFill>
                <a:latin typeface="Meiryo" pitchFamily="34" charset="0"/>
                <a:ea typeface="Meiryo" pitchFamily="34" charset="-122"/>
                <a:cs typeface="Meiryo" pitchFamily="34" charset="-120"/>
              </a:rPr>
              <a:t>品質（財務・技術）× バリュー（時価総額/営業益・PSR）を50:50で総合 —「テーマを検証する銘柄の中で、良く・安く」。順位は比重決定に使う（現在値ベースで再採点）。</a:t>
            </a:r>
            <a:endParaRPr lang="en-US" sz="1050" dirty="0"/>
          </a:p>
        </p:txBody>
      </p:sp>
      <p:sp>
        <p:nvSpPr>
          <p:cNvPr id="23" name="Shape 21"/>
          <p:cNvSpPr/>
          <p:nvPr/>
        </p:nvSpPr>
        <p:spPr>
          <a:xfrm>
            <a:off x="9646920" y="1371600"/>
            <a:ext cx="2011680" cy="1188720"/>
          </a:xfrm>
          <a:prstGeom prst="roundRect">
            <a:avLst>
              <a:gd name="adj" fmla="val 5385"/>
            </a:avLst>
          </a:prstGeom>
          <a:solidFill>
            <a:srgbClr val="F3F6FA"/>
          </a:solidFill>
          <a:ln/>
        </p:spPr>
      </p:sp>
      <p:sp>
        <p:nvSpPr>
          <p:cNvPr id="24" name="Text 22"/>
          <p:cNvSpPr/>
          <p:nvPr/>
        </p:nvSpPr>
        <p:spPr>
          <a:xfrm>
            <a:off x="9646920" y="1481328"/>
            <a:ext cx="2011680" cy="566928"/>
          </a:xfrm>
          <a:prstGeom prst="rect">
            <a:avLst/>
          </a:prstGeom>
          <a:noFill/>
          <a:ln/>
        </p:spPr>
        <p:txBody>
          <a:bodyPr wrap="square" lIns="0" tIns="0" rIns="0" bIns="0" rtlCol="0" anchor="ctr"/>
          <a:lstStyle/>
          <a:p>
            <a:pPr algn="ctr" indent="0" marL="0">
              <a:buNone/>
            </a:pPr>
            <a:r>
              <a:rPr lang="en-US" sz="3000" b="1" dirty="0">
                <a:solidFill>
                  <a:srgbClr val="C0713A"/>
                </a:solidFill>
                <a:latin typeface="Meiryo" pitchFamily="34" charset="0"/>
                <a:ea typeface="Meiryo" pitchFamily="34" charset="-122"/>
                <a:cs typeface="Meiryo" pitchFamily="34" charset="-120"/>
              </a:rPr>
              <a:t>106</a:t>
            </a:r>
            <a:endParaRPr lang="en-US" sz="3000" dirty="0"/>
          </a:p>
        </p:txBody>
      </p:sp>
      <p:sp>
        <p:nvSpPr>
          <p:cNvPr id="25" name="Text 23"/>
          <p:cNvSpPr/>
          <p:nvPr/>
        </p:nvSpPr>
        <p:spPr>
          <a:xfrm>
            <a:off x="9646920" y="2084832"/>
            <a:ext cx="2011680" cy="310896"/>
          </a:xfrm>
          <a:prstGeom prst="rect">
            <a:avLst/>
          </a:prstGeom>
          <a:noFill/>
          <a:ln/>
        </p:spPr>
        <p:txBody>
          <a:bodyPr wrap="square" lIns="0" tIns="0" rIns="0" bIns="0" rtlCol="0" anchor="ctr"/>
          <a:lstStyle/>
          <a:p>
            <a:pPr algn="ctr" indent="0" marL="0">
              <a:buNone/>
            </a:pPr>
            <a:r>
              <a:rPr lang="en-US" sz="1050" dirty="0">
                <a:solidFill>
                  <a:srgbClr val="5B6B7F"/>
                </a:solidFill>
                <a:latin typeface="Meiryo" pitchFamily="34" charset="0"/>
                <a:ea typeface="Meiryo" pitchFamily="34" charset="-122"/>
                <a:cs typeface="Meiryo" pitchFamily="34" charset="-120"/>
              </a:rPr>
              <a:t>ユニバース</a:t>
            </a:r>
            <a:endParaRPr lang="en-US" sz="1050" dirty="0"/>
          </a:p>
        </p:txBody>
      </p:sp>
      <p:sp>
        <p:nvSpPr>
          <p:cNvPr id="26" name="Shape 24"/>
          <p:cNvSpPr/>
          <p:nvPr/>
        </p:nvSpPr>
        <p:spPr>
          <a:xfrm>
            <a:off x="10524744" y="2615184"/>
            <a:ext cx="256032" cy="310896"/>
          </a:xfrm>
          <a:prstGeom prst="downArrow">
            <a:avLst/>
          </a:prstGeom>
          <a:solidFill>
            <a:srgbClr val="DCE6F2"/>
          </a:solidFill>
          <a:ln/>
        </p:spPr>
      </p:sp>
      <p:sp>
        <p:nvSpPr>
          <p:cNvPr id="27" name="Shape 25"/>
          <p:cNvSpPr/>
          <p:nvPr/>
        </p:nvSpPr>
        <p:spPr>
          <a:xfrm>
            <a:off x="9646920" y="3035808"/>
            <a:ext cx="2011680" cy="1188720"/>
          </a:xfrm>
          <a:prstGeom prst="roundRect">
            <a:avLst>
              <a:gd name="adj" fmla="val 5385"/>
            </a:avLst>
          </a:prstGeom>
          <a:solidFill>
            <a:srgbClr val="F3F6FA"/>
          </a:solidFill>
          <a:ln/>
        </p:spPr>
      </p:sp>
      <p:sp>
        <p:nvSpPr>
          <p:cNvPr id="28" name="Text 26"/>
          <p:cNvSpPr/>
          <p:nvPr/>
        </p:nvSpPr>
        <p:spPr>
          <a:xfrm>
            <a:off x="9646920" y="3145536"/>
            <a:ext cx="2011680" cy="566928"/>
          </a:xfrm>
          <a:prstGeom prst="rect">
            <a:avLst/>
          </a:prstGeom>
          <a:noFill/>
          <a:ln/>
        </p:spPr>
        <p:txBody>
          <a:bodyPr wrap="square" lIns="0" tIns="0" rIns="0" bIns="0" rtlCol="0" anchor="ctr"/>
          <a:lstStyle/>
          <a:p>
            <a:pPr algn="ctr" indent="0" marL="0">
              <a:buNone/>
            </a:pPr>
            <a:r>
              <a:rPr lang="en-US" sz="3000" b="1" dirty="0">
                <a:solidFill>
                  <a:srgbClr val="C0713A"/>
                </a:solidFill>
                <a:latin typeface="Meiryo" pitchFamily="34" charset="0"/>
                <a:ea typeface="Meiryo" pitchFamily="34" charset="-122"/>
                <a:cs typeface="Meiryo" pitchFamily="34" charset="-120"/>
              </a:rPr>
              <a:t>48</a:t>
            </a:r>
            <a:endParaRPr lang="en-US" sz="3000" dirty="0"/>
          </a:p>
        </p:txBody>
      </p:sp>
      <p:sp>
        <p:nvSpPr>
          <p:cNvPr id="29" name="Text 27"/>
          <p:cNvSpPr/>
          <p:nvPr/>
        </p:nvSpPr>
        <p:spPr>
          <a:xfrm>
            <a:off x="9646920" y="3749040"/>
            <a:ext cx="2011680" cy="310896"/>
          </a:xfrm>
          <a:prstGeom prst="rect">
            <a:avLst/>
          </a:prstGeom>
          <a:noFill/>
          <a:ln/>
        </p:spPr>
        <p:txBody>
          <a:bodyPr wrap="square" lIns="0" tIns="0" rIns="0" bIns="0" rtlCol="0" anchor="ctr"/>
          <a:lstStyle/>
          <a:p>
            <a:pPr algn="ctr" indent="0" marL="0">
              <a:buNone/>
            </a:pPr>
            <a:r>
              <a:rPr lang="en-US" sz="1050" dirty="0">
                <a:solidFill>
                  <a:srgbClr val="5B6B7F"/>
                </a:solidFill>
                <a:latin typeface="Meiryo" pitchFamily="34" charset="0"/>
                <a:ea typeface="Meiryo" pitchFamily="34" charset="-122"/>
                <a:cs typeface="Meiryo" pitchFamily="34" charset="-120"/>
              </a:rPr>
              <a:t>財務通過</a:t>
            </a:r>
            <a:endParaRPr lang="en-US" sz="1050" dirty="0"/>
          </a:p>
        </p:txBody>
      </p:sp>
      <p:sp>
        <p:nvSpPr>
          <p:cNvPr id="30" name="Shape 28"/>
          <p:cNvSpPr/>
          <p:nvPr/>
        </p:nvSpPr>
        <p:spPr>
          <a:xfrm>
            <a:off x="10524744" y="4279392"/>
            <a:ext cx="256032" cy="310896"/>
          </a:xfrm>
          <a:prstGeom prst="downArrow">
            <a:avLst/>
          </a:prstGeom>
          <a:solidFill>
            <a:srgbClr val="DCE6F2"/>
          </a:solidFill>
          <a:ln/>
        </p:spPr>
      </p:sp>
      <p:sp>
        <p:nvSpPr>
          <p:cNvPr id="31" name="Shape 29"/>
          <p:cNvSpPr/>
          <p:nvPr/>
        </p:nvSpPr>
        <p:spPr>
          <a:xfrm>
            <a:off x="9646920" y="4700016"/>
            <a:ext cx="2011680" cy="1188720"/>
          </a:xfrm>
          <a:prstGeom prst="roundRect">
            <a:avLst>
              <a:gd name="adj" fmla="val 5385"/>
            </a:avLst>
          </a:prstGeom>
          <a:solidFill>
            <a:srgbClr val="1C2B4A"/>
          </a:solidFill>
          <a:ln/>
        </p:spPr>
      </p:sp>
      <p:sp>
        <p:nvSpPr>
          <p:cNvPr id="32" name="Text 30"/>
          <p:cNvSpPr/>
          <p:nvPr/>
        </p:nvSpPr>
        <p:spPr>
          <a:xfrm>
            <a:off x="9646920" y="4809744"/>
            <a:ext cx="2011680"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15</a:t>
            </a:r>
            <a:endParaRPr lang="en-US" sz="3000" dirty="0"/>
          </a:p>
        </p:txBody>
      </p:sp>
      <p:sp>
        <p:nvSpPr>
          <p:cNvPr id="33" name="Text 31"/>
          <p:cNvSpPr/>
          <p:nvPr/>
        </p:nvSpPr>
        <p:spPr>
          <a:xfrm>
            <a:off x="9646920" y="5413248"/>
            <a:ext cx="2011680" cy="310896"/>
          </a:xfrm>
          <a:prstGeom prst="rect">
            <a:avLst/>
          </a:prstGeom>
          <a:noFill/>
          <a:ln/>
        </p:spPr>
        <p:txBody>
          <a:bodyPr wrap="square" lIns="0" tIns="0" rIns="0" bIns="0" rtlCol="0" anchor="ctr"/>
          <a:lstStyle/>
          <a:p>
            <a:pPr algn="ctr" indent="0" marL="0">
              <a:buNone/>
            </a:pPr>
            <a:r>
              <a:rPr lang="en-US" sz="1050" dirty="0">
                <a:solidFill>
                  <a:srgbClr val="DCE6F2"/>
                </a:solidFill>
                <a:latin typeface="Meiryo" pitchFamily="34" charset="0"/>
                <a:ea typeface="Meiryo" pitchFamily="34" charset="-122"/>
                <a:cs typeface="Meiryo" pitchFamily="34" charset="-120"/>
              </a:rPr>
              <a:t>最終選定</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INTEGRITY BY DESIGN</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選定の規律 — 「正直さ」を設計に組み込む</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11</a:t>
            </a:r>
            <a:endParaRPr lang="en-US" sz="900" dirty="0"/>
          </a:p>
        </p:txBody>
      </p:sp>
      <p:sp>
        <p:nvSpPr>
          <p:cNvPr id="9" name="Shape 7"/>
          <p:cNvSpPr/>
          <p:nvPr/>
        </p:nvSpPr>
        <p:spPr>
          <a:xfrm>
            <a:off x="548640" y="1371600"/>
            <a:ext cx="3520440" cy="4069080"/>
          </a:xfrm>
          <a:prstGeom prst="roundRect">
            <a:avLst>
              <a:gd name="adj" fmla="val 1818"/>
            </a:avLst>
          </a:prstGeom>
          <a:solidFill>
            <a:srgbClr val="F3F6FA"/>
          </a:solidFill>
          <a:ln/>
        </p:spPr>
      </p:sp>
      <p:sp>
        <p:nvSpPr>
          <p:cNvPr id="10" name="Text 8"/>
          <p:cNvSpPr/>
          <p:nvPr/>
        </p:nvSpPr>
        <p:spPr>
          <a:xfrm>
            <a:off x="804672" y="1627632"/>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11" name="Text 9"/>
          <p:cNvSpPr/>
          <p:nvPr/>
        </p:nvSpPr>
        <p:spPr>
          <a:xfrm>
            <a:off x="804672" y="2240280"/>
            <a:ext cx="3008376" cy="658368"/>
          </a:xfrm>
          <a:prstGeom prst="rect">
            <a:avLst/>
          </a:prstGeom>
          <a:noFill/>
          <a:ln/>
        </p:spPr>
        <p:txBody>
          <a:bodyPr wrap="square" lIns="0" tIns="0" rIns="0" bIns="0" rtlCol="0" anchor="t"/>
          <a:lstStyle/>
          <a:p>
            <a:pPr indent="0" marL="0">
              <a:buNone/>
            </a:pPr>
            <a:r>
              <a:rPr lang="en-US" sz="1550" b="1" dirty="0">
                <a:solidFill>
                  <a:srgbClr val="1C2B4A"/>
                </a:solidFill>
                <a:latin typeface="Meiryo" pitchFamily="34" charset="0"/>
                <a:ea typeface="Meiryo" pitchFamily="34" charset="-122"/>
                <a:cs typeface="Meiryo" pitchFamily="34" charset="-120"/>
              </a:rPr>
              <a:t>高スコアでも、除外</a:t>
            </a:r>
            <a:endParaRPr lang="en-US" sz="1550" dirty="0"/>
          </a:p>
        </p:txBody>
      </p:sp>
      <p:sp>
        <p:nvSpPr>
          <p:cNvPr id="12" name="Text 10"/>
          <p:cNvSpPr/>
          <p:nvPr/>
        </p:nvSpPr>
        <p:spPr>
          <a:xfrm>
            <a:off x="804672" y="2944368"/>
            <a:ext cx="3008376" cy="2286000"/>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QARP上位でも地理集積がない9社は除外 — 三井金属(#2)・上村工業(#4)・アドバンテスト(#6)など</a:t>
            </a:r>
            <a:endParaRPr lang="en-US" sz="1050" dirty="0"/>
          </a:p>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拠点は埼玉・大阪・群馬 — テーマのAND条件を満たさない</a:t>
            </a:r>
            <a:endParaRPr lang="en-US" sz="1050" dirty="0"/>
          </a:p>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高得点銘柄を外したこと自体が、チェリーピッキングでない証拠 — レポート付録に「正直な反証」として明記</a:t>
            </a:r>
            <a:endParaRPr lang="en-US" sz="1050" dirty="0"/>
          </a:p>
        </p:txBody>
      </p:sp>
      <p:sp>
        <p:nvSpPr>
          <p:cNvPr id="13" name="Shape 11"/>
          <p:cNvSpPr/>
          <p:nvPr/>
        </p:nvSpPr>
        <p:spPr>
          <a:xfrm>
            <a:off x="4334256" y="1371600"/>
            <a:ext cx="3520440" cy="4069080"/>
          </a:xfrm>
          <a:prstGeom prst="roundRect">
            <a:avLst>
              <a:gd name="adj" fmla="val 1818"/>
            </a:avLst>
          </a:prstGeom>
          <a:solidFill>
            <a:srgbClr val="F3F6FA"/>
          </a:solidFill>
          <a:ln/>
        </p:spPr>
      </p:sp>
      <p:sp>
        <p:nvSpPr>
          <p:cNvPr id="14" name="Text 12"/>
          <p:cNvSpPr/>
          <p:nvPr/>
        </p:nvSpPr>
        <p:spPr>
          <a:xfrm>
            <a:off x="4590288" y="1627632"/>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5" name="Text 13"/>
          <p:cNvSpPr/>
          <p:nvPr/>
        </p:nvSpPr>
        <p:spPr>
          <a:xfrm>
            <a:off x="4590288" y="2240280"/>
            <a:ext cx="3008376" cy="658368"/>
          </a:xfrm>
          <a:prstGeom prst="rect">
            <a:avLst/>
          </a:prstGeom>
          <a:noFill/>
          <a:ln/>
        </p:spPr>
        <p:txBody>
          <a:bodyPr wrap="square" lIns="0" tIns="0" rIns="0" bIns="0" rtlCol="0" anchor="t"/>
          <a:lstStyle/>
          <a:p>
            <a:pPr indent="0" marL="0">
              <a:buNone/>
            </a:pPr>
            <a:r>
              <a:rPr lang="en-US" sz="1550" b="1" dirty="0">
                <a:solidFill>
                  <a:srgbClr val="1C2B4A"/>
                </a:solidFill>
                <a:latin typeface="Meiryo" pitchFamily="34" charset="0"/>
                <a:ea typeface="Meiryo" pitchFamily="34" charset="-122"/>
                <a:cs typeface="Meiryo" pitchFamily="34" charset="-120"/>
              </a:rPr>
              <a:t>因果の射程を区分</a:t>
            </a:r>
            <a:endParaRPr lang="en-US" sz="1550" dirty="0"/>
          </a:p>
        </p:txBody>
      </p:sp>
      <p:sp>
        <p:nvSpPr>
          <p:cNvPr id="16" name="Text 14"/>
          <p:cNvSpPr/>
          <p:nvPr/>
        </p:nvSpPr>
        <p:spPr>
          <a:xfrm>
            <a:off x="4590288" y="2944368"/>
            <a:ext cx="3008376" cy="2286000"/>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時系列因果（アンカー投資「後」の増設・受賞）が一次情報で確認できるのは ★★★ 9社のみ</a:t>
            </a:r>
            <a:endParaRPr lang="en-US" sz="1050" dirty="0"/>
          </a:p>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 6社は主力拠点の立地は確定だが、多くはアンカー以前からの立地</a:t>
            </a:r>
            <a:endParaRPr lang="en-US" sz="1050" dirty="0"/>
          </a:p>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それは因果ではなく「九州が元々素材・部材の土壌」という傍証 — 全体を因果と過大一般化しない</a:t>
            </a:r>
            <a:endParaRPr lang="en-US" sz="1050" dirty="0"/>
          </a:p>
        </p:txBody>
      </p:sp>
      <p:sp>
        <p:nvSpPr>
          <p:cNvPr id="17" name="Shape 15"/>
          <p:cNvSpPr/>
          <p:nvPr/>
        </p:nvSpPr>
        <p:spPr>
          <a:xfrm>
            <a:off x="8119872" y="1371600"/>
            <a:ext cx="3520440" cy="4069080"/>
          </a:xfrm>
          <a:prstGeom prst="roundRect">
            <a:avLst>
              <a:gd name="adj" fmla="val 1818"/>
            </a:avLst>
          </a:prstGeom>
          <a:solidFill>
            <a:srgbClr val="F3F6FA"/>
          </a:solidFill>
          <a:ln/>
        </p:spPr>
      </p:sp>
      <p:sp>
        <p:nvSpPr>
          <p:cNvPr id="18" name="Text 16"/>
          <p:cNvSpPr/>
          <p:nvPr/>
        </p:nvSpPr>
        <p:spPr>
          <a:xfrm>
            <a:off x="8375904" y="1627632"/>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9" name="Text 17"/>
          <p:cNvSpPr/>
          <p:nvPr/>
        </p:nvSpPr>
        <p:spPr>
          <a:xfrm>
            <a:off x="8375904" y="2240280"/>
            <a:ext cx="3008376" cy="658368"/>
          </a:xfrm>
          <a:prstGeom prst="rect">
            <a:avLst/>
          </a:prstGeom>
          <a:noFill/>
          <a:ln/>
        </p:spPr>
        <p:txBody>
          <a:bodyPr wrap="square" lIns="0" tIns="0" rIns="0" bIns="0" rtlCol="0" anchor="t"/>
          <a:lstStyle/>
          <a:p>
            <a:pPr indent="0" marL="0">
              <a:buNone/>
            </a:pPr>
            <a:r>
              <a:rPr lang="en-US" sz="1550" b="1" dirty="0">
                <a:solidFill>
                  <a:srgbClr val="1C2B4A"/>
                </a:solidFill>
                <a:latin typeface="Meiryo" pitchFamily="34" charset="0"/>
                <a:ea typeface="Meiryo" pitchFamily="34" charset="-122"/>
                <a:cs typeface="Meiryo" pitchFamily="34" charset="-120"/>
              </a:rPr>
              <a:t>母集団を再定義しても、結論不変</a:t>
            </a:r>
            <a:endParaRPr lang="en-US" sz="1550" dirty="0"/>
          </a:p>
        </p:txBody>
      </p:sp>
      <p:sp>
        <p:nvSpPr>
          <p:cNvPr id="20" name="Text 18"/>
          <p:cNvSpPr/>
          <p:nvPr/>
        </p:nvSpPr>
        <p:spPr>
          <a:xfrm>
            <a:off x="8375904" y="2944368"/>
            <a:ext cx="3008376" cy="2286000"/>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「なぜこの母集団か」という恣意性への疑問に、東証全上場4,438社を起点に体系的に再定義して回答 — JPX公式業種分類と証券DBテーマの和集合（1,039社）から後工程ニッチ106社を抽出</a:t>
            </a:r>
            <a:endParaRPr lang="en-US" sz="1050" dirty="0"/>
          </a:p>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追加編入はジャパンマテリアル1社のみ、他の追加候補は全て正当に脱落 — 最終15社は不変</a:t>
            </a:r>
            <a:endParaRPr lang="en-US" sz="1050" dirty="0"/>
          </a:p>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結果を決めるのはサンプル数ではなく、ゲート規律であることを実測で証明</a:t>
            </a:r>
            <a:endParaRPr lang="en-US" sz="1050" dirty="0"/>
          </a:p>
        </p:txBody>
      </p:sp>
      <p:sp>
        <p:nvSpPr>
          <p:cNvPr id="21" name="Text 19"/>
          <p:cNvSpPr/>
          <p:nvPr/>
        </p:nvSpPr>
        <p:spPr>
          <a:xfrm>
            <a:off x="548640" y="5715000"/>
            <a:ext cx="11094415" cy="365760"/>
          </a:xfrm>
          <a:prstGeom prst="rect">
            <a:avLst/>
          </a:prstGeom>
          <a:noFill/>
          <a:ln/>
        </p:spPr>
        <p:txBody>
          <a:bodyPr wrap="square" lIns="0" tIns="0" rIns="0" bIns="0" rtlCol="0" anchor="ctr"/>
          <a:lstStyle/>
          <a:p>
            <a:pPr algn="ctr" indent="0" marL="0">
              <a:buNone/>
            </a:pPr>
            <a:r>
              <a:rPr lang="en-US" sz="1250" b="1" dirty="0">
                <a:solidFill>
                  <a:srgbClr val="1C2B4A"/>
                </a:solidFill>
                <a:latin typeface="Meiryo" pitchFamily="34" charset="0"/>
                <a:ea typeface="Meiryo" pitchFamily="34" charset="-122"/>
                <a:cs typeface="Meiryo" pitchFamily="34" charset="-120"/>
              </a:rPr>
              <a:t>審査の「ポートフォリオの理論性・専門性」に応える — 結論の強さではなく、反証と限界を隠さない設計で。</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PORTFOLIO</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最終ポートフォリオ — 15社（九州13 + 東北2）</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12</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777240"/>
                <a:gridCol w="2148840"/>
                <a:gridCol w="4526280"/>
                <a:gridCol w="1143000"/>
                <a:gridCol w="1078992"/>
                <a:gridCol w="1417320"/>
              </a:tblGrid>
              <a:tr h="329184">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コード</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社名</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世界ニッチ</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クラスター</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証拠</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配分</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6855</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日本電子材料</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テスト用プローブカード 国内2位</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9.4%</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6627</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テラプローブ</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メモリ・LSIテスト受託 国内トップ級</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9.1%</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4203</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住友ベークライト</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半導体封止材 世界シェア約40%首位</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8.9%</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6258</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平田機工</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自動化生産設備（半導体搬送・組立）</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8.3%</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4626</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太陽HD</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ソルダーレジスト 世界首位</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8.2%</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6055</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ジャパンマテリアル</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特殊ガスのオンサイト供給 国内トップ級</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7.1%</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6490</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日本ピラー工業</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フッ素樹脂継手（超高純度配管）首位級</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6.6%</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6368</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オルガノ</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超純水製造装置 国内最高峰</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6.4%</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6856</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堀場製作所</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マスフローコントローラ 世界シェア約6割</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6.3%</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6146</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ディスコ</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ダイシング装置 世界圧倒的首位</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6.1%</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6871</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日本マイクロニクス</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プローブカード 世界上位（メモリ用トップ級）</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4A6FA5"/>
                          </a:solidFill>
                          <a:latin typeface="Meiryo" pitchFamily="34" charset="0"/>
                          <a:ea typeface="Meiryo" pitchFamily="34" charset="-122"/>
                          <a:cs typeface="Meiryo" pitchFamily="34" charset="-120"/>
                        </a:rPr>
                        <a:t>東北</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5.3%</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4186</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東京応化工業</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フォトレジスト 世界首位</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5.2%</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6323</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ローツェ</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EFEM 世界トップ級（25〜35%）</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4.6%</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6590</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芝浦メカトロニクス</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フリップチップボンダ・枚葉洗浄 高シェア</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eiryo" pitchFamily="34" charset="0"/>
                          <a:ea typeface="Meiryo" pitchFamily="34" charset="-122"/>
                          <a:cs typeface="Meiryo" pitchFamily="34" charset="-120"/>
                        </a:rPr>
                        <a:t>九州</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4.5%</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eiryo" pitchFamily="34" charset="0"/>
                          <a:ea typeface="Meiryo" pitchFamily="34" charset="-122"/>
                          <a:cs typeface="Meiryo" pitchFamily="34" charset="-120"/>
                        </a:rPr>
                        <a:t>3110</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eiryo" pitchFamily="34" charset="0"/>
                          <a:ea typeface="Meiryo" pitchFamily="34" charset="-122"/>
                          <a:cs typeface="Meiryo" pitchFamily="34" charset="-120"/>
                        </a:rPr>
                        <a:t>日東紡</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eiryo" pitchFamily="34" charset="0"/>
                          <a:ea typeface="Meiryo" pitchFamily="34" charset="-122"/>
                          <a:cs typeface="Meiryo" pitchFamily="34" charset="-120"/>
                        </a:rPr>
                        <a:t>Tガラスクロス 世界トップ</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4A6FA5"/>
                          </a:solidFill>
                          <a:latin typeface="Meiryo" pitchFamily="34" charset="0"/>
                          <a:ea typeface="Meiryo" pitchFamily="34" charset="-122"/>
                          <a:cs typeface="Meiryo" pitchFamily="34" charset="-120"/>
                        </a:rPr>
                        <a:t>東北</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eiryo" pitchFamily="34" charset="0"/>
                          <a:ea typeface="Meiryo" pitchFamily="34" charset="-122"/>
                          <a:cs typeface="Meiryo" pitchFamily="34" charset="-120"/>
                        </a:rPr>
                        <a:t>4.0%</a:t>
                      </a:r>
                      <a:endParaRPr lang="en-US" sz="1000" dirty="0">
                        <a:latin typeface="Meiryo" charset="0"/>
                        <a:ea typeface="Meiryo" charset="0"/>
                        <a:cs typeface="Meiryo"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bl>
          </a:graphicData>
        </a:graphic>
      </p:graphicFrame>
      <p:sp>
        <p:nvSpPr>
          <p:cNvPr id="10" name="Text 7"/>
          <p:cNvSpPr/>
          <p:nvPr/>
        </p:nvSpPr>
        <p:spPr>
          <a:xfrm>
            <a:off x="548640" y="5870448"/>
            <a:ext cx="11094415" cy="256032"/>
          </a:xfrm>
          <a:prstGeom prst="rect">
            <a:avLst/>
          </a:prstGeom>
          <a:noFill/>
          <a:ln/>
        </p:spPr>
        <p:txBody>
          <a:bodyPr wrap="square" lIns="0" tIns="0" rIns="0" bIns="0" rtlCol="0" anchor="t"/>
          <a:lstStyle/>
          <a:p>
            <a:pPr indent="0" marL="0">
              <a:buNone/>
            </a:pPr>
            <a:r>
              <a:rPr lang="en-US" sz="900" b="1" dirty="0">
                <a:solidFill>
                  <a:srgbClr val="A55D2B"/>
                </a:solidFill>
                <a:latin typeface="Meiryo" pitchFamily="34" charset="0"/>
                <a:ea typeface="Meiryo" pitchFamily="34" charset="-122"/>
                <a:cs typeface="Meiryo" pitchFamily="34" charset="-120"/>
              </a:rPr>
              <a:t>用語：</a:t>
            </a:r>
            <a:pPr indent="0" marL="0">
              <a:buNone/>
            </a:pPr>
            <a:r>
              <a:rPr lang="en-US" sz="900" dirty="0">
                <a:solidFill>
                  <a:srgbClr val="5B6B7F"/>
                </a:solidFill>
                <a:latin typeface="Meiryo" pitchFamily="34" charset="0"/>
                <a:ea typeface="Meiryo" pitchFamily="34" charset="-122"/>
                <a:cs typeface="Meiryo" pitchFamily="34" charset="-120"/>
              </a:rPr>
              <a:t>プローブカード＝チップ検査用の針の基板／封止材＝チップを樹脂で包む材料／ダイシング＝ウエハの切断／超純水＝洗浄用の超高純度の水／EFEM＝ウエハ搬送機／Tガラス＝基板の芯材</a:t>
            </a:r>
            <a:endParaRPr lang="en-US" sz="900" dirty="0"/>
          </a:p>
        </p:txBody>
      </p:sp>
      <p:sp>
        <p:nvSpPr>
          <p:cNvPr id="11" name="Text 8"/>
          <p:cNvSpPr/>
          <p:nvPr/>
        </p:nvSpPr>
        <p:spPr>
          <a:xfrm>
            <a:off x="548640" y="6144768"/>
            <a:ext cx="11094415" cy="256032"/>
          </a:xfrm>
          <a:prstGeom prst="rect">
            <a:avLst/>
          </a:prstGeom>
          <a:noFill/>
          <a:ln/>
        </p:spPr>
        <p:txBody>
          <a:bodyPr wrap="square" lIns="0" tIns="0" rIns="0" bIns="0" rtlCol="0" anchor="t"/>
          <a:lstStyle/>
          <a:p>
            <a:pPr indent="0" marL="0">
              <a:buNone/>
            </a:pPr>
            <a:r>
              <a:rPr lang="en-US" sz="900" dirty="0">
                <a:solidFill>
                  <a:srgbClr val="5B6B7F"/>
                </a:solidFill>
                <a:latin typeface="Meiryo" pitchFamily="34" charset="0"/>
                <a:ea typeface="Meiryo" pitchFamily="34" charset="-122"/>
                <a:cs typeface="Meiryo" pitchFamily="34" charset="-120"/>
              </a:rPr>
              <a:t>証拠強度：★★★＝時系列因果（アンカー投資後の増設・受賞）9社 ／ ★★＝主力拠点の立地確定 6社　｜　財務一次検証 15/15社 完了</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ALLOCATION</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ウェイト配分 — 「高くなった銘柄は外さず、軽く持つ」</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13</a:t>
            </a:r>
            <a:endParaRPr lang="en-US" sz="900" dirty="0"/>
          </a:p>
        </p:txBody>
      </p:sp>
      <p:graphicFrame>
        <p:nvGraphicFramePr>
          <p:cNvPr id="9" name="Chart 0" descr=""/>
          <p:cNvGraphicFramePr/>
          <p:nvPr/>
        </p:nvGraphicFramePr>
        <p:xfrm>
          <a:off x="548640" y="1280160"/>
          <a:ext cx="6720840" cy="48920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635240" y="1280160"/>
            <a:ext cx="4005072" cy="3291840"/>
          </a:xfrm>
          <a:prstGeom prst="roundRect">
            <a:avLst>
              <a:gd name="adj" fmla="val 1944"/>
            </a:avLst>
          </a:prstGeom>
          <a:solidFill>
            <a:srgbClr val="F3F6FA"/>
          </a:solidFill>
          <a:ln/>
        </p:spPr>
      </p:sp>
      <p:sp>
        <p:nvSpPr>
          <p:cNvPr id="11" name="Text 8"/>
          <p:cNvSpPr/>
          <p:nvPr/>
        </p:nvSpPr>
        <p:spPr>
          <a:xfrm>
            <a:off x="7891272" y="1481328"/>
            <a:ext cx="3493008" cy="329184"/>
          </a:xfrm>
          <a:prstGeom prst="rect">
            <a:avLst/>
          </a:prstGeom>
          <a:noFill/>
          <a:ln/>
        </p:spPr>
        <p:txBody>
          <a:bodyPr wrap="square" lIns="0" tIns="0" rIns="0" bIns="0" rtlCol="0" anchor="ctr"/>
          <a:lstStyle/>
          <a:p>
            <a:pPr indent="0" marL="0">
              <a:buNone/>
            </a:pPr>
            <a:r>
              <a:rPr lang="en-US" sz="1450" b="1" dirty="0">
                <a:solidFill>
                  <a:srgbClr val="1C2B4A"/>
                </a:solidFill>
                <a:latin typeface="Meiryo" pitchFamily="34" charset="0"/>
                <a:ea typeface="Meiryo" pitchFamily="34" charset="-122"/>
                <a:cs typeface="Meiryo" pitchFamily="34" charset="-120"/>
              </a:rPr>
              <a:t>配分の設計</a:t>
            </a:r>
            <a:endParaRPr lang="en-US" sz="1450" dirty="0"/>
          </a:p>
        </p:txBody>
      </p:sp>
      <p:sp>
        <p:nvSpPr>
          <p:cNvPr id="12" name="Text 9"/>
          <p:cNvSpPr/>
          <p:nvPr/>
        </p:nvSpPr>
        <p:spPr>
          <a:xfrm>
            <a:off x="7891272" y="1874520"/>
            <a:ext cx="3493008" cy="2606040"/>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現在値ベースQARP（qarpNow）に比例 — 選定（アンカーゲート）と比重（バリュー規律）の役割分離</a:t>
            </a:r>
            <a:endParaRPr lang="en-US" sz="1050" dirty="0"/>
          </a:p>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上限10% — 単一銘柄依存の防止</a:t>
            </a:r>
            <a:endParaRPr lang="en-US" sz="1050" dirty="0"/>
          </a:p>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下限4% — テーマ立証に必須の銘柄（東北2社など）を形式編入にしない</a:t>
            </a:r>
            <a:endParaRPr lang="en-US" sz="1050" dirty="0"/>
          </a:p>
          <a:p>
            <a:pPr marL="127000" indent="-127000">
              <a:spcAft>
                <a:spcPts val="700"/>
              </a:spcAft>
              <a:buSzPct val="100000"/>
              <a:buChar char="•"/>
            </a:pPr>
            <a:r>
              <a:rPr lang="en-US" sz="1050" dirty="0">
                <a:solidFill>
                  <a:srgbClr val="5B6B7F"/>
                </a:solidFill>
                <a:latin typeface="Meiryo" pitchFamily="34" charset="0"/>
                <a:ea typeface="Meiryo" pitchFamily="34" charset="-122"/>
                <a:cs typeface="Meiryo" pitchFamily="34" charset="-120"/>
              </a:rPr>
              <a:t>リレーティングしたディスコ・日東紡は「外さず、軽く持つ」</a:t>
            </a:r>
            <a:endParaRPr lang="en-US" sz="1050" dirty="0"/>
          </a:p>
        </p:txBody>
      </p:sp>
      <p:sp>
        <p:nvSpPr>
          <p:cNvPr id="13" name="Shape 10"/>
          <p:cNvSpPr/>
          <p:nvPr/>
        </p:nvSpPr>
        <p:spPr>
          <a:xfrm>
            <a:off x="7635240" y="4754880"/>
            <a:ext cx="4005072" cy="1417320"/>
          </a:xfrm>
          <a:prstGeom prst="roundRect">
            <a:avLst>
              <a:gd name="adj" fmla="val 4516"/>
            </a:avLst>
          </a:prstGeom>
          <a:solidFill>
            <a:srgbClr val="1C2B4A"/>
          </a:solidFill>
          <a:ln/>
        </p:spPr>
      </p:sp>
      <p:sp>
        <p:nvSpPr>
          <p:cNvPr id="14" name="Text 11"/>
          <p:cNvSpPr/>
          <p:nvPr/>
        </p:nvSpPr>
        <p:spPr>
          <a:xfrm>
            <a:off x="7891272" y="4937760"/>
            <a:ext cx="3493008" cy="1051560"/>
          </a:xfrm>
          <a:prstGeom prst="rect">
            <a:avLst/>
          </a:prstGeom>
          <a:noFill/>
          <a:ln/>
        </p:spPr>
        <p:txBody>
          <a:bodyPr wrap="square" lIns="0" tIns="0" rIns="0" bIns="0" rtlCol="0" anchor="t"/>
          <a:lstStyle/>
          <a:p>
            <a:pPr indent="0" marL="0">
              <a:spcAft>
                <a:spcPts val="500"/>
              </a:spcAft>
              <a:buNone/>
            </a:pPr>
            <a:r>
              <a:rPr lang="en-US" sz="1150" b="1" dirty="0">
                <a:solidFill>
                  <a:srgbClr val="FFFFFF"/>
                </a:solidFill>
                <a:latin typeface="Meiryo" pitchFamily="34" charset="0"/>
                <a:ea typeface="Meiryo" pitchFamily="34" charset="-122"/>
                <a:cs typeface="Meiryo" pitchFamily="34" charset="-120"/>
              </a:rPr>
              <a:t>500万円 = 買付 4,945,598円 + 手数料 54,402円</a:t>
            </a:r>
            <a:endParaRPr lang="en-US" sz="1150" dirty="0"/>
          </a:p>
          <a:p>
            <a:pPr indent="0" marL="0">
              <a:spcAft>
                <a:spcPts val="500"/>
              </a:spcAft>
              <a:buNone/>
            </a:pPr>
            <a:r>
              <a:rPr lang="en-US" sz="1000" dirty="0">
                <a:solidFill>
                  <a:srgbClr val="DCE6F2"/>
                </a:solidFill>
                <a:latin typeface="Meiryo" pitchFamily="34" charset="0"/>
                <a:ea typeface="Meiryo" pitchFamily="34" charset="-122"/>
                <a:cs typeface="Meiryo" pitchFamily="34" charset="-120"/>
              </a:rPr>
              <a:t>売買手数料1.1%（1%+消費税）を予算から控除済み</a:t>
            </a:r>
            <a:endParaRPr lang="en-US" sz="1150" dirty="0"/>
          </a:p>
          <a:p>
            <a:pPr indent="0" marL="0">
              <a:buNone/>
            </a:pPr>
            <a:r>
              <a:rPr lang="en-US" sz="1100" b="1" dirty="0">
                <a:solidFill>
                  <a:srgbClr val="C0713A"/>
                </a:solidFill>
                <a:latin typeface="Meiryo" pitchFamily="34" charset="0"/>
                <a:ea typeface="Meiryo" pitchFamily="34" charset="-122"/>
                <a:cs typeface="Meiryo" pitchFamily="34" charset="-120"/>
              </a:rPr>
              <a:t>九州 90.7% ／ 東北 9.3%　・　★★★ 9社 = 55.8%</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PORTFOLIO DESIGN</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分散投資と長期保有 — 「経済や株式投資の理解」への正面回答</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14</a:t>
            </a:r>
            <a:endParaRPr lang="en-US" sz="900" dirty="0"/>
          </a:p>
        </p:txBody>
      </p:sp>
      <p:sp>
        <p:nvSpPr>
          <p:cNvPr id="9" name="Shape 7"/>
          <p:cNvSpPr/>
          <p:nvPr/>
        </p:nvSpPr>
        <p:spPr>
          <a:xfrm>
            <a:off x="548640" y="1325880"/>
            <a:ext cx="5413248" cy="4160520"/>
          </a:xfrm>
          <a:prstGeom prst="roundRect">
            <a:avLst>
              <a:gd name="adj" fmla="val 1538"/>
            </a:avLst>
          </a:prstGeom>
          <a:solidFill>
            <a:srgbClr val="F3F6FA"/>
          </a:solidFill>
          <a:ln/>
        </p:spPr>
      </p:sp>
      <p:sp>
        <p:nvSpPr>
          <p:cNvPr id="10" name="Text 8"/>
          <p:cNvSpPr/>
          <p:nvPr/>
        </p:nvSpPr>
        <p:spPr>
          <a:xfrm>
            <a:off x="822960" y="1527048"/>
            <a:ext cx="4864608" cy="365760"/>
          </a:xfrm>
          <a:prstGeom prst="rect">
            <a:avLst/>
          </a:prstGeom>
          <a:noFill/>
          <a:ln/>
        </p:spPr>
        <p:txBody>
          <a:bodyPr wrap="square" lIns="0" tIns="0" rIns="0" bIns="0" rtlCol="0" anchor="ctr"/>
          <a:lstStyle/>
          <a:p>
            <a:pPr indent="0" marL="0">
              <a:buNone/>
            </a:pPr>
            <a:r>
              <a:rPr lang="en-US" sz="1550" b="1" dirty="0">
                <a:solidFill>
                  <a:srgbClr val="1C2B4A"/>
                </a:solidFill>
                <a:latin typeface="Meiryo" pitchFamily="34" charset="0"/>
                <a:ea typeface="Meiryo" pitchFamily="34" charset="-122"/>
                <a:cs typeface="Meiryo" pitchFamily="34" charset="-120"/>
              </a:rPr>
              <a:t>テーマ内分散の3軸</a:t>
            </a:r>
            <a:endParaRPr lang="en-US" sz="1550" dirty="0"/>
          </a:p>
        </p:txBody>
      </p:sp>
      <p:sp>
        <p:nvSpPr>
          <p:cNvPr id="11" name="Text 9"/>
          <p:cNvSpPr/>
          <p:nvPr/>
        </p:nvSpPr>
        <p:spPr>
          <a:xfrm>
            <a:off x="822960" y="2057400"/>
            <a:ext cx="365760" cy="365760"/>
          </a:xfrm>
          <a:prstGeom prst="ellipse">
            <a:avLst/>
          </a:prstGeom>
          <a:solidFill>
            <a:srgbClr val="1C2B4A"/>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12" name="Text 10"/>
          <p:cNvSpPr/>
          <p:nvPr/>
        </p:nvSpPr>
        <p:spPr>
          <a:xfrm>
            <a:off x="1353312" y="2039112"/>
            <a:ext cx="4315968" cy="896112"/>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バリューチェーン段階</a:t>
            </a:r>
            <a:endParaRPr lang="en-US" sz="1200" dirty="0"/>
          </a:p>
          <a:p>
            <a:pPr indent="0" marL="0">
              <a:buNone/>
            </a:pPr>
            <a:r>
              <a:rPr lang="en-US" sz="1050" dirty="0">
                <a:solidFill>
                  <a:srgbClr val="5B6B7F"/>
                </a:solidFill>
                <a:latin typeface="Meiryo" pitchFamily="34" charset="0"/>
                <a:ea typeface="Meiryo" pitchFamily="34" charset="-122"/>
                <a:cs typeface="Meiryo" pitchFamily="34" charset="-120"/>
              </a:rPr>
              <a:t>消耗品・装置・素材・検査・インフラ — サイクル感応度が異なる段階をカバー（直結8/共通6/併行1）</a:t>
            </a:r>
            <a:endParaRPr lang="en-US" sz="1200" dirty="0"/>
          </a:p>
        </p:txBody>
      </p:sp>
      <p:sp>
        <p:nvSpPr>
          <p:cNvPr id="13" name="Text 11"/>
          <p:cNvSpPr/>
          <p:nvPr/>
        </p:nvSpPr>
        <p:spPr>
          <a:xfrm>
            <a:off x="822960" y="2990088"/>
            <a:ext cx="365760" cy="365760"/>
          </a:xfrm>
          <a:prstGeom prst="ellipse">
            <a:avLst/>
          </a:prstGeom>
          <a:solidFill>
            <a:srgbClr val="1C2B4A"/>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4" name="Text 12"/>
          <p:cNvSpPr/>
          <p:nvPr/>
        </p:nvSpPr>
        <p:spPr>
          <a:xfrm>
            <a:off x="1353312" y="2971800"/>
            <a:ext cx="4315968" cy="896112"/>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地域・アンカー</a:t>
            </a:r>
            <a:endParaRPr lang="en-US" sz="1200" dirty="0"/>
          </a:p>
          <a:p>
            <a:pPr indent="0" marL="0">
              <a:buNone/>
            </a:pPr>
            <a:r>
              <a:rPr lang="en-US" sz="1050" dirty="0">
                <a:solidFill>
                  <a:srgbClr val="5B6B7F"/>
                </a:solidFill>
                <a:latin typeface="Meiryo" pitchFamily="34" charset="0"/>
                <a:ea typeface="Meiryo" pitchFamily="34" charset="-122"/>
                <a:cs typeface="Meiryo" pitchFamily="34" charset="-120"/>
              </a:rPr>
              <a:t>九州13 + 東北2。アンカーもTSMC・ソニー・三菱電機・キオクシアと多層 — 単一ファブ依存なし</a:t>
            </a:r>
            <a:endParaRPr lang="en-US" sz="1200" dirty="0"/>
          </a:p>
        </p:txBody>
      </p:sp>
      <p:sp>
        <p:nvSpPr>
          <p:cNvPr id="15" name="Text 13"/>
          <p:cNvSpPr/>
          <p:nvPr/>
        </p:nvSpPr>
        <p:spPr>
          <a:xfrm>
            <a:off x="822960" y="3922776"/>
            <a:ext cx="365760" cy="365760"/>
          </a:xfrm>
          <a:prstGeom prst="ellipse">
            <a:avLst/>
          </a:prstGeom>
          <a:solidFill>
            <a:srgbClr val="1C2B4A"/>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6" name="Text 14"/>
          <p:cNvSpPr/>
          <p:nvPr/>
        </p:nvSpPr>
        <p:spPr>
          <a:xfrm>
            <a:off x="1353312" y="3904488"/>
            <a:ext cx="4315968" cy="896112"/>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顧客</a:t>
            </a:r>
            <a:endParaRPr lang="en-US" sz="1200" dirty="0"/>
          </a:p>
          <a:p>
            <a:pPr indent="0" marL="0">
              <a:buNone/>
            </a:pPr>
            <a:r>
              <a:rPr lang="en-US" sz="1050" dirty="0">
                <a:solidFill>
                  <a:srgbClr val="5B6B7F"/>
                </a:solidFill>
                <a:latin typeface="Meiryo" pitchFamily="34" charset="0"/>
                <a:ea typeface="Meiryo" pitchFamily="34" charset="-122"/>
                <a:cs typeface="Meiryo" pitchFamily="34" charset="-120"/>
              </a:rPr>
              <a:t>全銘柄の売上はグローバル分散 — 特定アンカー向け売上は小さく、クラスター因果は「成長オプション」</a:t>
            </a:r>
            <a:endParaRPr lang="en-US" sz="1200" dirty="0"/>
          </a:p>
        </p:txBody>
      </p:sp>
      <p:sp>
        <p:nvSpPr>
          <p:cNvPr id="17" name="Text 15"/>
          <p:cNvSpPr/>
          <p:nvPr/>
        </p:nvSpPr>
        <p:spPr>
          <a:xfrm>
            <a:off x="822960" y="5029200"/>
            <a:ext cx="4864608" cy="320040"/>
          </a:xfrm>
          <a:prstGeom prst="rect">
            <a:avLst/>
          </a:prstGeom>
          <a:noFill/>
          <a:ln/>
        </p:spPr>
        <p:txBody>
          <a:bodyPr wrap="square" lIns="0" tIns="0" rIns="0" bIns="0" rtlCol="0" anchor="ctr"/>
          <a:lstStyle/>
          <a:p>
            <a:pPr indent="0" marL="0">
              <a:buNone/>
            </a:pPr>
            <a:r>
              <a:rPr lang="en-US" sz="950" i="1" dirty="0">
                <a:solidFill>
                  <a:srgbClr val="5B6B7F"/>
                </a:solidFill>
                <a:latin typeface="Meiryo" pitchFamily="34" charset="0"/>
                <a:ea typeface="Meiryo" pitchFamily="34" charset="-122"/>
                <a:cs typeface="Meiryo" pitchFamily="34" charset="-120"/>
              </a:rPr>
              <a:t>※ 半導体単一テーマという限界は明示した上で、テーマ内分散を設計原理とする。</a:t>
            </a:r>
            <a:endParaRPr lang="en-US" sz="950" dirty="0"/>
          </a:p>
        </p:txBody>
      </p:sp>
      <p:sp>
        <p:nvSpPr>
          <p:cNvPr id="18" name="Shape 16"/>
          <p:cNvSpPr/>
          <p:nvPr/>
        </p:nvSpPr>
        <p:spPr>
          <a:xfrm>
            <a:off x="6227064" y="1325880"/>
            <a:ext cx="5413248" cy="4160520"/>
          </a:xfrm>
          <a:prstGeom prst="roundRect">
            <a:avLst>
              <a:gd name="adj" fmla="val 1538"/>
            </a:avLst>
          </a:prstGeom>
          <a:solidFill>
            <a:srgbClr val="F3F6FA"/>
          </a:solidFill>
          <a:ln/>
        </p:spPr>
      </p:sp>
      <p:sp>
        <p:nvSpPr>
          <p:cNvPr id="19" name="Text 17"/>
          <p:cNvSpPr/>
          <p:nvPr/>
        </p:nvSpPr>
        <p:spPr>
          <a:xfrm>
            <a:off x="6501384" y="1527048"/>
            <a:ext cx="4864608" cy="365760"/>
          </a:xfrm>
          <a:prstGeom prst="rect">
            <a:avLst/>
          </a:prstGeom>
          <a:noFill/>
          <a:ln/>
        </p:spPr>
        <p:txBody>
          <a:bodyPr wrap="square" lIns="0" tIns="0" rIns="0" bIns="0" rtlCol="0" anchor="ctr"/>
          <a:lstStyle/>
          <a:p>
            <a:pPr indent="0" marL="0">
              <a:buNone/>
            </a:pPr>
            <a:r>
              <a:rPr lang="en-US" sz="1550" b="1" dirty="0">
                <a:solidFill>
                  <a:srgbClr val="1C2B4A"/>
                </a:solidFill>
                <a:latin typeface="Meiryo" pitchFamily="34" charset="0"/>
                <a:ea typeface="Meiryo" pitchFamily="34" charset="-122"/>
                <a:cs typeface="Meiryo" pitchFamily="34" charset="-120"/>
              </a:rPr>
              <a:t>長期保有の論理</a:t>
            </a:r>
            <a:endParaRPr lang="en-US" sz="1550" dirty="0"/>
          </a:p>
        </p:txBody>
      </p:sp>
      <p:sp>
        <p:nvSpPr>
          <p:cNvPr id="20" name="Shape 18"/>
          <p:cNvSpPr/>
          <p:nvPr/>
        </p:nvSpPr>
        <p:spPr>
          <a:xfrm>
            <a:off x="6519672" y="2112264"/>
            <a:ext cx="118872" cy="118872"/>
          </a:xfrm>
          <a:prstGeom prst="ellipse">
            <a:avLst/>
          </a:prstGeom>
          <a:solidFill>
            <a:srgbClr val="C0713A"/>
          </a:solidFill>
          <a:ln/>
        </p:spPr>
      </p:sp>
      <p:sp>
        <p:nvSpPr>
          <p:cNvPr id="21" name="Text 19"/>
          <p:cNvSpPr/>
          <p:nvPr/>
        </p:nvSpPr>
        <p:spPr>
          <a:xfrm>
            <a:off x="6793992" y="2039112"/>
            <a:ext cx="4544568" cy="777240"/>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仮説が長期保有を要求する　</a:t>
            </a:r>
            <a:pPr indent="0" marL="0">
              <a:buNone/>
            </a:pPr>
            <a:r>
              <a:rPr lang="en-US" sz="1050" dirty="0">
                <a:solidFill>
                  <a:srgbClr val="5B6B7F"/>
                </a:solidFill>
                <a:latin typeface="Meiryo" pitchFamily="34" charset="0"/>
                <a:ea typeface="Meiryo" pitchFamily="34" charset="-122"/>
                <a:cs typeface="Meiryo" pitchFamily="34" charset="-120"/>
              </a:rPr>
              <a:t>クラスター形成は数年単位の構造変化 — 短期では検証できない</a:t>
            </a:r>
            <a:endParaRPr lang="en-US" sz="1200" dirty="0"/>
          </a:p>
        </p:txBody>
      </p:sp>
      <p:sp>
        <p:nvSpPr>
          <p:cNvPr id="22" name="Shape 20"/>
          <p:cNvSpPr/>
          <p:nvPr/>
        </p:nvSpPr>
        <p:spPr>
          <a:xfrm>
            <a:off x="6519672" y="2916936"/>
            <a:ext cx="118872" cy="118872"/>
          </a:xfrm>
          <a:prstGeom prst="ellipse">
            <a:avLst/>
          </a:prstGeom>
          <a:solidFill>
            <a:srgbClr val="C0713A"/>
          </a:solidFill>
          <a:ln/>
        </p:spPr>
      </p:sp>
      <p:sp>
        <p:nvSpPr>
          <p:cNvPr id="23" name="Text 21"/>
          <p:cNvSpPr/>
          <p:nvPr/>
        </p:nvSpPr>
        <p:spPr>
          <a:xfrm>
            <a:off x="6793992" y="2843784"/>
            <a:ext cx="4544568" cy="777240"/>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費用面でも buy &amp; hold　</a:t>
            </a:r>
            <a:pPr indent="0" marL="0">
              <a:buNone/>
            </a:pPr>
            <a:r>
              <a:rPr lang="en-US" sz="1050" dirty="0">
                <a:solidFill>
                  <a:srgbClr val="5B6B7F"/>
                </a:solidFill>
                <a:latin typeface="Meiryo" pitchFamily="34" charset="0"/>
                <a:ea typeface="Meiryo" pitchFamily="34" charset="-122"/>
                <a:cs typeface="Meiryo" pitchFamily="34" charset="-120"/>
              </a:rPr>
              <a:t>売買手数料1%+消費税 — 回転売買に構造的に不利</a:t>
            </a:r>
            <a:endParaRPr lang="en-US" sz="1200" dirty="0"/>
          </a:p>
        </p:txBody>
      </p:sp>
      <p:sp>
        <p:nvSpPr>
          <p:cNvPr id="24" name="Shape 22"/>
          <p:cNvSpPr/>
          <p:nvPr/>
        </p:nvSpPr>
        <p:spPr>
          <a:xfrm>
            <a:off x="6519672" y="3721608"/>
            <a:ext cx="118872" cy="118872"/>
          </a:xfrm>
          <a:prstGeom prst="ellipse">
            <a:avLst/>
          </a:prstGeom>
          <a:solidFill>
            <a:srgbClr val="C0713A"/>
          </a:solidFill>
          <a:ln/>
        </p:spPr>
      </p:sp>
      <p:sp>
        <p:nvSpPr>
          <p:cNvPr id="25" name="Text 23"/>
          <p:cNvSpPr/>
          <p:nvPr/>
        </p:nvSpPr>
        <p:spPr>
          <a:xfrm>
            <a:off x="6793992" y="3648456"/>
            <a:ext cx="4544568" cy="777240"/>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全15銘柄が配当実施　</a:t>
            </a:r>
            <a:pPr indent="0" marL="0">
              <a:buNone/>
            </a:pPr>
            <a:r>
              <a:rPr lang="en-US" sz="1050" dirty="0">
                <a:solidFill>
                  <a:srgbClr val="5B6B7F"/>
                </a:solidFill>
                <a:latin typeface="Meiryo" pitchFamily="34" charset="0"/>
                <a:ea typeface="Meiryo" pitchFamily="34" charset="-122"/>
                <a:cs typeface="Meiryo" pitchFamily="34" charset="-120"/>
              </a:rPr>
              <a:t>平均予想利回り約1.2% — 補助論拠として明記（無配ゼロ）</a:t>
            </a:r>
            <a:endParaRPr lang="en-US" sz="1200" dirty="0"/>
          </a:p>
        </p:txBody>
      </p:sp>
      <p:sp>
        <p:nvSpPr>
          <p:cNvPr id="26" name="Shape 24"/>
          <p:cNvSpPr/>
          <p:nvPr/>
        </p:nvSpPr>
        <p:spPr>
          <a:xfrm>
            <a:off x="6519672" y="4526280"/>
            <a:ext cx="118872" cy="118872"/>
          </a:xfrm>
          <a:prstGeom prst="ellipse">
            <a:avLst/>
          </a:prstGeom>
          <a:solidFill>
            <a:srgbClr val="C0713A"/>
          </a:solidFill>
          <a:ln/>
        </p:spPr>
      </p:sp>
      <p:sp>
        <p:nvSpPr>
          <p:cNvPr id="27" name="Text 25"/>
          <p:cNvSpPr/>
          <p:nvPr/>
        </p:nvSpPr>
        <p:spPr>
          <a:xfrm>
            <a:off x="6793992" y="4453128"/>
            <a:ext cx="4544568" cy="777240"/>
          </a:xfrm>
          <a:prstGeom prst="rect">
            <a:avLst/>
          </a:prstGeom>
          <a:noFill/>
          <a:ln/>
        </p:spPr>
        <p:txBody>
          <a:bodyPr wrap="square" lIns="0" tIns="0" rIns="0" bIns="0" rtlCol="0" anchor="t"/>
          <a:lstStyle/>
          <a:p>
            <a:pPr indent="0" marL="0">
              <a:buNone/>
            </a:pPr>
            <a:r>
              <a:rPr lang="en-US" sz="1200" b="1" dirty="0">
                <a:solidFill>
                  <a:srgbClr val="1C2B4A"/>
                </a:solidFill>
                <a:latin typeface="Meiryo" pitchFamily="34" charset="0"/>
                <a:ea typeface="Meiryo" pitchFamily="34" charset="-122"/>
                <a:cs typeface="Meiryo" pitchFamily="34" charset="-120"/>
              </a:rPr>
              <a:t>リセット（2回可）は原則不使用　</a:t>
            </a:r>
            <a:pPr indent="0" marL="0">
              <a:buNone/>
            </a:pPr>
            <a:r>
              <a:rPr lang="en-US" sz="1050" dirty="0">
                <a:solidFill>
                  <a:srgbClr val="5B6B7F"/>
                </a:solidFill>
                <a:latin typeface="Meiryo" pitchFamily="34" charset="0"/>
                <a:ea typeface="Meiryo" pitchFamily="34" charset="-122"/>
                <a:cs typeface="Meiryo" pitchFamily="34" charset="-120"/>
              </a:rPr>
              <a:t>価格下落だけでは売らない — 「なぜ保有し続けたか」が物語になる</a:t>
            </a:r>
            <a:endParaRPr lang="en-US" sz="1200" dirty="0"/>
          </a:p>
        </p:txBody>
      </p:sp>
      <p:sp>
        <p:nvSpPr>
          <p:cNvPr id="28" name="Shape 26"/>
          <p:cNvSpPr/>
          <p:nvPr/>
        </p:nvSpPr>
        <p:spPr>
          <a:xfrm>
            <a:off x="548640" y="5669280"/>
            <a:ext cx="11094415" cy="566928"/>
          </a:xfrm>
          <a:prstGeom prst="roundRect">
            <a:avLst>
              <a:gd name="adj" fmla="val 11290"/>
            </a:avLst>
          </a:prstGeom>
          <a:solidFill>
            <a:srgbClr val="F3F6FA"/>
          </a:solidFill>
          <a:ln/>
        </p:spPr>
      </p:sp>
      <p:sp>
        <p:nvSpPr>
          <p:cNvPr id="29" name="Text 27"/>
          <p:cNvSpPr/>
          <p:nvPr/>
        </p:nvSpPr>
        <p:spPr>
          <a:xfrm>
            <a:off x="822960" y="5669280"/>
            <a:ext cx="10545775" cy="566928"/>
          </a:xfrm>
          <a:prstGeom prst="rect">
            <a:avLst/>
          </a:prstGeom>
          <a:noFill/>
          <a:ln/>
        </p:spPr>
        <p:txBody>
          <a:bodyPr wrap="square" lIns="0" tIns="0" rIns="0" bIns="0" rtlCol="0" anchor="ctr"/>
          <a:lstStyle/>
          <a:p>
            <a:pPr algn="ctr" indent="0" marL="0">
              <a:buNone/>
            </a:pPr>
            <a:r>
              <a:rPr lang="en-US" sz="1250" b="1" dirty="0">
                <a:solidFill>
                  <a:srgbClr val="1C2B4A"/>
                </a:solidFill>
                <a:latin typeface="Meiryo" pitchFamily="34" charset="0"/>
                <a:ea typeface="Meiryo" pitchFamily="34" charset="-122"/>
                <a:cs typeface="Meiryo" pitchFamily="34" charset="-120"/>
              </a:rPr>
              <a:t>審査は評価額ではなくレポートを見る — 「経済や株式投資の理解」に、設計そのもので回答する。</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RISK SCENARIOS</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リスクシナリオ — 正面から答える</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15</a:t>
            </a:r>
            <a:endParaRPr lang="en-US" sz="900" dirty="0"/>
          </a:p>
        </p:txBody>
      </p:sp>
      <p:sp>
        <p:nvSpPr>
          <p:cNvPr id="9" name="Shape 7"/>
          <p:cNvSpPr/>
          <p:nvPr/>
        </p:nvSpPr>
        <p:spPr>
          <a:xfrm>
            <a:off x="548640" y="1371600"/>
            <a:ext cx="3520440" cy="3931920"/>
          </a:xfrm>
          <a:prstGeom prst="roundRect">
            <a:avLst>
              <a:gd name="adj" fmla="val 1818"/>
            </a:avLst>
          </a:prstGeom>
          <a:solidFill>
            <a:srgbClr val="F3F6FA"/>
          </a:solidFill>
          <a:ln/>
        </p:spPr>
      </p:sp>
      <p:sp>
        <p:nvSpPr>
          <p:cNvPr id="10" name="Text 8"/>
          <p:cNvSpPr/>
          <p:nvPr/>
        </p:nvSpPr>
        <p:spPr>
          <a:xfrm>
            <a:off x="804672" y="162763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11" name="Text 9"/>
          <p:cNvSpPr/>
          <p:nvPr/>
        </p:nvSpPr>
        <p:spPr>
          <a:xfrm>
            <a:off x="804672" y="2240280"/>
            <a:ext cx="3008376" cy="685800"/>
          </a:xfrm>
          <a:prstGeom prst="rect">
            <a:avLst/>
          </a:prstGeom>
          <a:noFill/>
          <a:ln/>
        </p:spPr>
        <p:txBody>
          <a:bodyPr wrap="square" lIns="0" tIns="0" rIns="0" bIns="0" rtlCol="0" anchor="t"/>
          <a:lstStyle/>
          <a:p>
            <a:pPr indent="0" marL="0">
              <a:buNone/>
            </a:pPr>
            <a:r>
              <a:rPr lang="en-US" sz="1500" b="1" dirty="0">
                <a:solidFill>
                  <a:srgbClr val="1C2B4A"/>
                </a:solidFill>
                <a:latin typeface="Meiryo" pitchFamily="34" charset="0"/>
                <a:ea typeface="Meiryo" pitchFamily="34" charset="-122"/>
                <a:cs typeface="Meiryo" pitchFamily="34" charset="-120"/>
              </a:rPr>
              <a:t>JASM第2工場の遅延・縮小</a:t>
            </a:r>
            <a:endParaRPr lang="en-US" sz="1500" dirty="0"/>
          </a:p>
        </p:txBody>
      </p:sp>
      <p:sp>
        <p:nvSpPr>
          <p:cNvPr id="12" name="Text 10"/>
          <p:cNvSpPr/>
          <p:nvPr/>
        </p:nvSpPr>
        <p:spPr>
          <a:xfrm>
            <a:off x="804672" y="2971800"/>
            <a:ext cx="3008376" cy="2103120"/>
          </a:xfrm>
          <a:prstGeom prst="rect">
            <a:avLst/>
          </a:prstGeom>
          <a:noFill/>
          <a:ln/>
        </p:spPr>
        <p:txBody>
          <a:bodyPr wrap="square" lIns="0" tIns="0" rIns="0" bIns="0" rtlCol="0" anchor="t"/>
          <a:lstStyle/>
          <a:p>
            <a:pPr marL="127000" indent="-127000">
              <a:spcAft>
                <a:spcPts val="800"/>
              </a:spcAft>
              <a:buSzPct val="100000"/>
              <a:buChar char="•"/>
            </a:pPr>
            <a:r>
              <a:rPr lang="en-US" sz="1050" dirty="0">
                <a:solidFill>
                  <a:srgbClr val="5B6B7F"/>
                </a:solidFill>
                <a:latin typeface="Meiryo" pitchFamily="34" charset="0"/>
                <a:ea typeface="Meiryo" pitchFamily="34" charset="-122"/>
                <a:cs typeface="Meiryo" pitchFamily="34" charset="-120"/>
              </a:rPr>
              <a:t>熊本アンカーは多層 — ソニー・三菱電機・TEL九州が並走し、単一プロジェクト依存ではない</a:t>
            </a:r>
            <a:endParaRPr lang="en-US" sz="1050" dirty="0"/>
          </a:p>
          <a:p>
            <a:pPr marL="127000" indent="-127000">
              <a:spcAft>
                <a:spcPts val="800"/>
              </a:spcAft>
              <a:buSzPct val="100000"/>
              <a:buChar char="•"/>
            </a:pPr>
            <a:r>
              <a:rPr lang="en-US" sz="1050" dirty="0">
                <a:solidFill>
                  <a:srgbClr val="5B6B7F"/>
                </a:solidFill>
                <a:latin typeface="Meiryo" pitchFamily="34" charset="0"/>
                <a:ea typeface="Meiryo" pitchFamily="34" charset="-122"/>
                <a:cs typeface="Meiryo" pitchFamily="34" charset="-120"/>
              </a:rPr>
              <a:t>各社の売上はグローバル分散 — TSMC熊本向けは小さく、クラスター因果は「成長オプション」であり損益の全てではない</a:t>
            </a:r>
            <a:endParaRPr lang="en-US" sz="1050" dirty="0"/>
          </a:p>
        </p:txBody>
      </p:sp>
      <p:sp>
        <p:nvSpPr>
          <p:cNvPr id="13" name="Shape 11"/>
          <p:cNvSpPr/>
          <p:nvPr/>
        </p:nvSpPr>
        <p:spPr>
          <a:xfrm>
            <a:off x="4334256" y="1371600"/>
            <a:ext cx="3520440" cy="3931920"/>
          </a:xfrm>
          <a:prstGeom prst="roundRect">
            <a:avLst>
              <a:gd name="adj" fmla="val 1818"/>
            </a:avLst>
          </a:prstGeom>
          <a:solidFill>
            <a:srgbClr val="F3F6FA"/>
          </a:solidFill>
          <a:ln/>
        </p:spPr>
      </p:sp>
      <p:sp>
        <p:nvSpPr>
          <p:cNvPr id="14" name="Text 12"/>
          <p:cNvSpPr/>
          <p:nvPr/>
        </p:nvSpPr>
        <p:spPr>
          <a:xfrm>
            <a:off x="4590288" y="162763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5" name="Text 13"/>
          <p:cNvSpPr/>
          <p:nvPr/>
        </p:nvSpPr>
        <p:spPr>
          <a:xfrm>
            <a:off x="4590288" y="2240280"/>
            <a:ext cx="3008376" cy="685800"/>
          </a:xfrm>
          <a:prstGeom prst="rect">
            <a:avLst/>
          </a:prstGeom>
          <a:noFill/>
          <a:ln/>
        </p:spPr>
        <p:txBody>
          <a:bodyPr wrap="square" lIns="0" tIns="0" rIns="0" bIns="0" rtlCol="0" anchor="t"/>
          <a:lstStyle/>
          <a:p>
            <a:pPr indent="0" marL="0">
              <a:buNone/>
            </a:pPr>
            <a:r>
              <a:rPr lang="en-US" sz="1500" b="1" dirty="0">
                <a:solidFill>
                  <a:srgbClr val="1C2B4A"/>
                </a:solidFill>
                <a:latin typeface="Meiryo" pitchFamily="34" charset="0"/>
                <a:ea typeface="Meiryo" pitchFamily="34" charset="-122"/>
                <a:cs typeface="Meiryo" pitchFamily="34" charset="-120"/>
              </a:rPr>
              <a:t>台湾地政学リスク</a:t>
            </a:r>
            <a:endParaRPr lang="en-US" sz="1500" dirty="0"/>
          </a:p>
        </p:txBody>
      </p:sp>
      <p:sp>
        <p:nvSpPr>
          <p:cNvPr id="16" name="Text 14"/>
          <p:cNvSpPr/>
          <p:nvPr/>
        </p:nvSpPr>
        <p:spPr>
          <a:xfrm>
            <a:off x="4590288" y="2971800"/>
            <a:ext cx="3008376" cy="2103120"/>
          </a:xfrm>
          <a:prstGeom prst="rect">
            <a:avLst/>
          </a:prstGeom>
          <a:noFill/>
          <a:ln/>
        </p:spPr>
        <p:txBody>
          <a:bodyPr wrap="square" lIns="0" tIns="0" rIns="0" bIns="0" rtlCol="0" anchor="t"/>
          <a:lstStyle/>
          <a:p>
            <a:pPr marL="127000" indent="-127000">
              <a:spcAft>
                <a:spcPts val="800"/>
              </a:spcAft>
              <a:buSzPct val="100000"/>
              <a:buChar char="•"/>
            </a:pPr>
            <a:r>
              <a:rPr lang="en-US" sz="1050" dirty="0">
                <a:solidFill>
                  <a:srgbClr val="5B6B7F"/>
                </a:solidFill>
                <a:latin typeface="Meiryo" pitchFamily="34" charset="0"/>
                <a:ea typeface="Meiryo" pitchFamily="34" charset="-122"/>
                <a:cs typeface="Meiryo" pitchFamily="34" charset="-120"/>
              </a:rPr>
              <a:t>TSMC本体の有事は世界の半導体全体のリスク</a:t>
            </a:r>
            <a:endParaRPr lang="en-US" sz="1050" dirty="0"/>
          </a:p>
          <a:p>
            <a:pPr marL="127000" indent="-127000">
              <a:spcAft>
                <a:spcPts val="800"/>
              </a:spcAft>
              <a:buSzPct val="100000"/>
              <a:buChar char="•"/>
            </a:pPr>
            <a:r>
              <a:rPr lang="en-US" sz="1050" dirty="0">
                <a:solidFill>
                  <a:srgbClr val="5B6B7F"/>
                </a:solidFill>
                <a:latin typeface="Meiryo" pitchFamily="34" charset="0"/>
                <a:ea typeface="Meiryo" pitchFamily="34" charset="-122"/>
                <a:cs typeface="Meiryo" pitchFamily="34" charset="-120"/>
              </a:rPr>
              <a:t>同時に、供給網の日本移転を「加速」する要因でもある — JASM誘致自体がその産物。両面を記述する</a:t>
            </a:r>
            <a:endParaRPr lang="en-US" sz="1050" dirty="0"/>
          </a:p>
        </p:txBody>
      </p:sp>
      <p:sp>
        <p:nvSpPr>
          <p:cNvPr id="17" name="Shape 15"/>
          <p:cNvSpPr/>
          <p:nvPr/>
        </p:nvSpPr>
        <p:spPr>
          <a:xfrm>
            <a:off x="8119872" y="1371600"/>
            <a:ext cx="3520440" cy="3931920"/>
          </a:xfrm>
          <a:prstGeom prst="roundRect">
            <a:avLst>
              <a:gd name="adj" fmla="val 1818"/>
            </a:avLst>
          </a:prstGeom>
          <a:solidFill>
            <a:srgbClr val="F3F6FA"/>
          </a:solidFill>
          <a:ln/>
        </p:spPr>
      </p:sp>
      <p:sp>
        <p:nvSpPr>
          <p:cNvPr id="18" name="Text 16"/>
          <p:cNvSpPr/>
          <p:nvPr/>
        </p:nvSpPr>
        <p:spPr>
          <a:xfrm>
            <a:off x="8375904" y="162763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9" name="Text 17"/>
          <p:cNvSpPr/>
          <p:nvPr/>
        </p:nvSpPr>
        <p:spPr>
          <a:xfrm>
            <a:off x="8375904" y="2240280"/>
            <a:ext cx="3008376" cy="685800"/>
          </a:xfrm>
          <a:prstGeom prst="rect">
            <a:avLst/>
          </a:prstGeom>
          <a:noFill/>
          <a:ln/>
        </p:spPr>
        <p:txBody>
          <a:bodyPr wrap="square" lIns="0" tIns="0" rIns="0" bIns="0" rtlCol="0" anchor="t"/>
          <a:lstStyle/>
          <a:p>
            <a:pPr indent="0" marL="0">
              <a:buNone/>
            </a:pPr>
            <a:r>
              <a:rPr lang="en-US" sz="1500" b="1" dirty="0">
                <a:solidFill>
                  <a:srgbClr val="1C2B4A"/>
                </a:solidFill>
                <a:latin typeface="Meiryo" pitchFamily="34" charset="0"/>
                <a:ea typeface="Meiryo" pitchFamily="34" charset="-122"/>
                <a:cs typeface="Meiryo" pitchFamily="34" charset="-120"/>
              </a:rPr>
              <a:t>半導体サイクル下降</a:t>
            </a:r>
            <a:endParaRPr lang="en-US" sz="1500" dirty="0"/>
          </a:p>
        </p:txBody>
      </p:sp>
      <p:sp>
        <p:nvSpPr>
          <p:cNvPr id="20" name="Text 18"/>
          <p:cNvSpPr/>
          <p:nvPr/>
        </p:nvSpPr>
        <p:spPr>
          <a:xfrm>
            <a:off x="8375904" y="2971800"/>
            <a:ext cx="3008376" cy="2103120"/>
          </a:xfrm>
          <a:prstGeom prst="rect">
            <a:avLst/>
          </a:prstGeom>
          <a:noFill/>
          <a:ln/>
        </p:spPr>
        <p:txBody>
          <a:bodyPr wrap="square" lIns="0" tIns="0" rIns="0" bIns="0" rtlCol="0" anchor="t"/>
          <a:lstStyle/>
          <a:p>
            <a:pPr marL="127000" indent="-127000">
              <a:spcAft>
                <a:spcPts val="800"/>
              </a:spcAft>
              <a:buSzPct val="100000"/>
              <a:buChar char="•"/>
            </a:pPr>
            <a:r>
              <a:rPr lang="en-US" sz="1050" dirty="0">
                <a:solidFill>
                  <a:srgbClr val="5B6B7F"/>
                </a:solidFill>
                <a:latin typeface="Meiryo" pitchFamily="34" charset="0"/>
                <a:ea typeface="Meiryo" pitchFamily="34" charset="-122"/>
                <a:cs typeface="Meiryo" pitchFamily="34" charset="-120"/>
              </a:rPr>
              <a:t>後工程消耗品・テストはファブ稼働率に敏感</a:t>
            </a:r>
            <a:endParaRPr lang="en-US" sz="1050" dirty="0"/>
          </a:p>
          <a:p>
            <a:pPr marL="127000" indent="-127000">
              <a:spcAft>
                <a:spcPts val="800"/>
              </a:spcAft>
              <a:buSzPct val="100000"/>
              <a:buChar char="•"/>
            </a:pPr>
            <a:r>
              <a:rPr lang="en-US" sz="1050" dirty="0">
                <a:solidFill>
                  <a:srgbClr val="5B6B7F"/>
                </a:solidFill>
                <a:latin typeface="Meiryo" pitchFamily="34" charset="0"/>
                <a:ea typeface="Meiryo" pitchFamily="34" charset="-122"/>
                <a:cs typeface="Meiryo" pitchFamily="34" charset="-120"/>
              </a:rPr>
              <a:t>緩衝：AI/HBMの構造需要 + QARPバリュー規律で高値銘柄を最初から抑制（例外はディスコのみ、と明示）</a:t>
            </a:r>
            <a:endParaRPr lang="en-US" sz="1050" dirty="0"/>
          </a:p>
        </p:txBody>
      </p:sp>
      <p:sp>
        <p:nvSpPr>
          <p:cNvPr id="21" name="Text 19"/>
          <p:cNvSpPr/>
          <p:nvPr/>
        </p:nvSpPr>
        <p:spPr>
          <a:xfrm>
            <a:off x="548640" y="5577840"/>
            <a:ext cx="11094415" cy="365760"/>
          </a:xfrm>
          <a:prstGeom prst="rect">
            <a:avLst/>
          </a:prstGeom>
          <a:noFill/>
          <a:ln/>
        </p:spPr>
        <p:txBody>
          <a:bodyPr wrap="square" lIns="0" tIns="0" rIns="0" bIns="0" rtlCol="0" anchor="ctr"/>
          <a:lstStyle/>
          <a:p>
            <a:pPr algn="ctr" indent="0" marL="0">
              <a:buNone/>
            </a:pPr>
            <a:r>
              <a:rPr lang="en-US" sz="1100" dirty="0">
                <a:solidFill>
                  <a:srgbClr val="5B6B7F"/>
                </a:solidFill>
                <a:latin typeface="Meiryo" pitchFamily="34" charset="0"/>
                <a:ea typeface="Meiryo" pitchFamily="34" charset="-122"/>
                <a:cs typeface="Meiryo" pitchFamily="34" charset="-120"/>
              </a:rPr>
              <a:t>補足：株価下落でバリュースコアが上がった銘柄は「バリュートラップ」の可能性 — スコア単独では解釈しない、と自ら注記。</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LEARNING PROCESS</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学習プロセス — 失敗も、そのまま記録する</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16</a:t>
            </a:r>
            <a:endParaRPr lang="en-US" sz="900" dirty="0"/>
          </a:p>
        </p:txBody>
      </p:sp>
      <p:sp>
        <p:nvSpPr>
          <p:cNvPr id="9" name="Shape 7"/>
          <p:cNvSpPr/>
          <p:nvPr/>
        </p:nvSpPr>
        <p:spPr>
          <a:xfrm>
            <a:off x="548640" y="1371600"/>
            <a:ext cx="11094415" cy="1033272"/>
          </a:xfrm>
          <a:prstGeom prst="roundRect">
            <a:avLst>
              <a:gd name="adj" fmla="val 6195"/>
            </a:avLst>
          </a:prstGeom>
          <a:solidFill>
            <a:srgbClr val="F3F6FA"/>
          </a:solidFill>
          <a:ln/>
        </p:spPr>
      </p:sp>
      <p:sp>
        <p:nvSpPr>
          <p:cNvPr id="10" name="Text 8"/>
          <p:cNvSpPr/>
          <p:nvPr/>
        </p:nvSpPr>
        <p:spPr>
          <a:xfrm>
            <a:off x="768096" y="1627632"/>
            <a:ext cx="512064" cy="512064"/>
          </a:xfrm>
          <a:prstGeom prst="ellipse">
            <a:avLst/>
          </a:prstGeom>
          <a:solidFill>
            <a:srgbClr val="C0713A"/>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11" name="Text 9"/>
          <p:cNvSpPr/>
          <p:nvPr/>
        </p:nvSpPr>
        <p:spPr>
          <a:xfrm>
            <a:off x="1508760" y="1490472"/>
            <a:ext cx="4480560" cy="822960"/>
          </a:xfrm>
          <a:prstGeom prst="rect">
            <a:avLst/>
          </a:prstGeom>
          <a:noFill/>
          <a:ln/>
        </p:spPr>
        <p:txBody>
          <a:bodyPr wrap="square" lIns="0" tIns="0" rIns="0" bIns="0" rtlCol="0" anchor="ctr"/>
          <a:lstStyle/>
          <a:p>
            <a:pPr indent="0" marL="0">
              <a:buNone/>
            </a:pPr>
            <a:r>
              <a:rPr lang="en-US" sz="1350" b="1" dirty="0">
                <a:solidFill>
                  <a:srgbClr val="1C2B4A"/>
                </a:solidFill>
                <a:latin typeface="Meiryo" pitchFamily="34" charset="0"/>
                <a:ea typeface="Meiryo" pitchFamily="34" charset="-122"/>
                <a:cs typeface="Meiryo" pitchFamily="34" charset="-120"/>
              </a:rPr>
              <a:t>時価総額を15倍に誤読した事故</a:t>
            </a:r>
            <a:endParaRPr lang="en-US" sz="1350" dirty="0"/>
          </a:p>
        </p:txBody>
      </p:sp>
      <p:sp>
        <p:nvSpPr>
          <p:cNvPr id="12" name="Text 10"/>
          <p:cNvSpPr/>
          <p:nvPr/>
        </p:nvSpPr>
        <p:spPr>
          <a:xfrm>
            <a:off x="6126480" y="1490472"/>
            <a:ext cx="5349240" cy="822960"/>
          </a:xfrm>
          <a:prstGeom prst="rect">
            <a:avLst/>
          </a:prstGeom>
          <a:noFill/>
          <a:ln/>
        </p:spPr>
        <p:txBody>
          <a:bodyPr wrap="square" lIns="0" tIns="0" rIns="0" bIns="0" rtlCol="0" anchor="ctr"/>
          <a:lstStyle/>
          <a:p>
            <a:pPr indent="0" marL="0">
              <a:buNone/>
            </a:pPr>
            <a:r>
              <a:rPr lang="en-US" sz="1050" dirty="0">
                <a:solidFill>
                  <a:srgbClr val="5B6B7F"/>
                </a:solidFill>
                <a:latin typeface="Meiryo" pitchFamily="34" charset="0"/>
                <a:ea typeface="Meiryo" pitchFamily="34" charset="-122"/>
                <a:cs typeface="Meiryo" pitchFamily="34" charset="-120"/>
              </a:rPr>
              <a:t>自動再取得スクリプトの単位誤り。仕組みごと廃棄し、「公表表示値の引用 + 株価×株式数の整合チェック + スクリプト検証」の三重プロセスに再設計した。</a:t>
            </a:r>
            <a:endParaRPr lang="en-US" sz="1050" dirty="0"/>
          </a:p>
        </p:txBody>
      </p:sp>
      <p:sp>
        <p:nvSpPr>
          <p:cNvPr id="13" name="Shape 11"/>
          <p:cNvSpPr/>
          <p:nvPr/>
        </p:nvSpPr>
        <p:spPr>
          <a:xfrm>
            <a:off x="548640" y="2532888"/>
            <a:ext cx="11094415" cy="1033272"/>
          </a:xfrm>
          <a:prstGeom prst="roundRect">
            <a:avLst>
              <a:gd name="adj" fmla="val 6195"/>
            </a:avLst>
          </a:prstGeom>
          <a:solidFill>
            <a:srgbClr val="F3F6FA"/>
          </a:solidFill>
          <a:ln/>
        </p:spPr>
      </p:sp>
      <p:sp>
        <p:nvSpPr>
          <p:cNvPr id="14" name="Text 12"/>
          <p:cNvSpPr/>
          <p:nvPr/>
        </p:nvSpPr>
        <p:spPr>
          <a:xfrm>
            <a:off x="768096" y="2788920"/>
            <a:ext cx="512064" cy="512064"/>
          </a:xfrm>
          <a:prstGeom prst="ellipse">
            <a:avLst/>
          </a:prstGeom>
          <a:solidFill>
            <a:srgbClr val="1C2B4A"/>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15" name="Text 13"/>
          <p:cNvSpPr/>
          <p:nvPr/>
        </p:nvSpPr>
        <p:spPr>
          <a:xfrm>
            <a:off x="1508760" y="2651760"/>
            <a:ext cx="4480560" cy="822960"/>
          </a:xfrm>
          <a:prstGeom prst="rect">
            <a:avLst/>
          </a:prstGeom>
          <a:noFill/>
          <a:ln/>
        </p:spPr>
        <p:txBody>
          <a:bodyPr wrap="square" lIns="0" tIns="0" rIns="0" bIns="0" rtlCol="0" anchor="ctr"/>
          <a:lstStyle/>
          <a:p>
            <a:pPr indent="0" marL="0">
              <a:buNone/>
            </a:pPr>
            <a:r>
              <a:rPr lang="en-US" sz="1350" b="1" dirty="0">
                <a:solidFill>
                  <a:srgbClr val="1C2B4A"/>
                </a:solidFill>
                <a:latin typeface="Meiryo" pitchFamily="34" charset="0"/>
                <a:ea typeface="Meiryo" pitchFamily="34" charset="-122"/>
                <a:cs typeface="Meiryo" pitchFamily="34" charset="-120"/>
              </a:rPr>
              <a:t>1年前の記事で誤判定しかけた</a:t>
            </a:r>
            <a:endParaRPr lang="en-US" sz="1350" dirty="0"/>
          </a:p>
        </p:txBody>
      </p:sp>
      <p:sp>
        <p:nvSpPr>
          <p:cNvPr id="16" name="Text 14"/>
          <p:cNvSpPr/>
          <p:nvPr/>
        </p:nvSpPr>
        <p:spPr>
          <a:xfrm>
            <a:off x="6126480" y="2651760"/>
            <a:ext cx="5349240" cy="822960"/>
          </a:xfrm>
          <a:prstGeom prst="rect">
            <a:avLst/>
          </a:prstGeom>
          <a:noFill/>
          <a:ln/>
        </p:spPr>
        <p:txBody>
          <a:bodyPr wrap="square" lIns="0" tIns="0" rIns="0" bIns="0" rtlCol="0" anchor="ctr"/>
          <a:lstStyle/>
          <a:p>
            <a:pPr indent="0" marL="0">
              <a:buNone/>
            </a:pPr>
            <a:r>
              <a:rPr lang="en-US" sz="1050" dirty="0">
                <a:solidFill>
                  <a:srgbClr val="5B6B7F"/>
                </a:solidFill>
                <a:latin typeface="Meiryo" pitchFamily="34" charset="0"/>
                <a:ea typeface="Meiryo" pitchFamily="34" charset="-122"/>
                <a:cs typeface="Meiryo" pitchFamily="34" charset="-120"/>
              </a:rPr>
              <a:t>関東電化を古い記事に基づき除外しかけ、最新決算の確認で復帰 — 「数字には鮮度がある」。以後、全銘柄を最新通期実績で照合するルールに。</a:t>
            </a:r>
            <a:endParaRPr lang="en-US" sz="1050" dirty="0"/>
          </a:p>
        </p:txBody>
      </p:sp>
      <p:sp>
        <p:nvSpPr>
          <p:cNvPr id="17" name="Shape 15"/>
          <p:cNvSpPr/>
          <p:nvPr/>
        </p:nvSpPr>
        <p:spPr>
          <a:xfrm>
            <a:off x="548640" y="3694176"/>
            <a:ext cx="11094415" cy="1033272"/>
          </a:xfrm>
          <a:prstGeom prst="roundRect">
            <a:avLst>
              <a:gd name="adj" fmla="val 6195"/>
            </a:avLst>
          </a:prstGeom>
          <a:solidFill>
            <a:srgbClr val="F3F6FA"/>
          </a:solidFill>
          <a:ln/>
        </p:spPr>
      </p:sp>
      <p:sp>
        <p:nvSpPr>
          <p:cNvPr id="18" name="Text 16"/>
          <p:cNvSpPr/>
          <p:nvPr/>
        </p:nvSpPr>
        <p:spPr>
          <a:xfrm>
            <a:off x="768096" y="3950208"/>
            <a:ext cx="512064" cy="512064"/>
          </a:xfrm>
          <a:prstGeom prst="ellipse">
            <a:avLst/>
          </a:prstGeom>
          <a:solidFill>
            <a:srgbClr val="C0713A"/>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19" name="Text 17"/>
          <p:cNvSpPr/>
          <p:nvPr/>
        </p:nvSpPr>
        <p:spPr>
          <a:xfrm>
            <a:off x="1508760" y="3813048"/>
            <a:ext cx="4480560" cy="822960"/>
          </a:xfrm>
          <a:prstGeom prst="rect">
            <a:avLst/>
          </a:prstGeom>
          <a:noFill/>
          <a:ln/>
        </p:spPr>
        <p:txBody>
          <a:bodyPr wrap="square" lIns="0" tIns="0" rIns="0" bIns="0" rtlCol="0" anchor="ctr"/>
          <a:lstStyle/>
          <a:p>
            <a:pPr indent="0" marL="0">
              <a:buNone/>
            </a:pPr>
            <a:r>
              <a:rPr lang="en-US" sz="1350" b="1" dirty="0">
                <a:solidFill>
                  <a:srgbClr val="1C2B4A"/>
                </a:solidFill>
                <a:latin typeface="Meiryo" pitchFamily="34" charset="0"/>
                <a:ea typeface="Meiryo" pitchFamily="34" charset="-122"/>
                <a:cs typeface="Meiryo" pitchFamily="34" charset="-120"/>
              </a:rPr>
              <a:t>タグ≠検証 — 仮説タグの大量反証</a:t>
            </a:r>
            <a:endParaRPr lang="en-US" sz="1350" dirty="0"/>
          </a:p>
        </p:txBody>
      </p:sp>
      <p:sp>
        <p:nvSpPr>
          <p:cNvPr id="20" name="Text 18"/>
          <p:cNvSpPr/>
          <p:nvPr/>
        </p:nvSpPr>
        <p:spPr>
          <a:xfrm>
            <a:off x="6126480" y="3813048"/>
            <a:ext cx="5349240" cy="822960"/>
          </a:xfrm>
          <a:prstGeom prst="rect">
            <a:avLst/>
          </a:prstGeom>
          <a:noFill/>
          <a:ln/>
        </p:spPr>
        <p:txBody>
          <a:bodyPr wrap="square" lIns="0" tIns="0" rIns="0" bIns="0" rtlCol="0" anchor="ctr"/>
          <a:lstStyle/>
          <a:p>
            <a:pPr indent="0" marL="0">
              <a:buNone/>
            </a:pPr>
            <a:r>
              <a:rPr lang="en-US" sz="1050" dirty="0">
                <a:solidFill>
                  <a:srgbClr val="5B6B7F"/>
                </a:solidFill>
                <a:latin typeface="Meiryo" pitchFamily="34" charset="0"/>
                <a:ea typeface="Meiryo" pitchFamily="34" charset="-122"/>
                <a:cs typeface="Meiryo" pitchFamily="34" charset="-120"/>
              </a:rPr>
              <a:t>初期のクラスタータグは誤りだらけ（栃木を東北扱い、大阪を北海道扱い等）。一次情報の全数検証に切り替え、選定の土台を作り直した。</a:t>
            </a:r>
            <a:endParaRPr lang="en-US" sz="1050" dirty="0"/>
          </a:p>
        </p:txBody>
      </p:sp>
      <p:sp>
        <p:nvSpPr>
          <p:cNvPr id="21" name="Shape 19"/>
          <p:cNvSpPr/>
          <p:nvPr/>
        </p:nvSpPr>
        <p:spPr>
          <a:xfrm>
            <a:off x="548640" y="4855464"/>
            <a:ext cx="11094415" cy="1033272"/>
          </a:xfrm>
          <a:prstGeom prst="roundRect">
            <a:avLst>
              <a:gd name="adj" fmla="val 6195"/>
            </a:avLst>
          </a:prstGeom>
          <a:solidFill>
            <a:srgbClr val="F3F6FA"/>
          </a:solidFill>
          <a:ln/>
        </p:spPr>
      </p:sp>
      <p:sp>
        <p:nvSpPr>
          <p:cNvPr id="22" name="Text 20"/>
          <p:cNvSpPr/>
          <p:nvPr/>
        </p:nvSpPr>
        <p:spPr>
          <a:xfrm>
            <a:off x="768096" y="5111496"/>
            <a:ext cx="512064" cy="512064"/>
          </a:xfrm>
          <a:prstGeom prst="ellipse">
            <a:avLst/>
          </a:prstGeom>
          <a:solidFill>
            <a:srgbClr val="1C2B4A"/>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4</a:t>
            </a:r>
            <a:endParaRPr lang="en-US" sz="1800" dirty="0"/>
          </a:p>
        </p:txBody>
      </p:sp>
      <p:sp>
        <p:nvSpPr>
          <p:cNvPr id="23" name="Text 21"/>
          <p:cNvSpPr/>
          <p:nvPr/>
        </p:nvSpPr>
        <p:spPr>
          <a:xfrm>
            <a:off x="1508760" y="4974336"/>
            <a:ext cx="4480560" cy="822960"/>
          </a:xfrm>
          <a:prstGeom prst="rect">
            <a:avLst/>
          </a:prstGeom>
          <a:noFill/>
          <a:ln/>
        </p:spPr>
        <p:txBody>
          <a:bodyPr wrap="square" lIns="0" tIns="0" rIns="0" bIns="0" rtlCol="0" anchor="ctr"/>
          <a:lstStyle/>
          <a:p>
            <a:pPr indent="0" marL="0">
              <a:buNone/>
            </a:pPr>
            <a:r>
              <a:rPr lang="en-US" sz="1350" b="1" dirty="0">
                <a:solidFill>
                  <a:srgbClr val="1C2B4A"/>
                </a:solidFill>
                <a:latin typeface="Meiryo" pitchFamily="34" charset="0"/>
                <a:ea typeface="Meiryo" pitchFamily="34" charset="-122"/>
                <a:cs typeface="Meiryo" pitchFamily="34" charset="-120"/>
              </a:rPr>
              <a:t>「なぜその基準か」に実測で答える</a:t>
            </a:r>
            <a:endParaRPr lang="en-US" sz="1350" dirty="0"/>
          </a:p>
        </p:txBody>
      </p:sp>
      <p:sp>
        <p:nvSpPr>
          <p:cNvPr id="24" name="Text 22"/>
          <p:cNvSpPr/>
          <p:nvPr/>
        </p:nvSpPr>
        <p:spPr>
          <a:xfrm>
            <a:off x="6126480" y="4974336"/>
            <a:ext cx="5349240" cy="822960"/>
          </a:xfrm>
          <a:prstGeom prst="rect">
            <a:avLst/>
          </a:prstGeom>
          <a:noFill/>
          <a:ln/>
        </p:spPr>
        <p:txBody>
          <a:bodyPr wrap="square" lIns="0" tIns="0" rIns="0" bIns="0" rtlCol="0" anchor="ctr"/>
          <a:lstStyle/>
          <a:p>
            <a:pPr indent="0" marL="0">
              <a:buNone/>
            </a:pPr>
            <a:r>
              <a:rPr lang="en-US" sz="1050" dirty="0">
                <a:solidFill>
                  <a:srgbClr val="5B6B7F"/>
                </a:solidFill>
                <a:latin typeface="Meiryo" pitchFamily="34" charset="0"/>
                <a:ea typeface="Meiryo" pitchFamily="34" charset="-122"/>
                <a:cs typeface="Meiryo" pitchFamily="34" charset="-120"/>
              </a:rPr>
              <a:t>ゲート基準750通りの感度分析で結論の頑健性を自己攻撃。母集団も東証4,438社から再定義（→106社）し、純度基準を緩めても最終15社が揺るがないことを確認した。</a:t>
            </a:r>
            <a:endParaRPr lang="en-US" sz="1050" dirty="0"/>
          </a:p>
        </p:txBody>
      </p:sp>
      <p:sp>
        <p:nvSpPr>
          <p:cNvPr id="25" name="Text 23"/>
          <p:cNvSpPr/>
          <p:nvPr/>
        </p:nvSpPr>
        <p:spPr>
          <a:xfrm>
            <a:off x="548640" y="6035040"/>
            <a:ext cx="11094415" cy="347472"/>
          </a:xfrm>
          <a:prstGeom prst="rect">
            <a:avLst/>
          </a:prstGeom>
          <a:noFill/>
          <a:ln/>
        </p:spPr>
        <p:txBody>
          <a:bodyPr wrap="square" lIns="0" tIns="0" rIns="0" bIns="0" rtlCol="0" anchor="ctr"/>
          <a:lstStyle/>
          <a:p>
            <a:pPr algn="ctr" indent="0" marL="0">
              <a:buNone/>
            </a:pPr>
            <a:r>
              <a:rPr lang="en-US" sz="1250" b="1" dirty="0">
                <a:solidFill>
                  <a:srgbClr val="1C2B4A"/>
                </a:solidFill>
                <a:latin typeface="Meiryo" pitchFamily="34" charset="0"/>
                <a:ea typeface="Meiryo" pitchFamily="34" charset="-122"/>
                <a:cs typeface="Meiryo" pitchFamily="34" charset="-120"/>
              </a:rPr>
              <a:t>審査ポイント「学習への熱意・意気込み」に対して — 成功だけでなく、試行錯誤の記録をそのまま提出する。</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eiryo" pitchFamily="34" charset="0"/>
                <a:ea typeface="Meiryo" pitchFamily="34" charset="-122"/>
                <a:cs typeface="Meiryo" pitchFamily="34" charset="-120"/>
              </a:rPr>
              <a:t>NEXT — PHASE 3</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500" b="1" dirty="0">
                <a:solidFill>
                  <a:srgbClr val="1C2B4A"/>
                </a:solidFill>
                <a:latin typeface="Meiryo" pitchFamily="34" charset="0"/>
                <a:ea typeface="Meiryo" pitchFamily="34" charset="-122"/>
                <a:cs typeface="Meiryo" pitchFamily="34" charset="-120"/>
              </a:rPr>
              <a:t>今後の計画 — 買付・フィールドワーク・レポート</a:t>
            </a:r>
            <a:endParaRPr lang="en-US" sz="25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eiryo" pitchFamily="34" charset="0"/>
                <a:ea typeface="Meiryo" pitchFamily="34" charset="-122"/>
                <a:cs typeface="Meiryo" pitchFamily="34" charset="-120"/>
              </a:rPr>
              <a:t>日経ストックリーグ 2026｜後工程ニッチトップ × 地方クラスター</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eiryo" pitchFamily="34" charset="0"/>
                <a:ea typeface="Meiryo" pitchFamily="34" charset="-122"/>
                <a:cs typeface="Meiryo" pitchFamily="34" charset="-120"/>
              </a:rPr>
              <a:t>17</a:t>
            </a:r>
            <a:endParaRPr lang="en-US" sz="900" dirty="0"/>
          </a:p>
        </p:txBody>
      </p:sp>
      <p:sp>
        <p:nvSpPr>
          <p:cNvPr id="9" name="Text 7"/>
          <p:cNvSpPr/>
          <p:nvPr/>
        </p:nvSpPr>
        <p:spPr>
          <a:xfrm>
            <a:off x="548640" y="1170432"/>
            <a:ext cx="2606040" cy="310896"/>
          </a:xfrm>
          <a:prstGeom prst="rect">
            <a:avLst/>
          </a:prstGeom>
          <a:noFill/>
          <a:ln/>
        </p:spPr>
        <p:txBody>
          <a:bodyPr wrap="square" lIns="0" tIns="0" rIns="0" bIns="0" rtlCol="0" anchor="ctr"/>
          <a:lstStyle/>
          <a:p>
            <a:pPr indent="0" marL="0">
              <a:buNone/>
            </a:pPr>
            <a:r>
              <a:rPr lang="en-US" sz="1150" b="1" dirty="0">
                <a:solidFill>
                  <a:srgbClr val="A55D2B"/>
                </a:solidFill>
                <a:latin typeface="Meiryo" pitchFamily="34" charset="0"/>
                <a:ea typeface="Meiryo" pitchFamily="34" charset="-122"/>
                <a:cs typeface="Meiryo" pitchFamily="34" charset="-120"/>
              </a:rPr>
              <a:t>7月下旬〜8月中旬</a:t>
            </a:r>
            <a:endParaRPr lang="en-US" sz="1150" dirty="0"/>
          </a:p>
        </p:txBody>
      </p:sp>
      <p:sp>
        <p:nvSpPr>
          <p:cNvPr id="10" name="Shape 8"/>
          <p:cNvSpPr/>
          <p:nvPr/>
        </p:nvSpPr>
        <p:spPr>
          <a:xfrm>
            <a:off x="548640" y="1554480"/>
            <a:ext cx="2606040" cy="3200400"/>
          </a:xfrm>
          <a:prstGeom prst="roundRect">
            <a:avLst>
              <a:gd name="adj" fmla="val 2456"/>
            </a:avLst>
          </a:prstGeom>
          <a:solidFill>
            <a:srgbClr val="F3F6FA"/>
          </a:solidFill>
          <a:ln/>
        </p:spPr>
      </p:sp>
      <p:sp>
        <p:nvSpPr>
          <p:cNvPr id="11" name="Text 9"/>
          <p:cNvSpPr/>
          <p:nvPr/>
        </p:nvSpPr>
        <p:spPr>
          <a:xfrm>
            <a:off x="768096" y="1737360"/>
            <a:ext cx="2167128" cy="621792"/>
          </a:xfrm>
          <a:prstGeom prst="rect">
            <a:avLst/>
          </a:prstGeom>
          <a:noFill/>
          <a:ln/>
        </p:spPr>
        <p:txBody>
          <a:bodyPr wrap="square" lIns="0" tIns="0" rIns="0" bIns="0" rtlCol="0" anchor="t"/>
          <a:lstStyle/>
          <a:p>
            <a:pPr indent="0" marL="0">
              <a:buNone/>
            </a:pPr>
            <a:r>
              <a:rPr lang="en-US" sz="1450" b="1" dirty="0">
                <a:solidFill>
                  <a:srgbClr val="1C2B4A"/>
                </a:solidFill>
                <a:latin typeface="Meiryo" pitchFamily="34" charset="0"/>
                <a:ea typeface="Meiryo" pitchFamily="34" charset="-122"/>
                <a:cs typeface="Meiryo" pitchFamily="34" charset="-120"/>
              </a:rPr>
              <a:t>決算集中期を回避</a:t>
            </a:r>
            <a:endParaRPr lang="en-US" sz="1450" dirty="0"/>
          </a:p>
        </p:txBody>
      </p:sp>
      <p:sp>
        <p:nvSpPr>
          <p:cNvPr id="12" name="Text 10"/>
          <p:cNvSpPr/>
          <p:nvPr/>
        </p:nvSpPr>
        <p:spPr>
          <a:xfrm>
            <a:off x="768096" y="2395728"/>
            <a:ext cx="2167128" cy="2148840"/>
          </a:xfrm>
          <a:prstGeom prst="rect">
            <a:avLst/>
          </a:prstGeom>
          <a:noFill/>
          <a:ln/>
        </p:spPr>
        <p:txBody>
          <a:bodyPr wrap="square" lIns="0" tIns="0" rIns="0" bIns="0" rtlCol="0" anchor="t"/>
          <a:lstStyle/>
          <a:p>
            <a:pPr indent="0" marL="0">
              <a:buNone/>
            </a:pPr>
            <a:r>
              <a:rPr lang="en-US" sz="1050" dirty="0">
                <a:solidFill>
                  <a:srgbClr val="5B6B7F"/>
                </a:solidFill>
                <a:latin typeface="Meiryo" pitchFamily="34" charset="0"/>
                <a:ea typeface="Meiryo" pitchFamily="34" charset="-122"/>
                <a:cs typeface="Meiryo" pitchFamily="34" charset="-120"/>
              </a:rPr>
              <a:t>7/23 ディスコ 〜 8/14 テラプローブに15社の決算が集中。約定は当日終値のため、発表直前・当日の買付はギャップリスク。</a:t>
            </a:r>
            <a:endParaRPr lang="en-US" sz="1050" dirty="0"/>
          </a:p>
        </p:txBody>
      </p:sp>
      <p:sp>
        <p:nvSpPr>
          <p:cNvPr id="13" name="Shape 11"/>
          <p:cNvSpPr/>
          <p:nvPr/>
        </p:nvSpPr>
        <p:spPr>
          <a:xfrm>
            <a:off x="3163824" y="3026664"/>
            <a:ext cx="201168" cy="256032"/>
          </a:xfrm>
          <a:prstGeom prst="rightArrow">
            <a:avLst/>
          </a:prstGeom>
          <a:solidFill>
            <a:srgbClr val="DCE6F2"/>
          </a:solidFill>
          <a:ln/>
        </p:spPr>
      </p:sp>
      <p:sp>
        <p:nvSpPr>
          <p:cNvPr id="14" name="Text 12"/>
          <p:cNvSpPr/>
          <p:nvPr/>
        </p:nvSpPr>
        <p:spPr>
          <a:xfrm>
            <a:off x="3374136" y="1170432"/>
            <a:ext cx="2606040" cy="310896"/>
          </a:xfrm>
          <a:prstGeom prst="rect">
            <a:avLst/>
          </a:prstGeom>
          <a:noFill/>
          <a:ln/>
        </p:spPr>
        <p:txBody>
          <a:bodyPr wrap="square" lIns="0" tIns="0" rIns="0" bIns="0" rtlCol="0" anchor="ctr"/>
          <a:lstStyle/>
          <a:p>
            <a:pPr indent="0" marL="0">
              <a:buNone/>
            </a:pPr>
            <a:r>
              <a:rPr lang="en-US" sz="1150" b="1" dirty="0">
                <a:solidFill>
                  <a:srgbClr val="A55D2B"/>
                </a:solidFill>
                <a:latin typeface="Meiryo" pitchFamily="34" charset="0"/>
                <a:ea typeface="Meiryo" pitchFamily="34" charset="-122"/>
                <a:cs typeface="Meiryo" pitchFamily="34" charset="-120"/>
              </a:rPr>
              <a:t>8月中旬以降</a:t>
            </a:r>
            <a:endParaRPr lang="en-US" sz="1150" dirty="0"/>
          </a:p>
        </p:txBody>
      </p:sp>
      <p:sp>
        <p:nvSpPr>
          <p:cNvPr id="15" name="Shape 13"/>
          <p:cNvSpPr/>
          <p:nvPr/>
        </p:nvSpPr>
        <p:spPr>
          <a:xfrm>
            <a:off x="3374136" y="1554480"/>
            <a:ext cx="2606040" cy="3200400"/>
          </a:xfrm>
          <a:prstGeom prst="roundRect">
            <a:avLst>
              <a:gd name="adj" fmla="val 2456"/>
            </a:avLst>
          </a:prstGeom>
          <a:solidFill>
            <a:srgbClr val="1C2B4A"/>
          </a:solidFill>
          <a:ln/>
        </p:spPr>
      </p:sp>
      <p:sp>
        <p:nvSpPr>
          <p:cNvPr id="16" name="Text 14"/>
          <p:cNvSpPr/>
          <p:nvPr/>
        </p:nvSpPr>
        <p:spPr>
          <a:xfrm>
            <a:off x="3593592" y="1737360"/>
            <a:ext cx="2167128" cy="621792"/>
          </a:xfrm>
          <a:prstGeom prst="rect">
            <a:avLst/>
          </a:prstGeom>
          <a:noFill/>
          <a:ln/>
        </p:spPr>
        <p:txBody>
          <a:bodyPr wrap="square" lIns="0" tIns="0" rIns="0" bIns="0" rtlCol="0" anchor="t"/>
          <a:lstStyle/>
          <a:p>
            <a:pPr indent="0" marL="0">
              <a:buNone/>
            </a:pPr>
            <a:r>
              <a:rPr lang="en-US" sz="1450" b="1" dirty="0">
                <a:solidFill>
                  <a:srgbClr val="FFFFFF"/>
                </a:solidFill>
                <a:latin typeface="Meiryo" pitchFamily="34" charset="0"/>
                <a:ea typeface="Meiryo" pitchFamily="34" charset="-122"/>
                <a:cs typeface="Meiryo" pitchFamily="34" charset="-120"/>
              </a:rPr>
              <a:t>買付実行</a:t>
            </a:r>
            <a:endParaRPr lang="en-US" sz="1450" dirty="0"/>
          </a:p>
        </p:txBody>
      </p:sp>
      <p:sp>
        <p:nvSpPr>
          <p:cNvPr id="17" name="Text 15"/>
          <p:cNvSpPr/>
          <p:nvPr/>
        </p:nvSpPr>
        <p:spPr>
          <a:xfrm>
            <a:off x="3593592" y="2395728"/>
            <a:ext cx="2167128" cy="2148840"/>
          </a:xfrm>
          <a:prstGeom prst="rect">
            <a:avLst/>
          </a:prstGeom>
          <a:noFill/>
          <a:ln/>
        </p:spPr>
        <p:txBody>
          <a:bodyPr wrap="square" lIns="0" tIns="0" rIns="0" bIns="0" rtlCol="0" anchor="t"/>
          <a:lstStyle/>
          <a:p>
            <a:pPr indent="0" marL="0">
              <a:buNone/>
            </a:pPr>
            <a:r>
              <a:rPr lang="en-US" sz="1050" dirty="0">
                <a:solidFill>
                  <a:srgbClr val="DCE6F2"/>
                </a:solidFill>
                <a:latin typeface="Meiryo" pitchFamily="34" charset="0"/>
                <a:ea typeface="Meiryo" pitchFamily="34" charset="-122"/>
                <a:cs typeface="Meiryo" pitchFamily="34" charset="-120"/>
              </a:rPr>
              <a:t>Q1実績反映後の価格で rescore → allocate を一貫実行し、500万円を15銘柄に配分。約定価格・株数・手数料を記録。</a:t>
            </a:r>
            <a:endParaRPr lang="en-US" sz="1050" dirty="0"/>
          </a:p>
        </p:txBody>
      </p:sp>
      <p:sp>
        <p:nvSpPr>
          <p:cNvPr id="18" name="Shape 16"/>
          <p:cNvSpPr/>
          <p:nvPr/>
        </p:nvSpPr>
        <p:spPr>
          <a:xfrm>
            <a:off x="5989320" y="3026664"/>
            <a:ext cx="201168" cy="256032"/>
          </a:xfrm>
          <a:prstGeom prst="rightArrow">
            <a:avLst/>
          </a:prstGeom>
          <a:solidFill>
            <a:srgbClr val="DCE6F2"/>
          </a:solidFill>
          <a:ln/>
        </p:spPr>
      </p:sp>
      <p:sp>
        <p:nvSpPr>
          <p:cNvPr id="19" name="Text 17"/>
          <p:cNvSpPr/>
          <p:nvPr/>
        </p:nvSpPr>
        <p:spPr>
          <a:xfrm>
            <a:off x="6199632" y="1170432"/>
            <a:ext cx="2606040" cy="310896"/>
          </a:xfrm>
          <a:prstGeom prst="rect">
            <a:avLst/>
          </a:prstGeom>
          <a:noFill/>
          <a:ln/>
        </p:spPr>
        <p:txBody>
          <a:bodyPr wrap="square" lIns="0" tIns="0" rIns="0" bIns="0" rtlCol="0" anchor="ctr"/>
          <a:lstStyle/>
          <a:p>
            <a:pPr indent="0" marL="0">
              <a:buNone/>
            </a:pPr>
            <a:r>
              <a:rPr lang="en-US" sz="1150" b="1" dirty="0">
                <a:solidFill>
                  <a:srgbClr val="A55D2B"/>
                </a:solidFill>
                <a:latin typeface="Meiryo" pitchFamily="34" charset="0"/>
                <a:ea typeface="Meiryo" pitchFamily="34" charset="-122"/>
                <a:cs typeface="Meiryo" pitchFamily="34" charset="-120"/>
              </a:rPr>
              <a:t>秋</a:t>
            </a:r>
            <a:endParaRPr lang="en-US" sz="1150" dirty="0"/>
          </a:p>
        </p:txBody>
      </p:sp>
      <p:sp>
        <p:nvSpPr>
          <p:cNvPr id="20" name="Shape 18"/>
          <p:cNvSpPr/>
          <p:nvPr/>
        </p:nvSpPr>
        <p:spPr>
          <a:xfrm>
            <a:off x="6199632" y="1554480"/>
            <a:ext cx="2606040" cy="3200400"/>
          </a:xfrm>
          <a:prstGeom prst="roundRect">
            <a:avLst>
              <a:gd name="adj" fmla="val 2456"/>
            </a:avLst>
          </a:prstGeom>
          <a:solidFill>
            <a:srgbClr val="F3F6FA"/>
          </a:solidFill>
          <a:ln/>
        </p:spPr>
      </p:sp>
      <p:sp>
        <p:nvSpPr>
          <p:cNvPr id="21" name="Text 19"/>
          <p:cNvSpPr/>
          <p:nvPr/>
        </p:nvSpPr>
        <p:spPr>
          <a:xfrm>
            <a:off x="6419088" y="1737360"/>
            <a:ext cx="2167128" cy="621792"/>
          </a:xfrm>
          <a:prstGeom prst="rect">
            <a:avLst/>
          </a:prstGeom>
          <a:noFill/>
          <a:ln/>
        </p:spPr>
        <p:txBody>
          <a:bodyPr wrap="square" lIns="0" tIns="0" rIns="0" bIns="0" rtlCol="0" anchor="t"/>
          <a:lstStyle/>
          <a:p>
            <a:pPr indent="0" marL="0">
              <a:buNone/>
            </a:pPr>
            <a:r>
              <a:rPr lang="en-US" sz="1450" b="1" dirty="0">
                <a:solidFill>
                  <a:srgbClr val="1C2B4A"/>
                </a:solidFill>
                <a:latin typeface="Meiryo" pitchFamily="34" charset="0"/>
                <a:ea typeface="Meiryo" pitchFamily="34" charset="-122"/>
                <a:cs typeface="Meiryo" pitchFamily="34" charset="-120"/>
              </a:rPr>
              <a:t>フィールドワーク</a:t>
            </a:r>
            <a:endParaRPr lang="en-US" sz="1450" dirty="0"/>
          </a:p>
        </p:txBody>
      </p:sp>
      <p:sp>
        <p:nvSpPr>
          <p:cNvPr id="22" name="Text 20"/>
          <p:cNvSpPr/>
          <p:nvPr/>
        </p:nvSpPr>
        <p:spPr>
          <a:xfrm>
            <a:off x="6419088" y="2395728"/>
            <a:ext cx="2167128" cy="2148840"/>
          </a:xfrm>
          <a:prstGeom prst="rect">
            <a:avLst/>
          </a:prstGeom>
          <a:noFill/>
          <a:ln/>
        </p:spPr>
        <p:txBody>
          <a:bodyPr wrap="square" lIns="0" tIns="0" rIns="0" bIns="0" rtlCol="0" anchor="t"/>
          <a:lstStyle/>
          <a:p>
            <a:pPr indent="0" marL="0">
              <a:buNone/>
            </a:pPr>
            <a:r>
              <a:rPr lang="en-US" sz="1050" dirty="0">
                <a:solidFill>
                  <a:srgbClr val="5B6B7F"/>
                </a:solidFill>
                <a:latin typeface="Meiryo" pitchFamily="34" charset="0"/>
                <a:ea typeface="Meiryo" pitchFamily="34" charset="-122"/>
                <a:cs typeface="Meiryo" pitchFamily="34" charset="-120"/>
              </a:rPr>
              <a:t>IR問い合わせ・企業訪問・アンケート。優先：★★6社の定性証拠の深掘り + 平田機工・ジャパンマテリアル（熊本拠点）訪問候補。</a:t>
            </a:r>
            <a:endParaRPr lang="en-US" sz="1050" dirty="0"/>
          </a:p>
        </p:txBody>
      </p:sp>
      <p:sp>
        <p:nvSpPr>
          <p:cNvPr id="23" name="Shape 21"/>
          <p:cNvSpPr/>
          <p:nvPr/>
        </p:nvSpPr>
        <p:spPr>
          <a:xfrm>
            <a:off x="8814816" y="3026664"/>
            <a:ext cx="201168" cy="256032"/>
          </a:xfrm>
          <a:prstGeom prst="rightArrow">
            <a:avLst/>
          </a:prstGeom>
          <a:solidFill>
            <a:srgbClr val="DCE6F2"/>
          </a:solidFill>
          <a:ln/>
        </p:spPr>
      </p:sp>
      <p:sp>
        <p:nvSpPr>
          <p:cNvPr id="24" name="Text 22"/>
          <p:cNvSpPr/>
          <p:nvPr/>
        </p:nvSpPr>
        <p:spPr>
          <a:xfrm>
            <a:off x="9025128" y="1170432"/>
            <a:ext cx="2606040" cy="310896"/>
          </a:xfrm>
          <a:prstGeom prst="rect">
            <a:avLst/>
          </a:prstGeom>
          <a:noFill/>
          <a:ln/>
        </p:spPr>
        <p:txBody>
          <a:bodyPr wrap="square" lIns="0" tIns="0" rIns="0" bIns="0" rtlCol="0" anchor="ctr"/>
          <a:lstStyle/>
          <a:p>
            <a:pPr indent="0" marL="0">
              <a:buNone/>
            </a:pPr>
            <a:r>
              <a:rPr lang="en-US" sz="1150" b="1" dirty="0">
                <a:solidFill>
                  <a:srgbClr val="A55D2B"/>
                </a:solidFill>
                <a:latin typeface="Meiryo" pitchFamily="34" charset="0"/>
                <a:ea typeface="Meiryo" pitchFamily="34" charset="-122"/>
                <a:cs typeface="Meiryo" pitchFamily="34" charset="-120"/>
              </a:rPr>
              <a:t>提出まで</a:t>
            </a:r>
            <a:endParaRPr lang="en-US" sz="1150" dirty="0"/>
          </a:p>
        </p:txBody>
      </p:sp>
      <p:sp>
        <p:nvSpPr>
          <p:cNvPr id="25" name="Shape 23"/>
          <p:cNvSpPr/>
          <p:nvPr/>
        </p:nvSpPr>
        <p:spPr>
          <a:xfrm>
            <a:off x="9025128" y="1554480"/>
            <a:ext cx="2606040" cy="3200400"/>
          </a:xfrm>
          <a:prstGeom prst="roundRect">
            <a:avLst>
              <a:gd name="adj" fmla="val 2456"/>
            </a:avLst>
          </a:prstGeom>
          <a:solidFill>
            <a:srgbClr val="F3F6FA"/>
          </a:solidFill>
          <a:ln/>
        </p:spPr>
      </p:sp>
      <p:sp>
        <p:nvSpPr>
          <p:cNvPr id="26" name="Text 24"/>
          <p:cNvSpPr/>
          <p:nvPr/>
        </p:nvSpPr>
        <p:spPr>
          <a:xfrm>
            <a:off x="9244584" y="1737360"/>
            <a:ext cx="2167128" cy="621792"/>
          </a:xfrm>
          <a:prstGeom prst="rect">
            <a:avLst/>
          </a:prstGeom>
          <a:noFill/>
          <a:ln/>
        </p:spPr>
        <p:txBody>
          <a:bodyPr wrap="square" lIns="0" tIns="0" rIns="0" bIns="0" rtlCol="0" anchor="t"/>
          <a:lstStyle/>
          <a:p>
            <a:pPr indent="0" marL="0">
              <a:buNone/>
            </a:pPr>
            <a:r>
              <a:rPr lang="en-US" sz="1450" b="1" dirty="0">
                <a:solidFill>
                  <a:srgbClr val="1C2B4A"/>
                </a:solidFill>
                <a:latin typeface="Meiryo" pitchFamily="34" charset="0"/>
                <a:ea typeface="Meiryo" pitchFamily="34" charset="-122"/>
                <a:cs typeface="Meiryo" pitchFamily="34" charset="-120"/>
              </a:rPr>
              <a:t>レポート最終化</a:t>
            </a:r>
            <a:endParaRPr lang="en-US" sz="1450" dirty="0"/>
          </a:p>
        </p:txBody>
      </p:sp>
      <p:sp>
        <p:nvSpPr>
          <p:cNvPr id="27" name="Text 25"/>
          <p:cNvSpPr/>
          <p:nvPr/>
        </p:nvSpPr>
        <p:spPr>
          <a:xfrm>
            <a:off x="9244584" y="2395728"/>
            <a:ext cx="2167128" cy="2148840"/>
          </a:xfrm>
          <a:prstGeom prst="rect">
            <a:avLst/>
          </a:prstGeom>
          <a:noFill/>
          <a:ln/>
        </p:spPr>
        <p:txBody>
          <a:bodyPr wrap="square" lIns="0" tIns="0" rIns="0" bIns="0" rtlCol="0" anchor="t"/>
          <a:lstStyle/>
          <a:p>
            <a:pPr indent="0" marL="0">
              <a:buNone/>
            </a:pPr>
            <a:r>
              <a:rPr lang="en-US" sz="1050" dirty="0">
                <a:solidFill>
                  <a:srgbClr val="5B6B7F"/>
                </a:solidFill>
                <a:latin typeface="Meiryo" pitchFamily="34" charset="0"/>
                <a:ea typeface="Meiryo" pitchFamily="34" charset="-122"/>
                <a:cs typeface="Meiryo" pitchFamily="34" charset="-120"/>
              </a:rPr>
              <a:t>骨子は完成済み — 公式様式の確定後に分量を再構成し、日本語最終版を執筆。</a:t>
            </a:r>
            <a:endParaRPr lang="en-US" sz="1050" dirty="0"/>
          </a:p>
        </p:txBody>
      </p:sp>
      <p:sp>
        <p:nvSpPr>
          <p:cNvPr id="28" name="Shape 26"/>
          <p:cNvSpPr/>
          <p:nvPr/>
        </p:nvSpPr>
        <p:spPr>
          <a:xfrm>
            <a:off x="548640" y="5166360"/>
            <a:ext cx="11094415" cy="868680"/>
          </a:xfrm>
          <a:prstGeom prst="roundRect">
            <a:avLst>
              <a:gd name="adj" fmla="val 7368"/>
            </a:avLst>
          </a:prstGeom>
          <a:solidFill>
            <a:srgbClr val="F3F6FA"/>
          </a:solidFill>
          <a:ln/>
        </p:spPr>
      </p:sp>
      <p:sp>
        <p:nvSpPr>
          <p:cNvPr id="29" name="Text 27"/>
          <p:cNvSpPr/>
          <p:nvPr/>
        </p:nvSpPr>
        <p:spPr>
          <a:xfrm>
            <a:off x="822960" y="5166360"/>
            <a:ext cx="10545775" cy="868680"/>
          </a:xfrm>
          <a:prstGeom prst="rect">
            <a:avLst/>
          </a:prstGeom>
          <a:noFill/>
          <a:ln/>
        </p:spPr>
        <p:txBody>
          <a:bodyPr wrap="square" lIns="0" tIns="0" rIns="0" bIns="0" rtlCol="0" anchor="ctr"/>
          <a:lstStyle/>
          <a:p>
            <a:pPr indent="0" marL="0">
              <a:buNone/>
            </a:pPr>
            <a:r>
              <a:rPr lang="en-US" sz="1150" b="1" dirty="0">
                <a:solidFill>
                  <a:srgbClr val="1C2B4A"/>
                </a:solidFill>
                <a:latin typeface="Meiryo" pitchFamily="34" charset="0"/>
                <a:ea typeface="Meiryo" pitchFamily="34" charset="-122"/>
                <a:cs typeface="Meiryo" pitchFamily="34" charset="-120"/>
              </a:rPr>
              <a:t>継続トラッキング：</a:t>
            </a:r>
            <a:pPr indent="0" marL="0">
              <a:buNone/>
            </a:pPr>
            <a:r>
              <a:rPr lang="en-US" sz="1150" dirty="0">
                <a:solidFill>
                  <a:srgbClr val="5B6B7F"/>
                </a:solidFill>
                <a:latin typeface="Meiryo" pitchFamily="34" charset="0"/>
                <a:ea typeface="Meiryo" pitchFamily="34" charset="-122"/>
                <a:cs typeface="Meiryo" pitchFamily="34" charset="-120"/>
              </a:rPr>
              <a:t>毎週金曜終値でポートフォリオと日経平均・TOPIX・SOX指数を記録 — 「長期保有の観察」の材料に。決算ごとの一行メモをフィールドワークの質問につなげる。</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F38"/>
        </a:solidFill>
      </p:bgPr>
    </p:bg>
    <p:spTree>
      <p:nvGrpSpPr>
        <p:cNvPr id="1" name=""/>
        <p:cNvGrpSpPr/>
        <p:nvPr/>
      </p:nvGrpSpPr>
      <p:grpSpPr>
        <a:xfrm>
          <a:off x="0" y="0"/>
          <a:ext cx="0" cy="0"/>
          <a:chOff x="0" y="0"/>
          <a:chExt cx="0" cy="0"/>
        </a:xfrm>
      </p:grpSpPr>
      <p:sp>
        <p:nvSpPr>
          <p:cNvPr id="2" name="Shape 0"/>
          <p:cNvSpPr/>
          <p:nvPr/>
        </p:nvSpPr>
        <p:spPr>
          <a:xfrm>
            <a:off x="8046720" y="3291840"/>
            <a:ext cx="5120640" cy="5120640"/>
          </a:xfrm>
          <a:prstGeom prst="ellipse">
            <a:avLst/>
          </a:prstGeom>
          <a:ln w="12700">
            <a:solidFill>
              <a:srgbClr val="26385E"/>
            </a:solidFill>
            <a:prstDash val="solid"/>
          </a:ln>
        </p:spPr>
      </p:sp>
      <p:sp>
        <p:nvSpPr>
          <p:cNvPr id="3" name="Shape 1"/>
          <p:cNvSpPr/>
          <p:nvPr/>
        </p:nvSpPr>
        <p:spPr>
          <a:xfrm>
            <a:off x="8686800" y="3931920"/>
            <a:ext cx="3840480" cy="3840480"/>
          </a:xfrm>
          <a:prstGeom prst="ellipse">
            <a:avLst/>
          </a:prstGeom>
          <a:ln w="19050">
            <a:solidFill>
              <a:srgbClr val="A55D2B"/>
            </a:solidFill>
            <a:prstDash val="solid"/>
          </a:ln>
        </p:spPr>
      </p:sp>
      <p:sp>
        <p:nvSpPr>
          <p:cNvPr id="4" name="Shape 2"/>
          <p:cNvSpPr/>
          <p:nvPr/>
        </p:nvSpPr>
        <p:spPr>
          <a:xfrm>
            <a:off x="9281160" y="4526280"/>
            <a:ext cx="2651760" cy="2651760"/>
          </a:xfrm>
          <a:prstGeom prst="ellipse">
            <a:avLst/>
          </a:prstGeom>
          <a:ln w="12700">
            <a:solidFill>
              <a:srgbClr val="26385E"/>
            </a:solidFill>
            <a:prstDash val="solid"/>
          </a:ln>
        </p:spPr>
      </p:sp>
      <p:sp>
        <p:nvSpPr>
          <p:cNvPr id="5" name="Shape 3"/>
          <p:cNvSpPr/>
          <p:nvPr/>
        </p:nvSpPr>
        <p:spPr>
          <a:xfrm>
            <a:off x="9784080" y="5029200"/>
            <a:ext cx="1645920" cy="1645920"/>
          </a:xfrm>
          <a:prstGeom prst="ellipse">
            <a:avLst/>
          </a:prstGeom>
          <a:ln w="12700">
            <a:solidFill>
              <a:srgbClr val="26385E"/>
            </a:solidFill>
            <a:prstDash val="solid"/>
          </a:ln>
        </p:spPr>
      </p:sp>
      <p:sp>
        <p:nvSpPr>
          <p:cNvPr id="6" name="Text 4"/>
          <p:cNvSpPr/>
          <p:nvPr/>
        </p:nvSpPr>
        <p:spPr>
          <a:xfrm>
            <a:off x="822960" y="822960"/>
            <a:ext cx="4572000" cy="365760"/>
          </a:xfrm>
          <a:prstGeom prst="rect">
            <a:avLst/>
          </a:prstGeom>
          <a:noFill/>
          <a:ln/>
        </p:spPr>
        <p:txBody>
          <a:bodyPr wrap="square" lIns="0" tIns="0" rIns="0" bIns="0" rtlCol="0" anchor="ctr"/>
          <a:lstStyle/>
          <a:p>
            <a:pPr indent="0" marL="0">
              <a:buNone/>
            </a:pPr>
            <a:r>
              <a:rPr lang="en-US" sz="1300" b="1" spc="300" kern="0" dirty="0">
                <a:solidFill>
                  <a:srgbClr val="C0713A"/>
                </a:solidFill>
                <a:latin typeface="Meiryo" pitchFamily="34" charset="0"/>
                <a:ea typeface="Meiryo" pitchFamily="34" charset="-122"/>
                <a:cs typeface="Meiryo" pitchFamily="34" charset="-120"/>
              </a:rPr>
              <a:t>まとめ</a:t>
            </a:r>
            <a:endParaRPr lang="en-US" sz="1300" dirty="0"/>
          </a:p>
        </p:txBody>
      </p:sp>
      <p:sp>
        <p:nvSpPr>
          <p:cNvPr id="7" name="Text 5"/>
          <p:cNvSpPr/>
          <p:nvPr/>
        </p:nvSpPr>
        <p:spPr>
          <a:xfrm>
            <a:off x="822960" y="12801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世界首位級は、地方にある。</a:t>
            </a:r>
            <a:endParaRPr lang="en-US" sz="4000" dirty="0"/>
          </a:p>
        </p:txBody>
      </p:sp>
      <p:sp>
        <p:nvSpPr>
          <p:cNvPr id="8" name="Shape 6"/>
          <p:cNvSpPr/>
          <p:nvPr/>
        </p:nvSpPr>
        <p:spPr>
          <a:xfrm>
            <a:off x="868680" y="2679192"/>
            <a:ext cx="0" cy="713232"/>
          </a:xfrm>
          <a:prstGeom prst="line">
            <a:avLst/>
          </a:prstGeom>
          <a:noFill/>
          <a:ln w="31750">
            <a:solidFill>
              <a:srgbClr val="C0713A"/>
            </a:solidFill>
            <a:prstDash val="solid"/>
          </a:ln>
        </p:spPr>
      </p:sp>
      <p:sp>
        <p:nvSpPr>
          <p:cNvPr id="9" name="Text 7"/>
          <p:cNvSpPr/>
          <p:nvPr/>
        </p:nvSpPr>
        <p:spPr>
          <a:xfrm>
            <a:off x="1143000" y="2606040"/>
            <a:ext cx="8778240" cy="91440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4,438社 → 15社</a:t>
            </a:r>
            <a:endParaRPr lang="en-US" sz="1600" dirty="0"/>
          </a:p>
          <a:p>
            <a:pPr indent="0" marL="0">
              <a:buNone/>
            </a:pPr>
            <a:r>
              <a:rPr lang="en-US" sz="1150" dirty="0">
                <a:solidFill>
                  <a:srgbClr val="AEBFDC"/>
                </a:solidFill>
                <a:latin typeface="Meiryo" pitchFamily="34" charset="0"/>
                <a:ea typeface="Meiryo" pitchFamily="34" charset="-122"/>
                <a:cs typeface="Meiryo" pitchFamily="34" charset="-120"/>
              </a:rPr>
              <a:t>規律あるゲートで選定 — 高スコアでも、証拠がなければ外す。ユニバースを広げても結論は揺るがなかった。</a:t>
            </a:r>
            <a:endParaRPr lang="en-US" sz="1600" dirty="0"/>
          </a:p>
        </p:txBody>
      </p:sp>
      <p:sp>
        <p:nvSpPr>
          <p:cNvPr id="10" name="Shape 8"/>
          <p:cNvSpPr/>
          <p:nvPr/>
        </p:nvSpPr>
        <p:spPr>
          <a:xfrm>
            <a:off x="868680" y="3703320"/>
            <a:ext cx="0" cy="713232"/>
          </a:xfrm>
          <a:prstGeom prst="line">
            <a:avLst/>
          </a:prstGeom>
          <a:noFill/>
          <a:ln w="31750">
            <a:solidFill>
              <a:srgbClr val="C0713A"/>
            </a:solidFill>
            <a:prstDash val="solid"/>
          </a:ln>
        </p:spPr>
      </p:sp>
      <p:sp>
        <p:nvSpPr>
          <p:cNvPr id="11" name="Text 9"/>
          <p:cNvSpPr/>
          <p:nvPr/>
        </p:nvSpPr>
        <p:spPr>
          <a:xfrm>
            <a:off x="1143000" y="3630168"/>
            <a:ext cx="8778240" cy="91440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熊本・青森・福島</a:t>
            </a:r>
            <a:endParaRPr lang="en-US" sz="1600" dirty="0"/>
          </a:p>
          <a:p>
            <a:pPr indent="0" marL="0">
              <a:buNone/>
            </a:pPr>
            <a:r>
              <a:rPr lang="en-US" sz="1150" dirty="0">
                <a:solidFill>
                  <a:srgbClr val="AEBFDC"/>
                </a:solidFill>
                <a:latin typeface="Meiryo" pitchFamily="34" charset="0"/>
                <a:ea typeface="Meiryo" pitchFamily="34" charset="-122"/>
                <a:cs typeface="Meiryo" pitchFamily="34" charset="-120"/>
              </a:rPr>
              <a:t>ポートフォリオ自体が、地方創生と経済安全保障の進行指標 — 投資で社会課題を読む。</a:t>
            </a:r>
            <a:endParaRPr lang="en-US" sz="1600" dirty="0"/>
          </a:p>
        </p:txBody>
      </p:sp>
      <p:sp>
        <p:nvSpPr>
          <p:cNvPr id="12" name="Shape 10"/>
          <p:cNvSpPr/>
          <p:nvPr/>
        </p:nvSpPr>
        <p:spPr>
          <a:xfrm>
            <a:off x="868680" y="4727448"/>
            <a:ext cx="0" cy="713232"/>
          </a:xfrm>
          <a:prstGeom prst="line">
            <a:avLst/>
          </a:prstGeom>
          <a:noFill/>
          <a:ln w="31750">
            <a:solidFill>
              <a:srgbClr val="C0713A"/>
            </a:solidFill>
            <a:prstDash val="solid"/>
          </a:ln>
        </p:spPr>
      </p:sp>
      <p:sp>
        <p:nvSpPr>
          <p:cNvPr id="13" name="Text 11"/>
          <p:cNvSpPr/>
          <p:nvPr/>
        </p:nvSpPr>
        <p:spPr>
          <a:xfrm>
            <a:off x="1143000" y="4654296"/>
            <a:ext cx="8778240" cy="91440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次は、現場へ</a:t>
            </a:r>
            <a:endParaRPr lang="en-US" sz="1600" dirty="0"/>
          </a:p>
          <a:p>
            <a:pPr indent="0" marL="0">
              <a:buNone/>
            </a:pPr>
            <a:r>
              <a:rPr lang="en-US" sz="1150" dirty="0">
                <a:solidFill>
                  <a:srgbClr val="AEBFDC"/>
                </a:solidFill>
                <a:latin typeface="Meiryo" pitchFamily="34" charset="0"/>
                <a:ea typeface="Meiryo" pitchFamily="34" charset="-122"/>
                <a:cs typeface="Meiryo" pitchFamily="34" charset="-120"/>
              </a:rPr>
              <a:t>買付を実行し、フィールドワークで因果を一次情報のさらに深くへ。失敗も含めて、過程をすべて記録する。</a:t>
            </a:r>
            <a:endParaRPr lang="en-US" sz="1600" dirty="0"/>
          </a:p>
        </p:txBody>
      </p:sp>
      <p:sp>
        <p:nvSpPr>
          <p:cNvPr id="14" name="Text 12"/>
          <p:cNvSpPr/>
          <p:nvPr/>
        </p:nvSpPr>
        <p:spPr>
          <a:xfrm>
            <a:off x="822960" y="6035040"/>
            <a:ext cx="8229600" cy="365760"/>
          </a:xfrm>
          <a:prstGeom prst="rect">
            <a:avLst/>
          </a:prstGeom>
          <a:noFill/>
          <a:ln/>
        </p:spPr>
        <p:txBody>
          <a:bodyPr wrap="square" lIns="0" tIns="0" rIns="0" bIns="0" rtlCol="0" anchor="ctr"/>
          <a:lstStyle/>
          <a:p>
            <a:pPr indent="0" marL="0">
              <a:buNone/>
            </a:pPr>
            <a:r>
              <a:rPr lang="en-US" sz="1150" dirty="0">
                <a:solidFill>
                  <a:srgbClr val="8FA3C4"/>
                </a:solidFill>
                <a:latin typeface="Meiryo" pitchFamily="34" charset="0"/>
                <a:ea typeface="Meiryo" pitchFamily="34" charset="-122"/>
                <a:cs typeface="Meiryo" pitchFamily="34" charset="-120"/>
              </a:rPr>
              <a:t>日経ストックリーグ 2026　｜　Phase 2 完了 → Phase 3 へ</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Contents">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dirty="0">
                <a:solidFill>
                  <a:srgbClr val="C0713A"/>
                </a:solidFill>
                <a:latin typeface="Meiryo" pitchFamily="34" charset="0"/>
                <a:ea typeface="Meiryo" pitchFamily="34" charset="-122"/>
                <a:cs typeface="Meiryo" pitchFamily="34" charset="-120"/>
              </a:rPr>
              <a:t>CONTENTS</a:t>
            </a:r>
            <a:endParaRPr lang="en-US" sz="1200" dirty="0"/>
          </a:p>
        </p:txBody>
      </p:sp>
      <p:sp>
        <p:nvSpPr>
          <p:cNvPr id="3" name="Title"/>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eiryo" pitchFamily="34" charset="0"/>
                <a:ea typeface="Meiryo" pitchFamily="34" charset="-122"/>
                <a:cs typeface="Meiryo" pitchFamily="34" charset="-120"/>
              </a:rPr>
              <a:t>目次</a:t>
            </a:r>
            <a:endParaRPr lang="en-US" sz="1200" dirty="0"/>
          </a:p>
        </p:txBody>
      </p:sp>
      <p:sp>
        <p:nvSpPr>
          <p:cNvPr id="4" name="Badge 1"/>
          <p:cNvSpPr/>
          <p:nvPr/>
        </p:nvSpPr>
        <p:spPr>
          <a:xfrm>
            <a:off x="822960" y="1700784"/>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5" name="Row 1"/>
          <p:cNvSpPr/>
          <p:nvPr/>
        </p:nvSpPr>
        <p:spPr>
          <a:xfrm>
            <a:off x="1463040" y="1645920"/>
            <a:ext cx="8595360" cy="566928"/>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導入　</a:t>
            </a:r>
            <a:r>
              <a:rPr lang="en-US" sz="1050" dirty="0">
                <a:solidFill>
                  <a:srgbClr val="5B6B7F"/>
                </a:solidFill>
                <a:latin typeface="Meiryo" pitchFamily="34" charset="0"/>
                <a:ea typeface="Meiryo" pitchFamily="34" charset="-122"/>
                <a:cs typeface="Meiryo" pitchFamily="34" charset="-120"/>
              </a:rPr>
              <a:t>このコンテストとは？ ・ 後工程とは？</a:t>
            </a:r>
            <a:endParaRPr lang="en-US" sz="1200" dirty="0"/>
          </a:p>
        </p:txBody>
      </p:sp>
      <p:sp>
        <p:nvSpPr>
          <p:cNvPr id="6" name="Page 1"/>
          <p:cNvSpPr/>
          <p:nvPr/>
        </p:nvSpPr>
        <p:spPr>
          <a:xfrm>
            <a:off x="10241280" y="1645920"/>
            <a:ext cx="1399032" cy="566928"/>
          </a:xfrm>
          <a:prstGeom prst="rect">
            <a:avLst/>
          </a:prstGeom>
          <a:noFill/>
          <a:ln/>
        </p:spPr>
        <p:txBody>
          <a:bodyPr wrap="square" lIns="0" tIns="0" rIns="0" bIns="0" rtlCol="0" anchor="ctr"/>
          <a:lstStyle/>
          <a:p>
            <a:pPr algn="r" indent="0" marL="0">
              <a:buNone/>
            </a:pPr>
            <a:r>
              <a:rPr lang="en-US" sz="1200" dirty="0">
                <a:solidFill>
                  <a:srgbClr val="8A9AA8"/>
                </a:solidFill>
                <a:latin typeface="Meiryo" pitchFamily="34" charset="0"/>
                <a:ea typeface="Meiryo" pitchFamily="34" charset="-122"/>
                <a:cs typeface="Meiryo" pitchFamily="34" charset="-120"/>
              </a:rPr>
              <a:t>p.3–4</a:t>
            </a:r>
            <a:endParaRPr lang="en-US" sz="1200" dirty="0"/>
          </a:p>
        </p:txBody>
      </p:sp>
      <p:sp>
        <p:nvSpPr>
          <p:cNvPr id="7" name="Badge 2"/>
          <p:cNvSpPr/>
          <p:nvPr/>
        </p:nvSpPr>
        <p:spPr>
          <a:xfrm>
            <a:off x="822960" y="2523744"/>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8" name="Row 2"/>
          <p:cNvSpPr/>
          <p:nvPr/>
        </p:nvSpPr>
        <p:spPr>
          <a:xfrm>
            <a:off x="1463040" y="2468880"/>
            <a:ext cx="8595360" cy="566928"/>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全体サマリー　</a:t>
            </a:r>
            <a:r>
              <a:rPr lang="en-US" sz="1050" dirty="0">
                <a:solidFill>
                  <a:srgbClr val="5B6B7F"/>
                </a:solidFill>
                <a:latin typeface="Meiryo" pitchFamily="34" charset="0"/>
                <a:ea typeface="Meiryo" pitchFamily="34" charset="-122"/>
                <a:cs typeface="Meiryo" pitchFamily="34" charset="-120"/>
              </a:rPr>
              <a:t>4,438社 → 15社 を一枚で</a:t>
            </a:r>
            <a:endParaRPr lang="en-US" sz="1200" dirty="0"/>
          </a:p>
        </p:txBody>
      </p:sp>
      <p:sp>
        <p:nvSpPr>
          <p:cNvPr id="9" name="Page 2"/>
          <p:cNvSpPr/>
          <p:nvPr/>
        </p:nvSpPr>
        <p:spPr>
          <a:xfrm>
            <a:off x="10241280" y="2468880"/>
            <a:ext cx="1399032" cy="566928"/>
          </a:xfrm>
          <a:prstGeom prst="rect">
            <a:avLst/>
          </a:prstGeom>
          <a:noFill/>
          <a:ln/>
        </p:spPr>
        <p:txBody>
          <a:bodyPr wrap="square" lIns="0" tIns="0" rIns="0" bIns="0" rtlCol="0" anchor="ctr"/>
          <a:lstStyle/>
          <a:p>
            <a:pPr algn="r" indent="0" marL="0">
              <a:buNone/>
            </a:pPr>
            <a:r>
              <a:rPr lang="en-US" sz="1200" dirty="0">
                <a:solidFill>
                  <a:srgbClr val="8A9AA8"/>
                </a:solidFill>
                <a:latin typeface="Meiryo" pitchFamily="34" charset="0"/>
                <a:ea typeface="Meiryo" pitchFamily="34" charset="-122"/>
                <a:cs typeface="Meiryo" pitchFamily="34" charset="-120"/>
              </a:rPr>
              <a:t>p.5</a:t>
            </a:r>
            <a:endParaRPr lang="en-US" sz="1200" dirty="0"/>
          </a:p>
        </p:txBody>
      </p:sp>
      <p:sp>
        <p:nvSpPr>
          <p:cNvPr id="10" name="Badge 3"/>
          <p:cNvSpPr/>
          <p:nvPr/>
        </p:nvSpPr>
        <p:spPr>
          <a:xfrm>
            <a:off x="822960" y="3346704"/>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1" name="Row 3"/>
          <p:cNvSpPr/>
          <p:nvPr/>
        </p:nvSpPr>
        <p:spPr>
          <a:xfrm>
            <a:off x="1463040" y="3291840"/>
            <a:ext cx="8595360" cy="566928"/>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テーマ・仮説・実証　</a:t>
            </a:r>
            <a:r>
              <a:rPr lang="en-US" sz="1050" dirty="0">
                <a:solidFill>
                  <a:srgbClr val="5B6B7F"/>
                </a:solidFill>
                <a:latin typeface="Meiryo" pitchFamily="34" charset="0"/>
                <a:ea typeface="Meiryo" pitchFamily="34" charset="-122"/>
                <a:cs typeface="Meiryo" pitchFamily="34" charset="-120"/>
              </a:rPr>
              <a:t>社会的意義 ・ 近接性の理論 ・ 熊本 ・ 東北</a:t>
            </a:r>
            <a:endParaRPr lang="en-US" sz="1200" dirty="0"/>
          </a:p>
        </p:txBody>
      </p:sp>
      <p:sp>
        <p:nvSpPr>
          <p:cNvPr id="12" name="Page 3"/>
          <p:cNvSpPr/>
          <p:nvPr/>
        </p:nvSpPr>
        <p:spPr>
          <a:xfrm>
            <a:off x="10241280" y="3291840"/>
            <a:ext cx="1399032" cy="566928"/>
          </a:xfrm>
          <a:prstGeom prst="rect">
            <a:avLst/>
          </a:prstGeom>
          <a:noFill/>
          <a:ln/>
        </p:spPr>
        <p:txBody>
          <a:bodyPr wrap="square" lIns="0" tIns="0" rIns="0" bIns="0" rtlCol="0" anchor="ctr"/>
          <a:lstStyle/>
          <a:p>
            <a:pPr algn="r" indent="0" marL="0">
              <a:buNone/>
            </a:pPr>
            <a:r>
              <a:rPr lang="en-US" sz="1200" dirty="0">
                <a:solidFill>
                  <a:srgbClr val="8A9AA8"/>
                </a:solidFill>
                <a:latin typeface="Meiryo" pitchFamily="34" charset="0"/>
                <a:ea typeface="Meiryo" pitchFamily="34" charset="-122"/>
                <a:cs typeface="Meiryo" pitchFamily="34" charset="-120"/>
              </a:rPr>
              <a:t>p.6–9</a:t>
            </a:r>
            <a:endParaRPr lang="en-US" sz="1200" dirty="0"/>
          </a:p>
        </p:txBody>
      </p:sp>
      <p:sp>
        <p:nvSpPr>
          <p:cNvPr id="13" name="Badge 4"/>
          <p:cNvSpPr/>
          <p:nvPr/>
        </p:nvSpPr>
        <p:spPr>
          <a:xfrm>
            <a:off x="822960" y="4169664"/>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14" name="Row 4"/>
          <p:cNvSpPr/>
          <p:nvPr/>
        </p:nvSpPr>
        <p:spPr>
          <a:xfrm>
            <a:off x="1463040" y="4114800"/>
            <a:ext cx="8595360" cy="566928"/>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選定とポートフォリオ　</a:t>
            </a:r>
            <a:r>
              <a:rPr lang="en-US" sz="1050" dirty="0">
                <a:solidFill>
                  <a:srgbClr val="5B6B7F"/>
                </a:solidFill>
                <a:latin typeface="Meiryo" pitchFamily="34" charset="0"/>
                <a:ea typeface="Meiryo" pitchFamily="34" charset="-122"/>
                <a:cs typeface="Meiryo" pitchFamily="34" charset="-120"/>
              </a:rPr>
              <a:t>方法論 ・ 選定の規律 ・ 最終15社 ・ ウェイト ・ 分散/長期保有</a:t>
            </a:r>
            <a:endParaRPr lang="en-US" sz="1200" dirty="0"/>
          </a:p>
        </p:txBody>
      </p:sp>
      <p:sp>
        <p:nvSpPr>
          <p:cNvPr id="15" name="Page 4"/>
          <p:cNvSpPr/>
          <p:nvPr/>
        </p:nvSpPr>
        <p:spPr>
          <a:xfrm>
            <a:off x="10241280" y="4114800"/>
            <a:ext cx="1399032" cy="566928"/>
          </a:xfrm>
          <a:prstGeom prst="rect">
            <a:avLst/>
          </a:prstGeom>
          <a:noFill/>
          <a:ln/>
        </p:spPr>
        <p:txBody>
          <a:bodyPr wrap="square" lIns="0" tIns="0" rIns="0" bIns="0" rtlCol="0" anchor="ctr"/>
          <a:lstStyle/>
          <a:p>
            <a:pPr algn="r" indent="0" marL="0">
              <a:buNone/>
            </a:pPr>
            <a:r>
              <a:rPr lang="en-US" sz="1200" dirty="0">
                <a:solidFill>
                  <a:srgbClr val="8A9AA8"/>
                </a:solidFill>
                <a:latin typeface="Meiryo" pitchFamily="34" charset="0"/>
                <a:ea typeface="Meiryo" pitchFamily="34" charset="-122"/>
                <a:cs typeface="Meiryo" pitchFamily="34" charset="-120"/>
              </a:rPr>
              <a:t>p.10–14</a:t>
            </a:r>
            <a:endParaRPr lang="en-US" sz="1200" dirty="0"/>
          </a:p>
        </p:txBody>
      </p:sp>
      <p:sp>
        <p:nvSpPr>
          <p:cNvPr id="16" name="Badge 5"/>
          <p:cNvSpPr/>
          <p:nvPr/>
        </p:nvSpPr>
        <p:spPr>
          <a:xfrm>
            <a:off x="822960" y="4992624"/>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5</a:t>
            </a:r>
            <a:endParaRPr lang="en-US" sz="1600" dirty="0"/>
          </a:p>
        </p:txBody>
      </p:sp>
      <p:sp>
        <p:nvSpPr>
          <p:cNvPr id="17" name="Row 5"/>
          <p:cNvSpPr/>
          <p:nvPr/>
        </p:nvSpPr>
        <p:spPr>
          <a:xfrm>
            <a:off x="1463040" y="4937760"/>
            <a:ext cx="8595360" cy="566928"/>
          </a:xfrm>
          <a:prstGeom prst="rect">
            <a:avLst/>
          </a:prstGeom>
          <a:noFill/>
          <a:ln/>
        </p:spPr>
        <p:txBody>
          <a:bodyPr wrap="square" lIns="0" tIns="0" rIns="0" bIns="0" rtlCol="0" anchor="ctr"/>
          <a:lstStyle/>
          <a:p>
            <a:pPr indent="0" marL="0">
              <a:buNone/>
            </a:pPr>
            <a:r>
              <a:rPr lang="en-US" sz="1500" b="1" dirty="0">
                <a:solidFill>
                  <a:srgbClr val="1C2B4A"/>
                </a:solidFill>
                <a:latin typeface="Meiryo" pitchFamily="34" charset="0"/>
                <a:ea typeface="Meiryo" pitchFamily="34" charset="-122"/>
                <a:cs typeface="Meiryo" pitchFamily="34" charset="-120"/>
              </a:rPr>
              <a:t>リスク・学習・計画　</a:t>
            </a:r>
            <a:r>
              <a:rPr lang="en-US" sz="1050" dirty="0">
                <a:solidFill>
                  <a:srgbClr val="5B6B7F"/>
                </a:solidFill>
                <a:latin typeface="Meiryo" pitchFamily="34" charset="0"/>
                <a:ea typeface="Meiryo" pitchFamily="34" charset="-122"/>
                <a:cs typeface="Meiryo" pitchFamily="34" charset="-120"/>
              </a:rPr>
              <a:t>リスクシナリオ ・ 学習プロセス ・ Phase 3 ・ まとめ</a:t>
            </a:r>
            <a:endParaRPr lang="en-US" sz="1200" dirty="0"/>
          </a:p>
        </p:txBody>
      </p:sp>
      <p:sp>
        <p:nvSpPr>
          <p:cNvPr id="18" name="Page 5"/>
          <p:cNvSpPr/>
          <p:nvPr/>
        </p:nvSpPr>
        <p:spPr>
          <a:xfrm>
            <a:off x="10241280" y="4937760"/>
            <a:ext cx="1399032" cy="566928"/>
          </a:xfrm>
          <a:prstGeom prst="rect">
            <a:avLst/>
          </a:prstGeom>
          <a:noFill/>
          <a:ln/>
        </p:spPr>
        <p:txBody>
          <a:bodyPr wrap="square" lIns="0" tIns="0" rIns="0" bIns="0" rtlCol="0" anchor="ctr"/>
          <a:lstStyle/>
          <a:p>
            <a:pPr algn="r" indent="0" marL="0">
              <a:buNone/>
            </a:pPr>
            <a:r>
              <a:rPr lang="en-US" sz="1200" dirty="0">
                <a:solidFill>
                  <a:srgbClr val="8A9AA8"/>
                </a:solidFill>
                <a:latin typeface="Meiryo" pitchFamily="34" charset="0"/>
                <a:ea typeface="Meiryo" pitchFamily="34" charset="-122"/>
                <a:cs typeface="Meiryo" pitchFamily="34" charset="-120"/>
              </a:rPr>
              <a:t>p.15–18</a:t>
            </a:r>
            <a:endParaRPr lang="en-US" sz="1200" dirty="0"/>
          </a:p>
        </p:txBody>
      </p:sp>
      <p:sp>
        <p:nvSpPr>
          <p:cNvPr id="19" name="Band"/>
          <p:cNvSpPr/>
          <p:nvPr/>
        </p:nvSpPr>
        <p:spPr>
          <a:xfrm>
            <a:off x="822960" y="5715000"/>
            <a:ext cx="10543032" cy="502920"/>
          </a:xfrm>
          <a:prstGeom prst="rect">
            <a:avLst/>
          </a:prstGeom>
          <a:noFill/>
          <a:ln/>
        </p:spPr>
        <p:txBody>
          <a:bodyPr wrap="square" lIns="0" tIns="0" rIns="0" bIns="0" rtlCol="0" anchor="ctr"/>
          <a:lstStyle/>
          <a:p>
            <a:pPr indent="0" marL="0">
              <a:buNone/>
            </a:pPr>
            <a:r>
              <a:rPr lang="en-US" sz="1350" b="1" dirty="0">
                <a:solidFill>
                  <a:srgbClr val="1C2B4A"/>
                </a:solidFill>
                <a:latin typeface="Meiryo" pitchFamily="34" charset="0"/>
                <a:ea typeface="Meiryo" pitchFamily="34" charset="-122"/>
                <a:cs typeface="Meiryo" pitchFamily="34" charset="-120"/>
              </a:rPr>
              <a:t>コアメッセージ ＝ </a:t>
            </a:r>
            <a:r>
              <a:rPr lang="en-US" sz="1150" dirty="0">
                <a:solidFill>
                  <a:srgbClr val="5B6B7F"/>
                </a:solidFill>
                <a:latin typeface="Meiryo" pitchFamily="34" charset="0"/>
                <a:ea typeface="Meiryo" pitchFamily="34" charset="-122"/>
                <a:cs typeface="Meiryo" pitchFamily="34" charset="-120"/>
              </a:rPr>
              <a:t>「世界首位級は、地方にある」— 東証4,438社から、規律あるゲートで15社へ</a:t>
            </a:r>
            <a:endParaRPr lang="en-US" sz="1200" dirty="0"/>
          </a:p>
        </p:txBody>
      </p:sp>
      <p:sp>
        <p:nvSpPr>
          <p:cNvPr id="20" name="Footer"/>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8A9AA8"/>
                </a:solidFill>
                <a:latin typeface="Meiryo" pitchFamily="34" charset="0"/>
                <a:ea typeface="Meiryo" pitchFamily="34" charset="-122"/>
                <a:cs typeface="Meiryo" pitchFamily="34" charset="-120"/>
              </a:rPr>
              <a:t>日経ストックリーグ 2026｜後工程ニッチトップ × 地方クラスター</a:t>
            </a:r>
            <a:endParaRPr lang="en-US" sz="1200" dirty="0"/>
          </a:p>
        </p:txBody>
      </p:sp>
      <p:sp>
        <p:nvSpPr>
          <p:cNvPr id="21" name="PageNum"/>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8A9AA8"/>
                </a:solidFill>
                <a:latin typeface="Meiryo" pitchFamily="34" charset="0"/>
                <a:ea typeface="Meiryo" pitchFamily="34" charset="-122"/>
                <a:cs typeface="Meiryo" pitchFamily="34" charset="-120"/>
              </a:rPr>
              <a:t>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2026-07-13T14:17:19Z</dcterms:created>
  <dcterms:modified xsi:type="dcterms:W3CDTF">2026-07-13T14:17:19Z</dcterms:modified>
</cp:coreProperties>
</file>