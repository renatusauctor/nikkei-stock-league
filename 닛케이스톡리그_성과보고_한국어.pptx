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규슈</c:v>
                </c:pt>
              </c:strCache>
            </c:strRef>
          </c:tx>
          <c:spPr>
            <a:solidFill>
              <a:srgbClr val="C0713A"/>
            </a:solidFill>
            <a:effectLst/>
          </c:spPr>
          <c:invertIfNegative val="0"/>
          <c:dLbls>
            <c:numFmt formatCode="0.0&quot;%&quot;" sourceLinked="0"/>
            <c:txPr>
              <a:bodyPr/>
              <a:lstStyle/>
              <a:p>
                <a:pPr>
                  <a:defRPr b="0" i="0" strike="noStrike" sz="900" u="none">
                    <a:solidFill>
                      <a:srgbClr val="FFFFFF"/>
                    </a:solidFill>
                    <a:latin typeface="Malgun Gothic"/>
                  </a:defRPr>
                </a:pPr>
              </a:p>
            </c:txPr>
            <c:dLblPos val="inEnd"/>
            <c:showLegendKey val="0"/>
            <c:showVal val="1"/>
            <c:showCatName val="0"/>
            <c:showSerName val="0"/>
            <c:showPercent val="0"/>
            <c:showBubbleSize val="0"/>
            <c:showLeaderLines val="0"/>
          </c:dLbls>
          <c:cat>
            <c:multiLvlStrRef>
              <c:f>Sheet1!$A$2:$A$16</c:f>
              <c:multiLvlStrCache>
                <c:ptCount val="15"/>
                <c:lvl>
                  <c:pt idx="0">
                    <c:v>일본전자재료</c:v>
                  </c:pt>
                  <c:pt idx="1">
                    <c:v>테라프로브</c:v>
                  </c:pt>
                  <c:pt idx="2">
                    <c:v>스미토모BL</c:v>
                  </c:pt>
                  <c:pt idx="3">
                    <c:v>히라타기공</c:v>
                  </c:pt>
                  <c:pt idx="4">
                    <c:v>다이요HD</c:v>
                  </c:pt>
                  <c:pt idx="5">
                    <c:v>재팬머티리얼</c:v>
                  </c:pt>
                  <c:pt idx="6">
                    <c:v>일본필러공업</c:v>
                  </c:pt>
                  <c:pt idx="7">
                    <c:v>오르가노</c:v>
                  </c:pt>
                  <c:pt idx="8">
                    <c:v>호리바제작소</c:v>
                  </c:pt>
                  <c:pt idx="9">
                    <c:v>디스코</c:v>
                  </c:pt>
                  <c:pt idx="10">
                    <c:v>일본마이크로닉스</c:v>
                  </c:pt>
                  <c:pt idx="11">
                    <c:v>도쿄오카공업</c:v>
                  </c:pt>
                  <c:pt idx="12">
                    <c:v>로체</c:v>
                  </c:pt>
                  <c:pt idx="13">
                    <c:v>시바우라메카</c:v>
                  </c:pt>
                  <c:pt idx="14">
                    <c:v>닛토방적</c:v>
                  </c:pt>
                </c:lvl>
              </c:multiLvlStrCache>
            </c:multiLvlStrRef>
          </c:cat>
          <c:val>
            <c:numRef>
              <c:f>Sheet1!$B$2:$B$16</c:f>
              <c:numCache>
                <c:formatCode>General</c:formatCode>
                <c:ptCount val="15"/>
                <c:pt idx="0">
                  <c:v>9.41</c:v>
                </c:pt>
                <c:pt idx="1">
                  <c:v>9.14</c:v>
                </c:pt>
                <c:pt idx="2">
                  <c:v>8.86</c:v>
                </c:pt>
                <c:pt idx="3">
                  <c:v>8.32</c:v>
                </c:pt>
                <c:pt idx="4">
                  <c:v>8.18</c:v>
                </c:pt>
                <c:pt idx="5">
                  <c:v>7.09</c:v>
                </c:pt>
                <c:pt idx="6">
                  <c:v>6.55</c:v>
                </c:pt>
                <c:pt idx="7">
                  <c:v>6.41</c:v>
                </c:pt>
                <c:pt idx="8">
                  <c:v>6.27</c:v>
                </c:pt>
                <c:pt idx="9">
                  <c:v>6.14</c:v>
                </c:pt>
                <c:pt idx="10">
                  <c:v/>
                </c:pt>
                <c:pt idx="11">
                  <c:v>5.18</c:v>
                </c:pt>
                <c:pt idx="12">
                  <c:v>4.64</c:v>
                </c:pt>
                <c:pt idx="13">
                  <c:v>4.5</c:v>
                </c:pt>
                <c:pt idx="14">
                  <c:v/>
                </c:pt>
              </c:numCache>
            </c:numRef>
          </c:val>
        </c:ser>
        <c:ser>
          <c:idx val="1"/>
          <c:order val="1"/>
          <c:tx>
            <c:strRef>
              <c:f>Sheet1!$C$1</c:f>
              <c:strCache>
                <c:ptCount val="1"/>
                <c:pt idx="0">
                  <c:v>도호쿠</c:v>
                </c:pt>
              </c:strCache>
            </c:strRef>
          </c:tx>
          <c:spPr>
            <a:solidFill>
              <a:srgbClr val="4A6FA5"/>
            </a:solidFill>
            <a:effectLst/>
          </c:spPr>
          <c:invertIfNegative val="0"/>
          <c:dLbls>
            <c:numFmt formatCode="0.0&quot;%&quot;" sourceLinked="0"/>
            <c:txPr>
              <a:bodyPr/>
              <a:lstStyle/>
              <a:p>
                <a:pPr>
                  <a:defRPr b="0" i="0" strike="noStrike" sz="900" u="none">
                    <a:solidFill>
                      <a:srgbClr val="FFFFFF"/>
                    </a:solidFill>
                    <a:latin typeface="Malgun Gothic"/>
                  </a:defRPr>
                </a:pPr>
              </a:p>
            </c:txPr>
            <c:dLblPos val="inEnd"/>
            <c:showLegendKey val="0"/>
            <c:showVal val="1"/>
            <c:showCatName val="0"/>
            <c:showSerName val="0"/>
            <c:showPercent val="0"/>
            <c:showBubbleSize val="0"/>
            <c:showLeaderLines val="0"/>
          </c:dLbls>
          <c:cat>
            <c:multiLvlStrRef>
              <c:f>Sheet1!$A$2:$A$16</c:f>
              <c:multiLvlStrCache>
                <c:ptCount val="15"/>
                <c:lvl>
                  <c:pt idx="0">
                    <c:v>일본전자재료</c:v>
                  </c:pt>
                  <c:pt idx="1">
                    <c:v>테라프로브</c:v>
                  </c:pt>
                  <c:pt idx="2">
                    <c:v>스미토모BL</c:v>
                  </c:pt>
                  <c:pt idx="3">
                    <c:v>히라타기공</c:v>
                  </c:pt>
                  <c:pt idx="4">
                    <c:v>다이요HD</c:v>
                  </c:pt>
                  <c:pt idx="5">
                    <c:v>재팬머티리얼</c:v>
                  </c:pt>
                  <c:pt idx="6">
                    <c:v>일본필러공업</c:v>
                  </c:pt>
                  <c:pt idx="7">
                    <c:v>오르가노</c:v>
                  </c:pt>
                  <c:pt idx="8">
                    <c:v>호리바제작소</c:v>
                  </c:pt>
                  <c:pt idx="9">
                    <c:v>디스코</c:v>
                  </c:pt>
                  <c:pt idx="10">
                    <c:v>일본마이크로닉스</c:v>
                  </c:pt>
                  <c:pt idx="11">
                    <c:v>도쿄오카공업</c:v>
                  </c:pt>
                  <c:pt idx="12">
                    <c:v>로체</c:v>
                  </c:pt>
                  <c:pt idx="13">
                    <c:v>시바우라메카</c:v>
                  </c:pt>
                  <c:pt idx="14">
                    <c:v>닛토방적</c:v>
                  </c:pt>
                </c:lvl>
              </c:multiLvlStrCache>
            </c:multiLvlStrRef>
          </c:cat>
          <c:val>
            <c:numRef>
              <c:f>Sheet1!$C$2:$C$16</c:f>
              <c:numCache>
                <c:formatCode>General</c:formatCode>
                <c:ptCount val="15"/>
                <c:pt idx="0">
                  <c:v/>
                </c:pt>
                <c:pt idx="1">
                  <c:v/>
                </c:pt>
                <c:pt idx="2">
                  <c:v/>
                </c:pt>
                <c:pt idx="3">
                  <c:v/>
                </c:pt>
                <c:pt idx="4">
                  <c:v/>
                </c:pt>
                <c:pt idx="5">
                  <c:v/>
                </c:pt>
                <c:pt idx="6">
                  <c:v/>
                </c:pt>
                <c:pt idx="7">
                  <c:v/>
                </c:pt>
                <c:pt idx="8">
                  <c:v/>
                </c:pt>
                <c:pt idx="9">
                  <c:v/>
                </c:pt>
                <c:pt idx="10">
                  <c:v>5.32</c:v>
                </c:pt>
                <c:pt idx="11">
                  <c:v/>
                </c:pt>
                <c:pt idx="12">
                  <c:v/>
                </c:pt>
                <c:pt idx="13">
                  <c:v/>
                </c:pt>
                <c:pt idx="14">
                  <c:v>4</c:v>
                </c:pt>
              </c:numCache>
            </c:numRef>
          </c:val>
        </c:ser>
        <c:dLbls>
          <c:numFmt formatCode="0.0&quot;%&quot;" sourceLinked="0"/>
          <c:txPr>
            <a:bodyPr/>
            <a:lstStyle/>
            <a:p>
              <a:pPr>
                <a:defRPr b="0" i="0" strike="noStrike" sz="900" u="none">
                  <a:solidFill>
                    <a:srgbClr val="FFFFFF"/>
                  </a:solidFill>
                  <a:latin typeface="Malgun Gothic"/>
                </a:defRPr>
              </a:pPr>
            </a:p>
          </c:txPr>
          <c:dLblPos val="inEnd"/>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0293A"/>
                </a:solidFill>
                <a:latin typeface="Malgun Gothic"/>
              </a:defRPr>
            </a:pPr>
            <a:endParaRPr lang="en-US"/>
          </a:p>
        </c:txPr>
        <c:crossAx val="2094734552"/>
        <c:crosses val="autoZero"/>
        <c:auto val="1"/>
        <c:lblAlgn val="ctr"/>
        <c:noMultiLvlLbl val="1"/>
      </c:catAx>
      <c:valAx>
        <c:axId val="2094734552"/>
        <c:scaling>
          <c:orientation val="minMax"/>
          <c:max val="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0293A"/>
              </a:solidFill>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지금부터 닛케이 스톡리그 중간 성과를 보고드리겠습니다. 저희 테마는 '후공정 니치 톱 × 지방 클러스터'입니다. 핵심 메시지는 한 문장입니다 — 세계 1위급 반도체 기술은 도쿄가 아니라 구마모토, 아오모리, 후쿠시마에 있다는 것입니다. 오늘은 종목 선정(Phase 2)까지 완료된 결과와, 앞으로의 운용 계획(Phase 3)을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본론에 들어가기 전에, 이 대회가 뭔지 짧게 소개드리겠습니다. 닛케이 스톡리그는 니혼게이자이신문사가 여는 중고생·대학생 대상 투자 학습 대회입니다. 과제는 가상의 돈 500만엔으로 10에서 20종목을 골라 포트폴리오를 짜고, 그 '리포트'를 제출하는 것입니다. 여기서 가장 중요한 점 — 이 대회는 얼마를 벌었느냐로 평가하지 않습니다. 오직 리포트의 내용으로 심사합니다. 그래서 '왜 이 종목을 골랐는가'를 설명하는 게 전부입니다. 심사는 네 가지 시점 — 사회성, 조사·분석의 깊이, 분산투자·장기보유 이해, 학습 과정 — 을 보는데, 오늘 발표도 이 네 기둥을 따라갑니다. 저희 테마는 '반도체의 후공정과 지방'입니다. 후공정이 뭔지, 다음 슬라이드에서 먼저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반도체가 어떻게 만들어지는지부터 보겠습니다. 크게 두 단계입니다. 앞 단계인 '전공정'은 웨이퍼라는 둥근 판에 머리카락의 만 분의 일 굵기의 회로를 '그리는' 작업입니다. TSMC 구마모토, 라피더스 홋카이도처럼 거대한 공장에 집중되고, 뉴스에 나오는 주인공도 대개 여기입니다. 뒤 단계인 '후공정'은 그렇게 만든 웨이퍼를 하나씩 '자르고, 수지로 감싸고, 검사해서' 실제로 쓸 수 있는 칩으로 완성하는 작업입니다. 눈에 덜 띄지만 이게 없으면 칩은 제품이 못 됩니다. 핵심은 아래에 있습니다 — 전공정은 한 곳에 모을 수 있지만, 후공정은 소모품·장비·검사가 '팹 바로 옆'에 모입니다. 그래서 세계 1위급 후공정 기술이 도쿄가 아니라 지방, 즉 구마모토·아오모리·후쿠시마에 생겨납니다. 바로 이것이 저희 테마입니다.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전체 요약입니다. 조사 유니버스 105사에서 출발해, 재무·스코프 게이트로 48사, 그리고 입지와 공급 링크를 1차 정보로 전수 검증하는 '확정 앵커 게이트'로 최종 15사를 선정했습니다. 규슈 13사, 도호쿠 2사입니다. 15사 전원 재무·앵커 검증이 끝났고, 그중 9사는 시계열 인과(★★★)까지 확인했습니다. 가상자금 500만엔의 비중 설계도 수수료까지 반영해 완료된 상태입니다. 한 줄로 요약하면 — 선정은 앵커 게이트, 순위는 QARP, 비중은 현재가 기준입니다.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테마가 왜 사회적으로 의미가 있는가. 두 축입니다. 첫째, 지방창생 — 앵커 팹이 들어오면 지방에 고용과 생태계가 생깁니다. 구마모토 토박이 기업 히라타기공의 증산, 후쿠시마 닛토방적의 150억엔 신공장, 아오모리 마이크로닉스의 대형 투자가 그 실례입니다. 둘째, 경제안보 — 닛토방적은 경산성 공급확보계획 인정을 받았고, TSMC·라피더스 유치 자체가 국책입니다. 즉 저희 포트폴리오는 지방창생과 경제안보가 실제로 진행되고 있는지를 보여주는 '진행 지표'입니다.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가설의 이론적 근거입니다. 전공정, 즉 웨이퍼 제조는 자본집약적이라 소수의 메가팹에 집중되고 소재도 전 세계 배송이 가능합니다. 반면 후공정은 '가까이 있다는 것' 자체가 경쟁력입니다. 이유는 네 가지 — 첫째, 다이싱 테이프나 특수가스 같은 소모품은 매일 쓰기 때문에 근접 물류가 유리합니다. 둘째, 장비는 설치·유지보수·수율 튜닝 때문에 엔지니어 상주가 필요합니다. 셋째, 조립·검사는 팹 산출물을 받아서 처리하니 물리적 근접이 리드타임에 직결됩니다. 넷째, 칩렛 시대의 선단 패키징은 팹·소재·장비사의 공동개발 밀도가 승부처입니다. 그래서 후공정 생태계는 앵커 팹 주위에 모일 수밖에 없다 — 이 이론을 구마모토와 도호쿠에서 검증했습니다.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이론의 실증 첫 번째, 구마모토입니다. 포인트는 '시계열'입니다. TSMC가 2021년에 진출을 발표하고 2024년에 가동했는데, 그 '이후에' 수상과 증설이 이어졌습니다. 오르가노는 TSMC 신팹에 초순수를 직접 납품해 2024년 우수공급사상을 받았고, 디스코와 시바우라 메카트로닉스는 '선단 패키징' 부문 우수 서플라이어로 선정됐습니다. 도쿄오카는 발표 후 구마모토에 130억엔 신공장을 지었고, 구마모토 토박이 히라타기공은 신공장을 취득해 반도체 5할 증산에 들어갑니다. 오른쪽을 봐 주십시오 — 앵커는 TSMC 하나가 아닙니다. 미쓰비시전기의 SiC 파워반도체, 소니의 이미지센서 신공장, TEL규슈의 개발동까지 다층 구조입니다. 단일 기업 의존이 아니라는 점이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실증 두 번째, 도호쿠입니다. 앵커는 이와테의 키옥시아 기타카미 공장 — 작년 9월에 K2동이 가동한, 현재진행형 메가팹입니다. 아오모리의 일본마이크로닉스는 프로브카드 세계 상위로, 1981년부터 아오모리 히라카와가 최대 생산거점입니다. HBM 테스트 수요로 신동 110억엔에 추가 241억엔 투자를 발표했습니다. 후쿠시마의 닛토방적은 선단 패키지 기판에 필수인 T글라스 클로스를 후쿠시마에서 단독 생산하는 세계 톱입니다. 다만 여기서 정직하게 구분한 점이 있습니다 — 도호쿠 2사의 증설 동인은 구마모토처럼 '유치 때문'이 아니라 글로벌 AI 수요입니다. 그래서 저희는 이 축을 '밸류체인의 지리적 묶음'으로 과장 없이 서술합니다. 이 절제가 오히려 리포트의 신뢰도를 높인다고 판단했습니다.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선정 방법론은 3단계 게이트입니다. 1단계 레드라인 게이트 — 자기자본 40% 이상, 영업이익률 8% 이상이라는 재무 기준과, '전공정 전용 장비는 테마 밖'이라는 스코프 규칙으로 105사를 48사로 기계적으로 압축합니다. 2단계가 이번 프로젝트의 핵심인 확정 앵커 게이트입니다 — 48사 전부의 입지와 공급 링크를 유가증권보고서, IR, TSMC 수상 릴리스 같은 1차 정보로 전수 검증했습니다. 이 과정에서 가설 태그의 오류를 다수 반증했습니다. 태그와 검증은 다르다는 것을 몸으로 배웠습니다. 3단계는 통과한 15사 안에서 품질과 밸류를 50 대 50으로 종합하는 QARP 순위입니다. 즉 '테마를 검증하는 종목 안에서, 좋고 싸게'입니다.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저희 분석의 신뢰도를 지탱하는 부분입니다. 세 가지 규율입니다. 첫째, 점수가 높아도 뺐습니다 — QARP 2위 미쓰이금속, 4위 우에무라, 6위 어드밴테스트까지 9사는 세계 니치 톱이지만 지리 집적이 없어 제외했습니다. 고득점 종목을 뺀 것 자체가 체리피킹이 아니라는 증거입니다. 둘째, 인과의 사정거리를 구분했습니다 — 시계열 인과가 1차 정보로 확인되는 것은 9사뿐이고, 나머지 6사는 '규슈가 원래 반도체 소재의 토양'이라는 방증으로만 서술합니다. 셋째, '왜 100사인가'라는 지적에 실측으로 답했습니다 — 유니버스를 두 번 확장해 105사까지 넓혀도 최종 결과는 재팬머티리얼 1사 추가 외에 불변이었습니다. 결과를 결정하는 건 표본 수가 아니라 게이트 규율이라는 걸 증명한 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포트폴리오 15사 전체입니다. 배분 비중 순으로 정렬했습니다. 다이싱 세계 1위 디스코, 봉지재 세계 40% 스미토모 베이클라이트, 솔더레지스트 세계 1위 다이요HD처럼 각자 세계 니치에서 1위급인 기업들이고, 전원이 규슈 또는 도호쿠에 확정 앵커를 갖고 있습니다. 별 세 개는 시계열 인과까지 확인된 9사, 별 두 개는 입지가 확정된 6사입니다. 아래 주석도 중요합니다 — 15사의 후공정 직결도를 직결 8, 팹 공통 인프라 6, 전공정 병행 1로 정직하게 표기했습니다. '전원 순수 후공정'이라고 과장하지 않는 것까지가 저희 규율입니다.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비중 설계입니다. 원칙은 '비싸진 종목은 빼는 게 아니라 가볍게 든다'입니다. 산식은 세 가지 — 현재가 기준 QARP 점수에 비례시키되, 상한 10%로 단일 종목 의존을 막고, 하한 4%로 테마 입증에 필수인 도호쿠 2사 등이 형식적 편입이 되지 않게 보장합니다. 반도체 랠리로 밸류에이션이 크게 오른 디스코와 닛토방적은 인과의 상징성 때문에 빼지 않고 각각 6.1%, 4.0%로 가볍게 담았습니다. 예산 500만엔에서 매수 수수료 1.1%를 미리 차감해 매수 494만엔에 수수료 5.4만엔 — 규정을 정확히 반영한 설계입니다. 결과적으로 규슈 90.7%, 도호쿠 9.3%입니다.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스톡리그 심사는 수익률이 아니라 '분산투자와 장기보유의 이해'를 봅니다. 저희는 반도체 단일 테마라는 한계를 숨기지 않고, 대신 '테마 내 분산'을 설계 원리로 제시합니다. 세 축입니다 — 소모품·장비·소재·검사·인프라라는 밸류체인 단계 분산, 규슈와 도호쿠 그리고 다층 앵커라는 지역 분산, 전 종목 매출이 글로벌로 분산돼 있다는 고객 분산입니다. 장기보유 논리도 명확합니다 — 클러스터 형성은 수년 단위의 구조 변화라 가설 자체가 장기보유를 요구하고, 수수료 구조상 회전매매가 불리하며, 15종목 전부 배당을 실시합니다. 리셋 카드 2회는 원칙적으로 쓰지 않습니다. 가격이 떨어져도 팔지 않고 '왜 계속 보유했는가'를 서사로 만들 계획입니다.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리스크도 정면으로 다룹니다. 첫째, JASM 2공장이 지연되거나 축소될 가능성 — 구마모토 앵커는 소니, 미쓰비시전기, TEL규슈까지 다층이고, 각 사 매출은 글로벌로 분산돼 있어 클러스터 인과는 '성장 옵션'이지 손익의 전부가 아닙니다. 둘째, 대만 지정학 리스크 — TSMC 유사시는 세계 반도체 전체의 리스크지만, 동시에 공급망의 일본 이전을 가속하는 요인이기도 합니다. JASM 유치 자체가 그 산물이죠. 저희는 양면을 함께 서술합니다. 셋째, 반도체 사이클 하강 — 후공정 소모품과 테스트는 가동률에 민감하지만, AI·HBM의 구조적 수요와 QARP 밸류 규율이 완충이 됩니다. 고평가 종목은 애초에 억제했고, 유일한 예외인 디스코는 그 사실을 명시했습니다.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심사 기준 중 '학습 과정'에 대한 답변입니다. 저희는 실패를 숨기지 않고 그대로 기록했습니다. 첫째, 시가총액 자동 수집 스크립트가 단위를 잘못 읽어 15배로 오독한 사고가 있었습니다. 그 시스템을 통째로 폐기하고 '공표 표시값 인용 + 주가 곱하기 주식수 정합 체크 + 스크립트 검증'의 삼중 프로세스로 재설계했습니다. 둘째, 간토전화를 1년 묵은 기사로 잘못 판정할 뻔했다가 최신 결산 확인으로 복귀시켰습니다 — 숫자에는 신선도가 있다는 교훈입니다. 셋째, 초기 클러스터 태그는 오류투성이였습니다. 태그와 검증은 다르다는 걸 배우고 1차 정보 전수 검증으로 전환했습니다. 넷째, '왜 그 기준인가'라는 질문에 750가지 조합의 민감도 분석과 유니버스 2회 확장으로 실측 답변을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앞으로의 계획, Phase 3입니다. 7월 하순부터 8월 중순까지는 15사의 분기 결산이 집중되는 기간입니다. 이 대회는 주문 당일 종가로 체결되기 때문에 결산 발표 직전이나 당일 매수는 갭 리스크가 있습니다. 그래서 매수는 8월 중순 이후, 1분기 실적이 가격에 반영된 뒤에 재채점과 배분 계산을 일관 실행해서 집행할 계획입니다. 가을에는 필드워크 — IR 문의와 기업 방문으로 특히 별 두 개 6사의 정성적 증거를 심화합니다. 구마모토에 거점이 있는 히라타기공과 재팬머티리얼이 방문 후보입니다. 그리고 매주 금요일 종가로 닛케이평균, TOPIX, SOX 지수와 비교 기록을 남겨 '장기보유 관찰'의 재료로 만들고, 공식 양식이 확정되면 리포트 최종판을 집필합니다.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마무리하겠습니다. 저희가 확인한 것은 '세계 1위급은 지방에 있다'는 사실입니다. 105사에서 규율 있는 게이트로 15사를 골랐고, 점수가 높아도 증거가 없으면 뺐으며, 유니버스를 넓혀도 결론은 흔들리지 않았습니다. 구마모토, 아오모리, 후쿠시마 — 이 포트폴리오 자체가 지방창생과 경제안보의 진행 지표입니다. 다음 단계는 현장입니다. 매수를 실행하고, 필드워크로 인과를 1차 정보의 더 깊은 곳까지 파고들며, 실패까지 포함한 전 과정을 기록해 리포트로 제출하겠습니다. 이상으로 발표를 마칩니다.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F38"/>
        </a:solidFill>
      </p:bgPr>
    </p:bg>
    <p:spTree>
      <p:nvGrpSpPr>
        <p:cNvPr id="1" name=""/>
        <p:cNvGrpSpPr/>
        <p:nvPr/>
      </p:nvGrpSpPr>
      <p:grpSpPr>
        <a:xfrm>
          <a:off x="0" y="0"/>
          <a:ext cx="0" cy="0"/>
          <a:chOff x="0" y="0"/>
          <a:chExt cx="0" cy="0"/>
        </a:xfrm>
      </p:grpSpPr>
      <p:sp>
        <p:nvSpPr>
          <p:cNvPr id="2" name="Shape 0"/>
          <p:cNvSpPr/>
          <p:nvPr/>
        </p:nvSpPr>
        <p:spPr>
          <a:xfrm>
            <a:off x="6675120" y="320040"/>
            <a:ext cx="6217920" cy="6217920"/>
          </a:xfrm>
          <a:prstGeom prst="ellipse">
            <a:avLst/>
          </a:prstGeom>
          <a:ln w="12700">
            <a:solidFill>
              <a:srgbClr val="26385E"/>
            </a:solidFill>
            <a:prstDash val="solid"/>
          </a:ln>
        </p:spPr>
      </p:sp>
      <p:sp>
        <p:nvSpPr>
          <p:cNvPr id="3" name="Shape 1"/>
          <p:cNvSpPr/>
          <p:nvPr/>
        </p:nvSpPr>
        <p:spPr>
          <a:xfrm>
            <a:off x="7406640" y="1051560"/>
            <a:ext cx="4754880" cy="4754880"/>
          </a:xfrm>
          <a:prstGeom prst="ellipse">
            <a:avLst/>
          </a:prstGeom>
          <a:ln w="12700">
            <a:solidFill>
              <a:srgbClr val="26385E"/>
            </a:solidFill>
            <a:prstDash val="solid"/>
          </a:ln>
        </p:spPr>
      </p:sp>
      <p:sp>
        <p:nvSpPr>
          <p:cNvPr id="4" name="Shape 2"/>
          <p:cNvSpPr/>
          <p:nvPr/>
        </p:nvSpPr>
        <p:spPr>
          <a:xfrm>
            <a:off x="8092440" y="1737360"/>
            <a:ext cx="3383280" cy="3383280"/>
          </a:xfrm>
          <a:prstGeom prst="ellipse">
            <a:avLst/>
          </a:prstGeom>
          <a:ln w="19050">
            <a:solidFill>
              <a:srgbClr val="A55D2B"/>
            </a:solidFill>
            <a:prstDash val="solid"/>
          </a:ln>
        </p:spPr>
      </p:sp>
      <p:sp>
        <p:nvSpPr>
          <p:cNvPr id="5" name="Shape 3"/>
          <p:cNvSpPr/>
          <p:nvPr/>
        </p:nvSpPr>
        <p:spPr>
          <a:xfrm>
            <a:off x="8686800" y="2331720"/>
            <a:ext cx="2194560" cy="2194560"/>
          </a:xfrm>
          <a:prstGeom prst="ellipse">
            <a:avLst/>
          </a:prstGeom>
          <a:ln w="12700">
            <a:solidFill>
              <a:srgbClr val="26385E"/>
            </a:solidFill>
            <a:prstDash val="solid"/>
          </a:ln>
        </p:spPr>
      </p:sp>
      <p:sp>
        <p:nvSpPr>
          <p:cNvPr id="6" name="Shape 4"/>
          <p:cNvSpPr/>
          <p:nvPr/>
        </p:nvSpPr>
        <p:spPr>
          <a:xfrm>
            <a:off x="9189720" y="2834640"/>
            <a:ext cx="1188720" cy="1188720"/>
          </a:xfrm>
          <a:prstGeom prst="ellipse">
            <a:avLst/>
          </a:prstGeom>
          <a:ln w="12700">
            <a:solidFill>
              <a:srgbClr val="26385E"/>
            </a:solidFill>
            <a:prstDash val="solid"/>
          </a:ln>
        </p:spPr>
      </p:sp>
      <p:sp>
        <p:nvSpPr>
          <p:cNvPr id="7" name="Text 5"/>
          <p:cNvSpPr/>
          <p:nvPr/>
        </p:nvSpPr>
        <p:spPr>
          <a:xfrm>
            <a:off x="822960" y="1234440"/>
            <a:ext cx="7315200" cy="365760"/>
          </a:xfrm>
          <a:prstGeom prst="rect">
            <a:avLst/>
          </a:prstGeom>
          <a:noFill/>
          <a:ln/>
        </p:spPr>
        <p:txBody>
          <a:bodyPr wrap="square" lIns="0" tIns="0" rIns="0" bIns="0" rtlCol="0" anchor="ctr"/>
          <a:lstStyle/>
          <a:p>
            <a:pPr indent="0" marL="0">
              <a:buNone/>
            </a:pPr>
            <a:r>
              <a:rPr lang="en-US" sz="1500" b="1" spc="300" kern="0" dirty="0">
                <a:solidFill>
                  <a:srgbClr val="C0713A"/>
                </a:solidFill>
                <a:latin typeface="Malgun Gothic" pitchFamily="34" charset="0"/>
                <a:ea typeface="Malgun Gothic" pitchFamily="34" charset="-122"/>
                <a:cs typeface="Malgun Gothic" pitchFamily="34" charset="-120"/>
              </a:rPr>
              <a:t>닛케이 스톡리그 2026 ｜ 중간 성과 보고</a:t>
            </a:r>
            <a:endParaRPr lang="en-US" sz="1500" dirty="0"/>
          </a:p>
        </p:txBody>
      </p:sp>
      <p:sp>
        <p:nvSpPr>
          <p:cNvPr id="8" name="Text 6"/>
          <p:cNvSpPr/>
          <p:nvPr/>
        </p:nvSpPr>
        <p:spPr>
          <a:xfrm>
            <a:off x="822960" y="1783080"/>
            <a:ext cx="8778240" cy="2103120"/>
          </a:xfrm>
          <a:prstGeom prst="rect">
            <a:avLst/>
          </a:prstGeom>
          <a:noFill/>
          <a:ln/>
        </p:spPr>
        <p:txBody>
          <a:bodyPr wrap="square" lIns="0" tIns="0" rIns="0" bIns="0" rtlCol="0" anchor="ctr"/>
          <a:lstStyle/>
          <a:p>
            <a:pPr indent="0" marL="0">
              <a:lnSpc>
                <a:spcPct val="110000"/>
              </a:lnSpc>
              <a:buNone/>
            </a:pPr>
            <a:r>
              <a:rPr lang="en-US" sz="4400" b="1" dirty="0">
                <a:solidFill>
                  <a:srgbClr val="FFFFFF"/>
                </a:solidFill>
                <a:latin typeface="Malgun Gothic" pitchFamily="34" charset="0"/>
                <a:ea typeface="Malgun Gothic" pitchFamily="34" charset="-122"/>
                <a:cs typeface="Malgun Gothic" pitchFamily="34" charset="-120"/>
              </a:rPr>
              <a:t>후공정 니치 톱</a:t>
            </a:r>
            <a:endParaRPr lang="en-US" sz="4400" dirty="0"/>
          </a:p>
          <a:p>
            <a:pPr indent="0" marL="0">
              <a:lnSpc>
                <a:spcPct val="110000"/>
              </a:lnSpc>
              <a:buNone/>
            </a:pPr>
            <a:r>
              <a:rPr lang="en-US" sz="4400" b="1" dirty="0">
                <a:solidFill>
                  <a:srgbClr val="FFFFFF"/>
                </a:solidFill>
                <a:latin typeface="Malgun Gothic" pitchFamily="34" charset="0"/>
                <a:ea typeface="Malgun Gothic" pitchFamily="34" charset="-122"/>
                <a:cs typeface="Malgun Gothic" pitchFamily="34" charset="-120"/>
              </a:rPr>
              <a:t>× 지방 클러스터</a:t>
            </a:r>
            <a:endParaRPr lang="en-US" sz="4400" dirty="0"/>
          </a:p>
        </p:txBody>
      </p:sp>
      <p:sp>
        <p:nvSpPr>
          <p:cNvPr id="9" name="Text 7"/>
          <p:cNvSpPr/>
          <p:nvPr/>
        </p:nvSpPr>
        <p:spPr>
          <a:xfrm>
            <a:off x="822960" y="4114800"/>
            <a:ext cx="9692640" cy="457200"/>
          </a:xfrm>
          <a:prstGeom prst="rect">
            <a:avLst/>
          </a:prstGeom>
          <a:noFill/>
          <a:ln/>
        </p:spPr>
        <p:txBody>
          <a:bodyPr wrap="square" lIns="0" tIns="0" rIns="0" bIns="0" rtlCol="0" anchor="ctr"/>
          <a:lstStyle/>
          <a:p>
            <a:pPr indent="0" marL="0">
              <a:buNone/>
            </a:pPr>
            <a:r>
              <a:rPr lang="en-US" sz="1600" dirty="0">
                <a:solidFill>
                  <a:srgbClr val="DCE6F2"/>
                </a:solidFill>
                <a:latin typeface="Malgun Gothic" pitchFamily="34" charset="0"/>
                <a:ea typeface="Malgun Gothic" pitchFamily="34" charset="-122"/>
                <a:cs typeface="Malgun Gothic" pitchFamily="34" charset="-120"/>
              </a:rPr>
              <a:t>세계 1위급 반도체 기술은 도쿄가 아니라 — 구마모토·아오모리·후쿠시마에 있다.</a:t>
            </a:r>
            <a:endParaRPr lang="en-US" sz="1600" dirty="0"/>
          </a:p>
        </p:txBody>
      </p:sp>
      <p:sp>
        <p:nvSpPr>
          <p:cNvPr id="10" name="Shape 8"/>
          <p:cNvSpPr/>
          <p:nvPr/>
        </p:nvSpPr>
        <p:spPr>
          <a:xfrm>
            <a:off x="822960" y="5029200"/>
            <a:ext cx="2011680" cy="0"/>
          </a:xfrm>
          <a:prstGeom prst="line">
            <a:avLst/>
          </a:prstGeom>
          <a:noFill/>
          <a:ln w="25400">
            <a:solidFill>
              <a:srgbClr val="C0713A"/>
            </a:solidFill>
            <a:prstDash val="solid"/>
          </a:ln>
        </p:spPr>
      </p:sp>
      <p:sp>
        <p:nvSpPr>
          <p:cNvPr id="11" name="Text 9"/>
          <p:cNvSpPr/>
          <p:nvPr/>
        </p:nvSpPr>
        <p:spPr>
          <a:xfrm>
            <a:off x="822960" y="5212080"/>
            <a:ext cx="8686800" cy="365760"/>
          </a:xfrm>
          <a:prstGeom prst="rect">
            <a:avLst/>
          </a:prstGeom>
          <a:noFill/>
          <a:ln/>
        </p:spPr>
        <p:txBody>
          <a:bodyPr wrap="square" lIns="0" tIns="0" rIns="0" bIns="0" rtlCol="0" anchor="ctr"/>
          <a:lstStyle/>
          <a:p>
            <a:pPr indent="0" marL="0">
              <a:buNone/>
            </a:pPr>
            <a:r>
              <a:rPr lang="en-US" sz="1250" dirty="0">
                <a:solidFill>
                  <a:srgbClr val="8FA3C4"/>
                </a:solidFill>
                <a:latin typeface="Malgun Gothic" pitchFamily="34" charset="0"/>
                <a:ea typeface="Malgun Gothic" pitchFamily="34" charset="-122"/>
                <a:cs typeface="Malgun Gothic" pitchFamily="34" charset="-120"/>
              </a:rPr>
              <a:t>2026년 7월 13일　｜　Phase 2(선정·검증) 완료 ・ Phase 3(운용) 계획</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algun Gothic" pitchFamily="34" charset="0"/>
                <a:ea typeface="Malgun Gothic" pitchFamily="34" charset="-122"/>
                <a:cs typeface="Malgun Gothic" pitchFamily="34" charset="-120"/>
              </a:rPr>
              <a:t>ABOUT THIS COMPETITION</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300" b="1" dirty="0">
                <a:solidFill>
                  <a:srgbClr val="1C2B4A"/>
                </a:solidFill>
                <a:latin typeface="Malgun Gothic" pitchFamily="34" charset="0"/>
                <a:ea typeface="Malgun Gothic" pitchFamily="34" charset="-122"/>
                <a:cs typeface="Malgun Gothic" pitchFamily="34" charset="-120"/>
              </a:rPr>
              <a:t>닛케이 스톡리그란? — 이 발표의 전제</a:t>
            </a:r>
            <a:endParaRPr lang="en-US" sz="23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algun Gothic" pitchFamily="34" charset="0"/>
                <a:ea typeface="Malgun Gothic" pitchFamily="34" charset="-122"/>
                <a:cs typeface="Malgun Gothic" pitchFamily="34" charset="-120"/>
              </a:rPr>
              <a:t>닛케이 스톡리그 2026｜후공정 니치 톱 × 지방 클러스터</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algun Gothic" pitchFamily="34" charset="0"/>
                <a:ea typeface="Malgun Gothic" pitchFamily="34" charset="-122"/>
                <a:cs typeface="Malgun Gothic" pitchFamily="34" charset="-120"/>
              </a:rPr>
              <a:t>2</a:t>
            </a:r>
            <a:endParaRPr lang="en-US" sz="900" dirty="0"/>
          </a:p>
        </p:txBody>
      </p:sp>
      <p:sp>
        <p:nvSpPr>
          <p:cNvPr id="9" name="Shape 7"/>
          <p:cNvSpPr/>
          <p:nvPr/>
        </p:nvSpPr>
        <p:spPr>
          <a:xfrm>
            <a:off x="548640" y="1371600"/>
            <a:ext cx="5257800" cy="3794760"/>
          </a:xfrm>
          <a:prstGeom prst="roundRect">
            <a:avLst>
              <a:gd name="adj" fmla="val 1687"/>
            </a:avLst>
          </a:prstGeom>
          <a:solidFill>
            <a:srgbClr val="F3F6FA"/>
          </a:solidFill>
          <a:ln/>
        </p:spPr>
      </p:sp>
      <p:sp>
        <p:nvSpPr>
          <p:cNvPr id="10" name="Text 8"/>
          <p:cNvSpPr/>
          <p:nvPr/>
        </p:nvSpPr>
        <p:spPr>
          <a:xfrm>
            <a:off x="822960" y="1591056"/>
            <a:ext cx="4709160" cy="365760"/>
          </a:xfrm>
          <a:prstGeom prst="rect">
            <a:avLst/>
          </a:prstGeom>
          <a:noFill/>
          <a:ln/>
        </p:spPr>
        <p:txBody>
          <a:bodyPr wrap="square" lIns="0" tIns="0" rIns="0" bIns="0" rtlCol="0" anchor="ctr"/>
          <a:lstStyle/>
          <a:p>
            <a:pPr indent="0" marL="0">
              <a:buNone/>
            </a:pPr>
            <a:r>
              <a:rPr lang="en-US" sz="1600" b="1" dirty="0">
                <a:solidFill>
                  <a:srgbClr val="1C2B4A"/>
                </a:solidFill>
                <a:latin typeface="Malgun Gothic" pitchFamily="34" charset="0"/>
                <a:ea typeface="Malgun Gothic" pitchFamily="34" charset="-122"/>
                <a:cs typeface="Malgun Gothic" pitchFamily="34" charset="-120"/>
              </a:rPr>
              <a:t>어떤 대회인가?</a:t>
            </a:r>
            <a:endParaRPr lang="en-US" sz="1600" dirty="0"/>
          </a:p>
        </p:txBody>
      </p:sp>
      <p:sp>
        <p:nvSpPr>
          <p:cNvPr id="11" name="Text 9"/>
          <p:cNvSpPr/>
          <p:nvPr/>
        </p:nvSpPr>
        <p:spPr>
          <a:xfrm>
            <a:off x="822960" y="2121408"/>
            <a:ext cx="4709160" cy="960120"/>
          </a:xfrm>
          <a:prstGeom prst="rect">
            <a:avLst/>
          </a:prstGeom>
          <a:noFill/>
          <a:ln/>
        </p:spPr>
        <p:txBody>
          <a:bodyPr wrap="square" lIns="0" tIns="0" rIns="0" bIns="0" rtlCol="0" anchor="t"/>
          <a:lstStyle/>
          <a:p>
            <a:pPr indent="0" marL="0">
              <a:buNone/>
            </a:pPr>
            <a:r>
              <a:rPr lang="en-US" sz="1300" b="1" dirty="0">
                <a:solidFill>
                  <a:srgbClr val="A55D2B"/>
                </a:solidFill>
                <a:latin typeface="Malgun Gothic" pitchFamily="34" charset="0"/>
                <a:ea typeface="Malgun Gothic" pitchFamily="34" charset="-122"/>
                <a:cs typeface="Malgun Gothic" pitchFamily="34" charset="-120"/>
              </a:rPr>
              <a:t>주최·대상</a:t>
            </a:r>
            <a:endParaRPr lang="en-US" sz="1300" dirty="0"/>
          </a:p>
          <a:p>
            <a:pPr indent="0" marL="0">
              <a:buNone/>
            </a:pPr>
            <a:r>
              <a:rPr lang="en-US" sz="1150" dirty="0">
                <a:solidFill>
                  <a:srgbClr val="5B6B7F"/>
                </a:solidFill>
                <a:latin typeface="Malgun Gothic" pitchFamily="34" charset="0"/>
                <a:ea typeface="Malgun Gothic" pitchFamily="34" charset="-122"/>
                <a:cs typeface="Malgun Gothic" pitchFamily="34" charset="-120"/>
              </a:rPr>
              <a:t>니혼게이자이신문사가 여는, 중고생~대학생 대상 '투자를 배우는' 대회.</a:t>
            </a:r>
            <a:endParaRPr lang="en-US" sz="1300" dirty="0"/>
          </a:p>
        </p:txBody>
      </p:sp>
      <p:sp>
        <p:nvSpPr>
          <p:cNvPr id="12" name="Text 10"/>
          <p:cNvSpPr/>
          <p:nvPr/>
        </p:nvSpPr>
        <p:spPr>
          <a:xfrm>
            <a:off x="822960" y="3108960"/>
            <a:ext cx="4709160" cy="960120"/>
          </a:xfrm>
          <a:prstGeom prst="rect">
            <a:avLst/>
          </a:prstGeom>
          <a:noFill/>
          <a:ln/>
        </p:spPr>
        <p:txBody>
          <a:bodyPr wrap="square" lIns="0" tIns="0" rIns="0" bIns="0" rtlCol="0" anchor="t"/>
          <a:lstStyle/>
          <a:p>
            <a:pPr indent="0" marL="0">
              <a:buNone/>
            </a:pPr>
            <a:r>
              <a:rPr lang="en-US" sz="1300" b="1" dirty="0">
                <a:solidFill>
                  <a:srgbClr val="A55D2B"/>
                </a:solidFill>
                <a:latin typeface="Malgun Gothic" pitchFamily="34" charset="0"/>
                <a:ea typeface="Malgun Gothic" pitchFamily="34" charset="-122"/>
                <a:cs typeface="Malgun Gothic" pitchFamily="34" charset="-120"/>
              </a:rPr>
              <a:t>과제</a:t>
            </a:r>
            <a:endParaRPr lang="en-US" sz="1300" dirty="0"/>
          </a:p>
          <a:p>
            <a:pPr indent="0" marL="0">
              <a:buNone/>
            </a:pPr>
            <a:r>
              <a:rPr lang="en-US" sz="1150" dirty="0">
                <a:solidFill>
                  <a:srgbClr val="5B6B7F"/>
                </a:solidFill>
                <a:latin typeface="Malgun Gothic" pitchFamily="34" charset="0"/>
                <a:ea typeface="Malgun Gothic" pitchFamily="34" charset="-122"/>
                <a:cs typeface="Malgun Gothic" pitchFamily="34" charset="-120"/>
              </a:rPr>
              <a:t>가상의 돈 500만엔으로 10~20종목을 골라, 포트폴리오와 '리포트'를 제출한다.</a:t>
            </a:r>
            <a:endParaRPr lang="en-US" sz="1300" dirty="0"/>
          </a:p>
        </p:txBody>
      </p:sp>
      <p:sp>
        <p:nvSpPr>
          <p:cNvPr id="13" name="Text 11"/>
          <p:cNvSpPr/>
          <p:nvPr/>
        </p:nvSpPr>
        <p:spPr>
          <a:xfrm>
            <a:off x="822960" y="4096512"/>
            <a:ext cx="4709160" cy="960120"/>
          </a:xfrm>
          <a:prstGeom prst="rect">
            <a:avLst/>
          </a:prstGeom>
          <a:noFill/>
          <a:ln/>
        </p:spPr>
        <p:txBody>
          <a:bodyPr wrap="square" lIns="0" tIns="0" rIns="0" bIns="0" rtlCol="0" anchor="t"/>
          <a:lstStyle/>
          <a:p>
            <a:pPr indent="0" marL="0">
              <a:buNone/>
            </a:pPr>
            <a:r>
              <a:rPr lang="en-US" sz="1300" b="1" dirty="0">
                <a:solidFill>
                  <a:srgbClr val="A55D2B"/>
                </a:solidFill>
                <a:latin typeface="Malgun Gothic" pitchFamily="34" charset="0"/>
                <a:ea typeface="Malgun Gothic" pitchFamily="34" charset="-122"/>
                <a:cs typeface="Malgun Gothic" pitchFamily="34" charset="-120"/>
              </a:rPr>
              <a:t>가장 중요한 것</a:t>
            </a:r>
            <a:endParaRPr lang="en-US" sz="1300" dirty="0"/>
          </a:p>
          <a:p>
            <a:pPr indent="0" marL="0">
              <a:buNone/>
            </a:pPr>
            <a:r>
              <a:rPr lang="en-US" sz="1150" dirty="0">
                <a:solidFill>
                  <a:srgbClr val="5B6B7F"/>
                </a:solidFill>
                <a:latin typeface="Malgun Gothic" pitchFamily="34" charset="0"/>
                <a:ea typeface="Malgun Gothic" pitchFamily="34" charset="-122"/>
                <a:cs typeface="Malgun Gothic" pitchFamily="34" charset="-120"/>
              </a:rPr>
              <a:t>번 금액으로는 평가받지 않는다 — 리포트의 내용으로 심사된다. 그래서 '왜 골랐는가'의 설명이 전부.</a:t>
            </a:r>
            <a:endParaRPr lang="en-US" sz="1300" dirty="0"/>
          </a:p>
        </p:txBody>
      </p:sp>
      <p:sp>
        <p:nvSpPr>
          <p:cNvPr id="14" name="Text 12"/>
          <p:cNvSpPr/>
          <p:nvPr/>
        </p:nvSpPr>
        <p:spPr>
          <a:xfrm>
            <a:off x="6080760" y="1353312"/>
            <a:ext cx="5562295" cy="365760"/>
          </a:xfrm>
          <a:prstGeom prst="rect">
            <a:avLst/>
          </a:prstGeom>
          <a:noFill/>
          <a:ln/>
        </p:spPr>
        <p:txBody>
          <a:bodyPr wrap="square" lIns="0" tIns="0" rIns="0" bIns="0" rtlCol="0" anchor="ctr"/>
          <a:lstStyle/>
          <a:p>
            <a:pPr indent="0" marL="0">
              <a:buNone/>
            </a:pPr>
            <a:r>
              <a:rPr lang="en-US" sz="1300" b="1" dirty="0">
                <a:solidFill>
                  <a:srgbClr val="1C2B4A"/>
                </a:solidFill>
                <a:latin typeface="Malgun Gothic" pitchFamily="34" charset="0"/>
                <a:ea typeface="Malgun Gothic" pitchFamily="34" charset="-122"/>
                <a:cs typeface="Malgun Gothic" pitchFamily="34" charset="-120"/>
              </a:rPr>
              <a:t>심사의 4가지 관점 (＝이후 발표의 기둥)</a:t>
            </a:r>
            <a:endParaRPr lang="en-US" sz="1300" dirty="0"/>
          </a:p>
        </p:txBody>
      </p:sp>
      <p:sp>
        <p:nvSpPr>
          <p:cNvPr id="15" name="Shape 13"/>
          <p:cNvSpPr/>
          <p:nvPr/>
        </p:nvSpPr>
        <p:spPr>
          <a:xfrm>
            <a:off x="6080760" y="1828800"/>
            <a:ext cx="5562295" cy="749808"/>
          </a:xfrm>
          <a:prstGeom prst="roundRect">
            <a:avLst>
              <a:gd name="adj" fmla="val 8537"/>
            </a:avLst>
          </a:prstGeom>
          <a:solidFill>
            <a:srgbClr val="F3F6FA"/>
          </a:solidFill>
          <a:ln/>
        </p:spPr>
      </p:sp>
      <p:sp>
        <p:nvSpPr>
          <p:cNvPr id="16" name="Text 14"/>
          <p:cNvSpPr/>
          <p:nvPr/>
        </p:nvSpPr>
        <p:spPr>
          <a:xfrm>
            <a:off x="6300216" y="1975104"/>
            <a:ext cx="457200" cy="457200"/>
          </a:xfrm>
          <a:prstGeom prst="ellipse">
            <a:avLst/>
          </a:prstGeom>
          <a:solidFill>
            <a:srgbClr val="C0713A"/>
          </a:solid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17" name="Text 15"/>
          <p:cNvSpPr/>
          <p:nvPr/>
        </p:nvSpPr>
        <p:spPr>
          <a:xfrm>
            <a:off x="6940296" y="1920240"/>
            <a:ext cx="4465015" cy="566928"/>
          </a:xfrm>
          <a:prstGeom prst="rect">
            <a:avLst/>
          </a:prstGeom>
          <a:noFill/>
          <a:ln/>
        </p:spPr>
        <p:txBody>
          <a:bodyPr wrap="square" lIns="0" tIns="0" rIns="0" bIns="0" rtlCol="0" anchor="ctr"/>
          <a:lstStyle/>
          <a:p>
            <a:pPr indent="0" marL="0">
              <a:buNone/>
            </a:pPr>
            <a:r>
              <a:rPr lang="en-US" sz="1250" b="1" dirty="0">
                <a:solidFill>
                  <a:srgbClr val="1C2B4A"/>
                </a:solidFill>
                <a:latin typeface="Malgun Gothic" pitchFamily="34" charset="0"/>
                <a:ea typeface="Malgun Gothic" pitchFamily="34" charset="-122"/>
                <a:cs typeface="Malgun Gothic" pitchFamily="34" charset="-120"/>
              </a:rPr>
              <a:t>사회성　</a:t>
            </a:r>
            <a:pPr indent="0" marL="0">
              <a:buNone/>
            </a:pPr>
            <a:r>
              <a:rPr lang="en-US" sz="1100" dirty="0">
                <a:solidFill>
                  <a:srgbClr val="5B6B7F"/>
                </a:solidFill>
                <a:latin typeface="Malgun Gothic" pitchFamily="34" charset="0"/>
                <a:ea typeface="Malgun Gothic" pitchFamily="34" charset="-122"/>
                <a:cs typeface="Malgun Gothic" pitchFamily="34" charset="-120"/>
              </a:rPr>
              <a:t>테마가 사회 문제와 연결되어 있는가</a:t>
            </a:r>
            <a:endParaRPr lang="en-US" sz="1250" dirty="0"/>
          </a:p>
        </p:txBody>
      </p:sp>
      <p:sp>
        <p:nvSpPr>
          <p:cNvPr id="18" name="Shape 16"/>
          <p:cNvSpPr/>
          <p:nvPr/>
        </p:nvSpPr>
        <p:spPr>
          <a:xfrm>
            <a:off x="6080760" y="2670048"/>
            <a:ext cx="5562295" cy="749808"/>
          </a:xfrm>
          <a:prstGeom prst="roundRect">
            <a:avLst>
              <a:gd name="adj" fmla="val 8537"/>
            </a:avLst>
          </a:prstGeom>
          <a:solidFill>
            <a:srgbClr val="F3F6FA"/>
          </a:solidFill>
          <a:ln/>
        </p:spPr>
      </p:sp>
      <p:sp>
        <p:nvSpPr>
          <p:cNvPr id="19" name="Text 17"/>
          <p:cNvSpPr/>
          <p:nvPr/>
        </p:nvSpPr>
        <p:spPr>
          <a:xfrm>
            <a:off x="6300216" y="2816352"/>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20" name="Text 18"/>
          <p:cNvSpPr/>
          <p:nvPr/>
        </p:nvSpPr>
        <p:spPr>
          <a:xfrm>
            <a:off x="6940296" y="2761488"/>
            <a:ext cx="4465015" cy="566928"/>
          </a:xfrm>
          <a:prstGeom prst="rect">
            <a:avLst/>
          </a:prstGeom>
          <a:noFill/>
          <a:ln/>
        </p:spPr>
        <p:txBody>
          <a:bodyPr wrap="square" lIns="0" tIns="0" rIns="0" bIns="0" rtlCol="0" anchor="ctr"/>
          <a:lstStyle/>
          <a:p>
            <a:pPr indent="0" marL="0">
              <a:buNone/>
            </a:pPr>
            <a:r>
              <a:rPr lang="en-US" sz="1250" b="1" dirty="0">
                <a:solidFill>
                  <a:srgbClr val="1C2B4A"/>
                </a:solidFill>
                <a:latin typeface="Malgun Gothic" pitchFamily="34" charset="0"/>
                <a:ea typeface="Malgun Gothic" pitchFamily="34" charset="-122"/>
                <a:cs typeface="Malgun Gothic" pitchFamily="34" charset="-120"/>
              </a:rPr>
              <a:t>조사·분석의 깊이　</a:t>
            </a:r>
            <a:pPr indent="0" marL="0">
              <a:buNone/>
            </a:pPr>
            <a:r>
              <a:rPr lang="en-US" sz="1100" dirty="0">
                <a:solidFill>
                  <a:srgbClr val="5B6B7F"/>
                </a:solidFill>
                <a:latin typeface="Malgun Gothic" pitchFamily="34" charset="0"/>
                <a:ea typeface="Malgun Gothic" pitchFamily="34" charset="-122"/>
                <a:cs typeface="Malgun Gothic" pitchFamily="34" charset="-120"/>
              </a:rPr>
              <a:t>얼마나 꼼꼼하게 조사하고 검증했는가</a:t>
            </a:r>
            <a:endParaRPr lang="en-US" sz="1250" dirty="0"/>
          </a:p>
        </p:txBody>
      </p:sp>
      <p:sp>
        <p:nvSpPr>
          <p:cNvPr id="21" name="Shape 19"/>
          <p:cNvSpPr/>
          <p:nvPr/>
        </p:nvSpPr>
        <p:spPr>
          <a:xfrm>
            <a:off x="6080760" y="3511296"/>
            <a:ext cx="5562295" cy="749808"/>
          </a:xfrm>
          <a:prstGeom prst="roundRect">
            <a:avLst>
              <a:gd name="adj" fmla="val 8537"/>
            </a:avLst>
          </a:prstGeom>
          <a:solidFill>
            <a:srgbClr val="F3F6FA"/>
          </a:solidFill>
          <a:ln/>
        </p:spPr>
      </p:sp>
      <p:sp>
        <p:nvSpPr>
          <p:cNvPr id="22" name="Text 20"/>
          <p:cNvSpPr/>
          <p:nvPr/>
        </p:nvSpPr>
        <p:spPr>
          <a:xfrm>
            <a:off x="6300216" y="3657600"/>
            <a:ext cx="457200" cy="457200"/>
          </a:xfrm>
          <a:prstGeom prst="ellipse">
            <a:avLst/>
          </a:prstGeom>
          <a:solidFill>
            <a:srgbClr val="C0713A"/>
          </a:solid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23" name="Text 21"/>
          <p:cNvSpPr/>
          <p:nvPr/>
        </p:nvSpPr>
        <p:spPr>
          <a:xfrm>
            <a:off x="6940296" y="3602736"/>
            <a:ext cx="4465015" cy="566928"/>
          </a:xfrm>
          <a:prstGeom prst="rect">
            <a:avLst/>
          </a:prstGeom>
          <a:noFill/>
          <a:ln/>
        </p:spPr>
        <p:txBody>
          <a:bodyPr wrap="square" lIns="0" tIns="0" rIns="0" bIns="0" rtlCol="0" anchor="ctr"/>
          <a:lstStyle/>
          <a:p>
            <a:pPr indent="0" marL="0">
              <a:buNone/>
            </a:pPr>
            <a:r>
              <a:rPr lang="en-US" sz="1250" b="1" dirty="0">
                <a:solidFill>
                  <a:srgbClr val="1C2B4A"/>
                </a:solidFill>
                <a:latin typeface="Malgun Gothic" pitchFamily="34" charset="0"/>
                <a:ea typeface="Malgun Gothic" pitchFamily="34" charset="-122"/>
                <a:cs typeface="Malgun Gothic" pitchFamily="34" charset="-120"/>
              </a:rPr>
              <a:t>분산투자·장기보유의 이해　</a:t>
            </a:r>
            <a:pPr indent="0" marL="0">
              <a:buNone/>
            </a:pPr>
            <a:r>
              <a:rPr lang="en-US" sz="1100" dirty="0">
                <a:solidFill>
                  <a:srgbClr val="5B6B7F"/>
                </a:solidFill>
                <a:latin typeface="Malgun Gothic" pitchFamily="34" charset="0"/>
                <a:ea typeface="Malgun Gothic" pitchFamily="34" charset="-122"/>
                <a:cs typeface="Malgun Gothic" pitchFamily="34" charset="-120"/>
              </a:rPr>
              <a:t>리스크를 나누고, 오래 보유하는 설계인가</a:t>
            </a:r>
            <a:endParaRPr lang="en-US" sz="1250" dirty="0"/>
          </a:p>
        </p:txBody>
      </p:sp>
      <p:sp>
        <p:nvSpPr>
          <p:cNvPr id="24" name="Shape 22"/>
          <p:cNvSpPr/>
          <p:nvPr/>
        </p:nvSpPr>
        <p:spPr>
          <a:xfrm>
            <a:off x="6080760" y="4352544"/>
            <a:ext cx="5562295" cy="749808"/>
          </a:xfrm>
          <a:prstGeom prst="roundRect">
            <a:avLst>
              <a:gd name="adj" fmla="val 8537"/>
            </a:avLst>
          </a:prstGeom>
          <a:solidFill>
            <a:srgbClr val="F3F6FA"/>
          </a:solidFill>
          <a:ln/>
        </p:spPr>
      </p:sp>
      <p:sp>
        <p:nvSpPr>
          <p:cNvPr id="25" name="Text 23"/>
          <p:cNvSpPr/>
          <p:nvPr/>
        </p:nvSpPr>
        <p:spPr>
          <a:xfrm>
            <a:off x="6300216" y="4498848"/>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26" name="Text 24"/>
          <p:cNvSpPr/>
          <p:nvPr/>
        </p:nvSpPr>
        <p:spPr>
          <a:xfrm>
            <a:off x="6940296" y="4443984"/>
            <a:ext cx="4465015" cy="566928"/>
          </a:xfrm>
          <a:prstGeom prst="rect">
            <a:avLst/>
          </a:prstGeom>
          <a:noFill/>
          <a:ln/>
        </p:spPr>
        <p:txBody>
          <a:bodyPr wrap="square" lIns="0" tIns="0" rIns="0" bIns="0" rtlCol="0" anchor="ctr"/>
          <a:lstStyle/>
          <a:p>
            <a:pPr indent="0" marL="0">
              <a:buNone/>
            </a:pPr>
            <a:r>
              <a:rPr lang="en-US" sz="1250" b="1" dirty="0">
                <a:solidFill>
                  <a:srgbClr val="1C2B4A"/>
                </a:solidFill>
                <a:latin typeface="Malgun Gothic" pitchFamily="34" charset="0"/>
                <a:ea typeface="Malgun Gothic" pitchFamily="34" charset="-122"/>
                <a:cs typeface="Malgun Gothic" pitchFamily="34" charset="-120"/>
              </a:rPr>
              <a:t>학습 과정　</a:t>
            </a:r>
            <a:pPr indent="0" marL="0">
              <a:buNone/>
            </a:pPr>
            <a:r>
              <a:rPr lang="en-US" sz="1100" dirty="0">
                <a:solidFill>
                  <a:srgbClr val="5B6B7F"/>
                </a:solidFill>
                <a:latin typeface="Malgun Gothic" pitchFamily="34" charset="0"/>
                <a:ea typeface="Malgun Gothic" pitchFamily="34" charset="-122"/>
                <a:cs typeface="Malgun Gothic" pitchFamily="34" charset="-120"/>
              </a:rPr>
              <a:t>실패를 포함해, 어떻게 배웠는가</a:t>
            </a:r>
            <a:endParaRPr lang="en-US" sz="1250" dirty="0"/>
          </a:p>
        </p:txBody>
      </p:sp>
      <p:sp>
        <p:nvSpPr>
          <p:cNvPr id="27" name="Shape 25"/>
          <p:cNvSpPr/>
          <p:nvPr/>
        </p:nvSpPr>
        <p:spPr>
          <a:xfrm>
            <a:off x="548640" y="5532120"/>
            <a:ext cx="11094415" cy="566928"/>
          </a:xfrm>
          <a:prstGeom prst="roundRect">
            <a:avLst>
              <a:gd name="adj" fmla="val 11290"/>
            </a:avLst>
          </a:prstGeom>
          <a:solidFill>
            <a:srgbClr val="1C2B4A"/>
          </a:solidFill>
          <a:ln/>
        </p:spPr>
      </p:sp>
      <p:sp>
        <p:nvSpPr>
          <p:cNvPr id="28" name="Text 26"/>
          <p:cNvSpPr/>
          <p:nvPr/>
        </p:nvSpPr>
        <p:spPr>
          <a:xfrm>
            <a:off x="822960" y="5532120"/>
            <a:ext cx="10545775" cy="566928"/>
          </a:xfrm>
          <a:prstGeom prst="rect">
            <a:avLst/>
          </a:prstGeom>
          <a:noFill/>
          <a:ln/>
        </p:spPr>
        <p:txBody>
          <a:bodyPr wrap="square" lIns="0" tIns="0" rIns="0" bIns="0" rtlCol="0" anchor="ctr"/>
          <a:lstStyle/>
          <a:p>
            <a:pPr algn="ctr" indent="0" marL="0">
              <a:buNone/>
            </a:pPr>
            <a:r>
              <a:rPr lang="en-US" sz="1350" dirty="0">
                <a:solidFill>
                  <a:srgbClr val="DCE6F2"/>
                </a:solidFill>
                <a:latin typeface="Malgun Gothic" pitchFamily="34" charset="0"/>
                <a:ea typeface="Malgun Gothic" pitchFamily="34" charset="-122"/>
                <a:cs typeface="Malgun Gothic" pitchFamily="34" charset="-120"/>
              </a:rPr>
              <a:t>우리의 테마 ＝ </a:t>
            </a:r>
            <a:pPr algn="ctr" indent="0" marL="0">
              <a:buNone/>
            </a:pPr>
            <a:r>
              <a:rPr lang="en-US" sz="1350" b="1" dirty="0">
                <a:solidFill>
                  <a:srgbClr val="FFFFFF"/>
                </a:solidFill>
                <a:latin typeface="Malgun Gothic" pitchFamily="34" charset="0"/>
                <a:ea typeface="Malgun Gothic" pitchFamily="34" charset="-122"/>
                <a:cs typeface="Malgun Gothic" pitchFamily="34" charset="-120"/>
              </a:rPr>
              <a:t>'반도체의 후공정 × 지방'</a:t>
            </a:r>
            <a:pPr algn="ctr" indent="0" marL="0">
              <a:buNone/>
            </a:pPr>
            <a:r>
              <a:rPr lang="en-US" sz="1150" dirty="0">
                <a:solidFill>
                  <a:srgbClr val="DCE6F2"/>
                </a:solidFill>
                <a:latin typeface="Malgun Gothic" pitchFamily="34" charset="0"/>
                <a:ea typeface="Malgun Gothic" pitchFamily="34" charset="-122"/>
                <a:cs typeface="Malgun Gothic" pitchFamily="34" charset="-120"/>
              </a:rPr>
              <a:t>　— 먼저 '후공정'을, 다음 슬라이드에서 설명합니다.</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algun Gothic" pitchFamily="34" charset="0"/>
                <a:ea typeface="Malgun Gothic" pitchFamily="34" charset="-122"/>
                <a:cs typeface="Malgun Gothic" pitchFamily="34" charset="-120"/>
              </a:rPr>
              <a:t>BACKGROUND</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300" b="1" dirty="0">
                <a:solidFill>
                  <a:srgbClr val="1C2B4A"/>
                </a:solidFill>
                <a:latin typeface="Malgun Gothic" pitchFamily="34" charset="0"/>
                <a:ea typeface="Malgun Gothic" pitchFamily="34" charset="-122"/>
                <a:cs typeface="Malgun Gothic" pitchFamily="34" charset="-120"/>
              </a:rPr>
              <a:t>그래서 '후공정'이 뭔가? — 반도체 제조의 후반전</a:t>
            </a:r>
            <a:endParaRPr lang="en-US" sz="23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algun Gothic" pitchFamily="34" charset="0"/>
                <a:ea typeface="Malgun Gothic" pitchFamily="34" charset="-122"/>
                <a:cs typeface="Malgun Gothic" pitchFamily="34" charset="-120"/>
              </a:rPr>
              <a:t>닛케이 스톡리그 2026｜후공정 니치 톱 × 지방 클러스터</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algun Gothic" pitchFamily="34" charset="0"/>
                <a:ea typeface="Malgun Gothic" pitchFamily="34" charset="-122"/>
                <a:cs typeface="Malgun Gothic" pitchFamily="34" charset="-120"/>
              </a:rPr>
              <a:t>3</a:t>
            </a:r>
            <a:endParaRPr lang="en-US" sz="900" dirty="0"/>
          </a:p>
        </p:txBody>
      </p:sp>
      <p:sp>
        <p:nvSpPr>
          <p:cNvPr id="9" name="Shape 7"/>
          <p:cNvSpPr/>
          <p:nvPr/>
        </p:nvSpPr>
        <p:spPr>
          <a:xfrm>
            <a:off x="594360" y="1417320"/>
            <a:ext cx="1920240" cy="1051560"/>
          </a:xfrm>
          <a:prstGeom prst="roundRect">
            <a:avLst>
              <a:gd name="adj" fmla="val 6087"/>
            </a:avLst>
          </a:prstGeom>
          <a:solidFill>
            <a:srgbClr val="F3F6FA"/>
          </a:solidFill>
          <a:ln/>
        </p:spPr>
      </p:sp>
      <p:sp>
        <p:nvSpPr>
          <p:cNvPr id="10" name="Text 8"/>
          <p:cNvSpPr/>
          <p:nvPr/>
        </p:nvSpPr>
        <p:spPr>
          <a:xfrm>
            <a:off x="685800" y="1600200"/>
            <a:ext cx="1737360" cy="365760"/>
          </a:xfrm>
          <a:prstGeom prst="rect">
            <a:avLst/>
          </a:prstGeom>
          <a:noFill/>
          <a:ln/>
        </p:spPr>
        <p:txBody>
          <a:bodyPr wrap="square" lIns="0" tIns="0" rIns="0" bIns="0" rtlCol="0" anchor="ctr"/>
          <a:lstStyle/>
          <a:p>
            <a:pPr algn="ctr" indent="0" marL="0">
              <a:buNone/>
            </a:pPr>
            <a:r>
              <a:rPr lang="en-US" sz="1450" b="1" dirty="0">
                <a:solidFill>
                  <a:srgbClr val="20293A"/>
                </a:solidFill>
                <a:latin typeface="Malgun Gothic" pitchFamily="34" charset="0"/>
                <a:ea typeface="Malgun Gothic" pitchFamily="34" charset="-122"/>
                <a:cs typeface="Malgun Gothic" pitchFamily="34" charset="-120"/>
              </a:rPr>
              <a:t>재료</a:t>
            </a:r>
            <a:endParaRPr lang="en-US" sz="1450" dirty="0"/>
          </a:p>
        </p:txBody>
      </p:sp>
      <p:sp>
        <p:nvSpPr>
          <p:cNvPr id="11" name="Text 9"/>
          <p:cNvSpPr/>
          <p:nvPr/>
        </p:nvSpPr>
        <p:spPr>
          <a:xfrm>
            <a:off x="685800" y="1984248"/>
            <a:ext cx="1737360" cy="365760"/>
          </a:xfrm>
          <a:prstGeom prst="rect">
            <a:avLst/>
          </a:prstGeom>
          <a:noFill/>
          <a:ln/>
        </p:spPr>
        <p:txBody>
          <a:bodyPr wrap="square" lIns="0" tIns="0" rIns="0" bIns="0" rtlCol="0" anchor="ctr"/>
          <a:lstStyle/>
          <a:p>
            <a:pPr algn="ctr" indent="0" marL="0">
              <a:buNone/>
            </a:pPr>
            <a:r>
              <a:rPr lang="en-US" sz="1050" dirty="0">
                <a:solidFill>
                  <a:srgbClr val="5B6B7F"/>
                </a:solidFill>
                <a:latin typeface="Malgun Gothic" pitchFamily="34" charset="0"/>
                <a:ea typeface="Malgun Gothic" pitchFamily="34" charset="-122"/>
                <a:cs typeface="Malgun Gothic" pitchFamily="34" charset="-120"/>
              </a:rPr>
              <a:t>모래·실리콘</a:t>
            </a:r>
            <a:endParaRPr lang="en-US" sz="1050" dirty="0"/>
          </a:p>
        </p:txBody>
      </p:sp>
      <p:sp>
        <p:nvSpPr>
          <p:cNvPr id="12" name="Shape 10"/>
          <p:cNvSpPr/>
          <p:nvPr/>
        </p:nvSpPr>
        <p:spPr>
          <a:xfrm>
            <a:off x="2532888" y="1824228"/>
            <a:ext cx="283464" cy="237744"/>
          </a:xfrm>
          <a:prstGeom prst="rightArrow">
            <a:avLst/>
          </a:prstGeom>
          <a:solidFill>
            <a:srgbClr val="D5DEE9"/>
          </a:solidFill>
          <a:ln/>
        </p:spPr>
      </p:sp>
      <p:sp>
        <p:nvSpPr>
          <p:cNvPr id="13" name="Shape 11"/>
          <p:cNvSpPr/>
          <p:nvPr/>
        </p:nvSpPr>
        <p:spPr>
          <a:xfrm>
            <a:off x="2834640" y="1417320"/>
            <a:ext cx="1920240" cy="1051560"/>
          </a:xfrm>
          <a:prstGeom prst="roundRect">
            <a:avLst>
              <a:gd name="adj" fmla="val 6087"/>
            </a:avLst>
          </a:prstGeom>
          <a:solidFill>
            <a:srgbClr val="1C2B4A"/>
          </a:solidFill>
          <a:ln/>
        </p:spPr>
      </p:sp>
      <p:sp>
        <p:nvSpPr>
          <p:cNvPr id="14" name="Text 12"/>
          <p:cNvSpPr/>
          <p:nvPr/>
        </p:nvSpPr>
        <p:spPr>
          <a:xfrm>
            <a:off x="2926080" y="1600200"/>
            <a:ext cx="1737360" cy="365760"/>
          </a:xfrm>
          <a:prstGeom prst="rect">
            <a:avLst/>
          </a:prstGeom>
          <a:noFill/>
          <a:ln/>
        </p:spPr>
        <p:txBody>
          <a:bodyPr wrap="square" lIns="0" tIns="0" rIns="0" bIns="0" rtlCol="0" anchor="ctr"/>
          <a:lstStyle/>
          <a:p>
            <a:pPr algn="ctr" indent="0" marL="0">
              <a:buNone/>
            </a:pPr>
            <a:r>
              <a:rPr lang="en-US" sz="1450" b="1" dirty="0">
                <a:solidFill>
                  <a:srgbClr val="FFFFFF"/>
                </a:solidFill>
                <a:latin typeface="Malgun Gothic" pitchFamily="34" charset="0"/>
                <a:ea typeface="Malgun Gothic" pitchFamily="34" charset="-122"/>
                <a:cs typeface="Malgun Gothic" pitchFamily="34" charset="-120"/>
              </a:rPr>
              <a:t>전공정</a:t>
            </a:r>
            <a:endParaRPr lang="en-US" sz="1450" dirty="0"/>
          </a:p>
        </p:txBody>
      </p:sp>
      <p:sp>
        <p:nvSpPr>
          <p:cNvPr id="15" name="Text 13"/>
          <p:cNvSpPr/>
          <p:nvPr/>
        </p:nvSpPr>
        <p:spPr>
          <a:xfrm>
            <a:off x="2926080" y="1984248"/>
            <a:ext cx="1737360" cy="365760"/>
          </a:xfrm>
          <a:prstGeom prst="rect">
            <a:avLst/>
          </a:prstGeom>
          <a:noFill/>
          <a:ln/>
        </p:spPr>
        <p:txBody>
          <a:bodyPr wrap="square" lIns="0" tIns="0" rIns="0" bIns="0" rtlCol="0" anchor="ctr"/>
          <a:lstStyle/>
          <a:p>
            <a:pPr algn="ctr" indent="0" marL="0">
              <a:buNone/>
            </a:pPr>
            <a:r>
              <a:rPr lang="en-US" sz="1050" dirty="0">
                <a:solidFill>
                  <a:srgbClr val="DCE6F2"/>
                </a:solidFill>
                <a:latin typeface="Malgun Gothic" pitchFamily="34" charset="0"/>
                <a:ea typeface="Malgun Gothic" pitchFamily="34" charset="-122"/>
                <a:cs typeface="Malgun Gothic" pitchFamily="34" charset="-120"/>
              </a:rPr>
              <a:t>회로를 '그린다'</a:t>
            </a:r>
            <a:endParaRPr lang="en-US" sz="1050" dirty="0"/>
          </a:p>
        </p:txBody>
      </p:sp>
      <p:sp>
        <p:nvSpPr>
          <p:cNvPr id="16" name="Shape 14"/>
          <p:cNvSpPr/>
          <p:nvPr/>
        </p:nvSpPr>
        <p:spPr>
          <a:xfrm>
            <a:off x="4773168" y="1824228"/>
            <a:ext cx="283464" cy="237744"/>
          </a:xfrm>
          <a:prstGeom prst="rightArrow">
            <a:avLst/>
          </a:prstGeom>
          <a:solidFill>
            <a:srgbClr val="C0713A"/>
          </a:solidFill>
          <a:ln/>
        </p:spPr>
      </p:sp>
      <p:sp>
        <p:nvSpPr>
          <p:cNvPr id="17" name="Shape 15"/>
          <p:cNvSpPr/>
          <p:nvPr/>
        </p:nvSpPr>
        <p:spPr>
          <a:xfrm>
            <a:off x="5074920" y="1417320"/>
            <a:ext cx="1920240" cy="1051560"/>
          </a:xfrm>
          <a:prstGeom prst="roundRect">
            <a:avLst>
              <a:gd name="adj" fmla="val 6087"/>
            </a:avLst>
          </a:prstGeom>
          <a:solidFill>
            <a:srgbClr val="C0713A"/>
          </a:solidFill>
          <a:ln/>
        </p:spPr>
      </p:sp>
      <p:sp>
        <p:nvSpPr>
          <p:cNvPr id="18" name="Text 16"/>
          <p:cNvSpPr/>
          <p:nvPr/>
        </p:nvSpPr>
        <p:spPr>
          <a:xfrm>
            <a:off x="5166360" y="1600200"/>
            <a:ext cx="1737360" cy="365760"/>
          </a:xfrm>
          <a:prstGeom prst="rect">
            <a:avLst/>
          </a:prstGeom>
          <a:noFill/>
          <a:ln/>
        </p:spPr>
        <p:txBody>
          <a:bodyPr wrap="square" lIns="0" tIns="0" rIns="0" bIns="0" rtlCol="0" anchor="ctr"/>
          <a:lstStyle/>
          <a:p>
            <a:pPr algn="ctr" indent="0" marL="0">
              <a:buNone/>
            </a:pPr>
            <a:r>
              <a:rPr lang="en-US" sz="1450" b="1" dirty="0">
                <a:solidFill>
                  <a:srgbClr val="FFFFFF"/>
                </a:solidFill>
                <a:latin typeface="Malgun Gothic" pitchFamily="34" charset="0"/>
                <a:ea typeface="Malgun Gothic" pitchFamily="34" charset="-122"/>
                <a:cs typeface="Malgun Gothic" pitchFamily="34" charset="-120"/>
              </a:rPr>
              <a:t>후공정</a:t>
            </a:r>
            <a:endParaRPr lang="en-US" sz="1450" dirty="0"/>
          </a:p>
        </p:txBody>
      </p:sp>
      <p:sp>
        <p:nvSpPr>
          <p:cNvPr id="19" name="Text 17"/>
          <p:cNvSpPr/>
          <p:nvPr/>
        </p:nvSpPr>
        <p:spPr>
          <a:xfrm>
            <a:off x="5166360" y="1984248"/>
            <a:ext cx="1737360" cy="365760"/>
          </a:xfrm>
          <a:prstGeom prst="rect">
            <a:avLst/>
          </a:prstGeom>
          <a:noFill/>
          <a:ln/>
        </p:spPr>
        <p:txBody>
          <a:bodyPr wrap="square" lIns="0" tIns="0" rIns="0" bIns="0" rtlCol="0" anchor="ctr"/>
          <a:lstStyle/>
          <a:p>
            <a:pPr algn="ctr" indent="0" marL="0">
              <a:buNone/>
            </a:pPr>
            <a:r>
              <a:rPr lang="en-US" sz="1050" dirty="0">
                <a:solidFill>
                  <a:srgbClr val="F6E4D6"/>
                </a:solidFill>
                <a:latin typeface="Malgun Gothic" pitchFamily="34" charset="0"/>
                <a:ea typeface="Malgun Gothic" pitchFamily="34" charset="-122"/>
                <a:cs typeface="Malgun Gothic" pitchFamily="34" charset="-120"/>
              </a:rPr>
              <a:t>자르기·감싸기·검사</a:t>
            </a:r>
            <a:endParaRPr lang="en-US" sz="1050" dirty="0"/>
          </a:p>
        </p:txBody>
      </p:sp>
      <p:sp>
        <p:nvSpPr>
          <p:cNvPr id="20" name="Shape 18"/>
          <p:cNvSpPr/>
          <p:nvPr/>
        </p:nvSpPr>
        <p:spPr>
          <a:xfrm>
            <a:off x="7013448" y="1824228"/>
            <a:ext cx="283464" cy="237744"/>
          </a:xfrm>
          <a:prstGeom prst="rightArrow">
            <a:avLst/>
          </a:prstGeom>
          <a:solidFill>
            <a:srgbClr val="D5DEE9"/>
          </a:solidFill>
          <a:ln/>
        </p:spPr>
      </p:sp>
      <p:sp>
        <p:nvSpPr>
          <p:cNvPr id="21" name="Shape 19"/>
          <p:cNvSpPr/>
          <p:nvPr/>
        </p:nvSpPr>
        <p:spPr>
          <a:xfrm>
            <a:off x="7315200" y="1417320"/>
            <a:ext cx="1920240" cy="1051560"/>
          </a:xfrm>
          <a:prstGeom prst="roundRect">
            <a:avLst>
              <a:gd name="adj" fmla="val 6087"/>
            </a:avLst>
          </a:prstGeom>
          <a:solidFill>
            <a:srgbClr val="F3F6FA"/>
          </a:solidFill>
          <a:ln/>
        </p:spPr>
      </p:sp>
      <p:sp>
        <p:nvSpPr>
          <p:cNvPr id="22" name="Text 20"/>
          <p:cNvSpPr/>
          <p:nvPr/>
        </p:nvSpPr>
        <p:spPr>
          <a:xfrm>
            <a:off x="7406640" y="1600200"/>
            <a:ext cx="1737360" cy="365760"/>
          </a:xfrm>
          <a:prstGeom prst="rect">
            <a:avLst/>
          </a:prstGeom>
          <a:noFill/>
          <a:ln/>
        </p:spPr>
        <p:txBody>
          <a:bodyPr wrap="square" lIns="0" tIns="0" rIns="0" bIns="0" rtlCol="0" anchor="ctr"/>
          <a:lstStyle/>
          <a:p>
            <a:pPr algn="ctr" indent="0" marL="0">
              <a:buNone/>
            </a:pPr>
            <a:r>
              <a:rPr lang="en-US" sz="1450" b="1" dirty="0">
                <a:solidFill>
                  <a:srgbClr val="20293A"/>
                </a:solidFill>
                <a:latin typeface="Malgun Gothic" pitchFamily="34" charset="0"/>
                <a:ea typeface="Malgun Gothic" pitchFamily="34" charset="-122"/>
                <a:cs typeface="Malgun Gothic" pitchFamily="34" charset="-120"/>
              </a:rPr>
              <a:t>완성</a:t>
            </a:r>
            <a:endParaRPr lang="en-US" sz="1450" dirty="0"/>
          </a:p>
        </p:txBody>
      </p:sp>
      <p:sp>
        <p:nvSpPr>
          <p:cNvPr id="23" name="Text 21"/>
          <p:cNvSpPr/>
          <p:nvPr/>
        </p:nvSpPr>
        <p:spPr>
          <a:xfrm>
            <a:off x="7406640" y="1984248"/>
            <a:ext cx="1737360" cy="365760"/>
          </a:xfrm>
          <a:prstGeom prst="rect">
            <a:avLst/>
          </a:prstGeom>
          <a:noFill/>
          <a:ln/>
        </p:spPr>
        <p:txBody>
          <a:bodyPr wrap="square" lIns="0" tIns="0" rIns="0" bIns="0" rtlCol="0" anchor="ctr"/>
          <a:lstStyle/>
          <a:p>
            <a:pPr algn="ctr" indent="0" marL="0">
              <a:buNone/>
            </a:pPr>
            <a:r>
              <a:rPr lang="en-US" sz="1050" dirty="0">
                <a:solidFill>
                  <a:srgbClr val="5B6B7F"/>
                </a:solidFill>
                <a:latin typeface="Malgun Gothic" pitchFamily="34" charset="0"/>
                <a:ea typeface="Malgun Gothic" pitchFamily="34" charset="-122"/>
                <a:cs typeface="Malgun Gothic" pitchFamily="34" charset="-120"/>
              </a:rPr>
              <a:t>칩</a:t>
            </a:r>
            <a:endParaRPr lang="en-US" sz="1050" dirty="0"/>
          </a:p>
        </p:txBody>
      </p:sp>
      <p:sp>
        <p:nvSpPr>
          <p:cNvPr id="24" name="Shape 22"/>
          <p:cNvSpPr/>
          <p:nvPr/>
        </p:nvSpPr>
        <p:spPr>
          <a:xfrm>
            <a:off x="9253728" y="1824228"/>
            <a:ext cx="283464" cy="237744"/>
          </a:xfrm>
          <a:prstGeom prst="rightArrow">
            <a:avLst/>
          </a:prstGeom>
          <a:solidFill>
            <a:srgbClr val="D5DEE9"/>
          </a:solidFill>
          <a:ln/>
        </p:spPr>
      </p:sp>
      <p:sp>
        <p:nvSpPr>
          <p:cNvPr id="25" name="Shape 23"/>
          <p:cNvSpPr/>
          <p:nvPr/>
        </p:nvSpPr>
        <p:spPr>
          <a:xfrm>
            <a:off x="9555480" y="1417320"/>
            <a:ext cx="1920240" cy="1051560"/>
          </a:xfrm>
          <a:prstGeom prst="roundRect">
            <a:avLst>
              <a:gd name="adj" fmla="val 6087"/>
            </a:avLst>
          </a:prstGeom>
          <a:solidFill>
            <a:srgbClr val="F3F6FA"/>
          </a:solidFill>
          <a:ln/>
        </p:spPr>
      </p:sp>
      <p:sp>
        <p:nvSpPr>
          <p:cNvPr id="26" name="Text 24"/>
          <p:cNvSpPr/>
          <p:nvPr/>
        </p:nvSpPr>
        <p:spPr>
          <a:xfrm>
            <a:off x="9646920" y="1600200"/>
            <a:ext cx="1737360" cy="365760"/>
          </a:xfrm>
          <a:prstGeom prst="rect">
            <a:avLst/>
          </a:prstGeom>
          <a:noFill/>
          <a:ln/>
        </p:spPr>
        <p:txBody>
          <a:bodyPr wrap="square" lIns="0" tIns="0" rIns="0" bIns="0" rtlCol="0" anchor="ctr"/>
          <a:lstStyle/>
          <a:p>
            <a:pPr algn="ctr" indent="0" marL="0">
              <a:buNone/>
            </a:pPr>
            <a:r>
              <a:rPr lang="en-US" sz="1450" b="1" dirty="0">
                <a:solidFill>
                  <a:srgbClr val="20293A"/>
                </a:solidFill>
                <a:latin typeface="Malgun Gothic" pitchFamily="34" charset="0"/>
                <a:ea typeface="Malgun Gothic" pitchFamily="34" charset="-122"/>
                <a:cs typeface="Malgun Gothic" pitchFamily="34" charset="-120"/>
              </a:rPr>
              <a:t>제품으로</a:t>
            </a:r>
            <a:endParaRPr lang="en-US" sz="1450" dirty="0"/>
          </a:p>
        </p:txBody>
      </p:sp>
      <p:sp>
        <p:nvSpPr>
          <p:cNvPr id="27" name="Text 25"/>
          <p:cNvSpPr/>
          <p:nvPr/>
        </p:nvSpPr>
        <p:spPr>
          <a:xfrm>
            <a:off x="9646920" y="1984248"/>
            <a:ext cx="1737360" cy="365760"/>
          </a:xfrm>
          <a:prstGeom prst="rect">
            <a:avLst/>
          </a:prstGeom>
          <a:noFill/>
          <a:ln/>
        </p:spPr>
        <p:txBody>
          <a:bodyPr wrap="square" lIns="0" tIns="0" rIns="0" bIns="0" rtlCol="0" anchor="ctr"/>
          <a:lstStyle/>
          <a:p>
            <a:pPr algn="ctr" indent="0" marL="0">
              <a:buNone/>
            </a:pPr>
            <a:r>
              <a:rPr lang="en-US" sz="1050" dirty="0">
                <a:solidFill>
                  <a:srgbClr val="5B6B7F"/>
                </a:solidFill>
                <a:latin typeface="Malgun Gothic" pitchFamily="34" charset="0"/>
                <a:ea typeface="Malgun Gothic" pitchFamily="34" charset="-122"/>
                <a:cs typeface="Malgun Gothic" pitchFamily="34" charset="-120"/>
              </a:rPr>
              <a:t>스마트폰·AI·자동차</a:t>
            </a:r>
            <a:endParaRPr lang="en-US" sz="1050" dirty="0"/>
          </a:p>
        </p:txBody>
      </p:sp>
      <p:sp>
        <p:nvSpPr>
          <p:cNvPr id="28" name="Shape 26"/>
          <p:cNvSpPr/>
          <p:nvPr/>
        </p:nvSpPr>
        <p:spPr>
          <a:xfrm>
            <a:off x="548640" y="2926080"/>
            <a:ext cx="5413248" cy="1691640"/>
          </a:xfrm>
          <a:prstGeom prst="roundRect">
            <a:avLst>
              <a:gd name="adj" fmla="val 3784"/>
            </a:avLst>
          </a:prstGeom>
          <a:solidFill>
            <a:srgbClr val="F3F6FA"/>
          </a:solidFill>
          <a:ln/>
        </p:spPr>
      </p:sp>
      <p:sp>
        <p:nvSpPr>
          <p:cNvPr id="29" name="Text 27"/>
          <p:cNvSpPr/>
          <p:nvPr/>
        </p:nvSpPr>
        <p:spPr>
          <a:xfrm>
            <a:off x="822960" y="3127248"/>
            <a:ext cx="4864608" cy="365760"/>
          </a:xfrm>
          <a:prstGeom prst="rect">
            <a:avLst/>
          </a:prstGeom>
          <a:noFill/>
          <a:ln/>
        </p:spPr>
        <p:txBody>
          <a:bodyPr wrap="square" lIns="0" tIns="0" rIns="0" bIns="0" rtlCol="0" anchor="ctr"/>
          <a:lstStyle/>
          <a:p>
            <a:pPr indent="0" marL="0">
              <a:buNone/>
            </a:pPr>
            <a:r>
              <a:rPr lang="en-US" sz="1450" b="1" dirty="0">
                <a:solidFill>
                  <a:srgbClr val="1C2B4A"/>
                </a:solidFill>
                <a:latin typeface="Malgun Gothic" pitchFamily="34" charset="0"/>
                <a:ea typeface="Malgun Gothic" pitchFamily="34" charset="-122"/>
                <a:cs typeface="Malgun Gothic" pitchFamily="34" charset="-120"/>
              </a:rPr>
              <a:t>전공정 (프론트엔드)</a:t>
            </a:r>
            <a:endParaRPr lang="en-US" sz="1450" dirty="0"/>
          </a:p>
        </p:txBody>
      </p:sp>
      <p:sp>
        <p:nvSpPr>
          <p:cNvPr id="30" name="Text 28"/>
          <p:cNvSpPr/>
          <p:nvPr/>
        </p:nvSpPr>
        <p:spPr>
          <a:xfrm>
            <a:off x="822960" y="3584448"/>
            <a:ext cx="4864608" cy="822960"/>
          </a:xfrm>
          <a:prstGeom prst="rect">
            <a:avLst/>
          </a:prstGeom>
          <a:noFill/>
          <a:ln/>
        </p:spPr>
        <p:txBody>
          <a:bodyPr wrap="square" lIns="0" tIns="0" rIns="0" bIns="0" rtlCol="0" anchor="t"/>
          <a:lstStyle/>
          <a:p>
            <a:pPr indent="0" marL="0">
              <a:buNone/>
            </a:pPr>
            <a:r>
              <a:rPr lang="en-US" sz="1150" dirty="0">
                <a:solidFill>
                  <a:srgbClr val="5B6B7F"/>
                </a:solidFill>
                <a:latin typeface="Malgun Gothic" pitchFamily="34" charset="0"/>
                <a:ea typeface="Malgun Gothic" pitchFamily="34" charset="-122"/>
                <a:cs typeface="Malgun Gothic" pitchFamily="34" charset="-120"/>
              </a:rPr>
              <a:t>웨이퍼에, 머리카락의 약 1만 분의 1 굵기의 회로를 그리는 공정. 거대한 '메가팹'에 집약된다(TSMC 구마모토·라피더스 홋카이도). 뉴스에 화제가 되는 건 주로 여기.</a:t>
            </a:r>
            <a:endParaRPr lang="en-US" sz="1150" dirty="0"/>
          </a:p>
        </p:txBody>
      </p:sp>
      <p:sp>
        <p:nvSpPr>
          <p:cNvPr id="31" name="Shape 29"/>
          <p:cNvSpPr/>
          <p:nvPr/>
        </p:nvSpPr>
        <p:spPr>
          <a:xfrm>
            <a:off x="6227064" y="2926080"/>
            <a:ext cx="5413248" cy="1691640"/>
          </a:xfrm>
          <a:prstGeom prst="roundRect">
            <a:avLst>
              <a:gd name="adj" fmla="val 3784"/>
            </a:avLst>
          </a:prstGeom>
          <a:solidFill>
            <a:srgbClr val="F3F6FA"/>
          </a:solidFill>
          <a:ln/>
        </p:spPr>
      </p:sp>
      <p:sp>
        <p:nvSpPr>
          <p:cNvPr id="32" name="Text 30"/>
          <p:cNvSpPr/>
          <p:nvPr/>
        </p:nvSpPr>
        <p:spPr>
          <a:xfrm>
            <a:off x="6501384" y="3127248"/>
            <a:ext cx="4864608" cy="365760"/>
          </a:xfrm>
          <a:prstGeom prst="rect">
            <a:avLst/>
          </a:prstGeom>
          <a:noFill/>
          <a:ln/>
        </p:spPr>
        <p:txBody>
          <a:bodyPr wrap="square" lIns="0" tIns="0" rIns="0" bIns="0" rtlCol="0" anchor="ctr"/>
          <a:lstStyle/>
          <a:p>
            <a:pPr indent="0" marL="0">
              <a:buNone/>
            </a:pPr>
            <a:r>
              <a:rPr lang="en-US" sz="1450" b="1" dirty="0">
                <a:solidFill>
                  <a:srgbClr val="A55D2B"/>
                </a:solidFill>
                <a:latin typeface="Malgun Gothic" pitchFamily="34" charset="0"/>
                <a:ea typeface="Malgun Gothic" pitchFamily="34" charset="-122"/>
                <a:cs typeface="Malgun Gothic" pitchFamily="34" charset="-120"/>
              </a:rPr>
              <a:t>후공정 (백엔드)</a:t>
            </a:r>
            <a:endParaRPr lang="en-US" sz="1450" dirty="0"/>
          </a:p>
        </p:txBody>
      </p:sp>
      <p:sp>
        <p:nvSpPr>
          <p:cNvPr id="33" name="Text 31"/>
          <p:cNvSpPr/>
          <p:nvPr/>
        </p:nvSpPr>
        <p:spPr>
          <a:xfrm>
            <a:off x="6501384" y="3584448"/>
            <a:ext cx="4864608" cy="822960"/>
          </a:xfrm>
          <a:prstGeom prst="rect">
            <a:avLst/>
          </a:prstGeom>
          <a:noFill/>
          <a:ln/>
        </p:spPr>
        <p:txBody>
          <a:bodyPr wrap="square" lIns="0" tIns="0" rIns="0" bIns="0" rtlCol="0" anchor="t"/>
          <a:lstStyle/>
          <a:p>
            <a:pPr indent="0" marL="0">
              <a:buNone/>
            </a:pPr>
            <a:r>
              <a:rPr lang="en-US" sz="1150" dirty="0">
                <a:solidFill>
                  <a:srgbClr val="5B6B7F"/>
                </a:solidFill>
                <a:latin typeface="Malgun Gothic" pitchFamily="34" charset="0"/>
                <a:ea typeface="Malgun Gothic" pitchFamily="34" charset="-122"/>
                <a:cs typeface="Malgun Gothic" pitchFamily="34" charset="-120"/>
              </a:rPr>
              <a:t>완성된 웨이퍼를 1개씩 자르고, 수지로 감싸고, 검사해서 '쓸 수 있는 칩'으로 완성하는 공정. 눈에 덜 띄지만, 이게 없으면 칩은 제품이 되지 못한다.</a:t>
            </a:r>
            <a:endParaRPr lang="en-US" sz="1150" dirty="0"/>
          </a:p>
        </p:txBody>
      </p:sp>
      <p:sp>
        <p:nvSpPr>
          <p:cNvPr id="34" name="Shape 32"/>
          <p:cNvSpPr/>
          <p:nvPr/>
        </p:nvSpPr>
        <p:spPr>
          <a:xfrm>
            <a:off x="548640" y="4892040"/>
            <a:ext cx="11094415" cy="1097280"/>
          </a:xfrm>
          <a:prstGeom prst="roundRect">
            <a:avLst>
              <a:gd name="adj" fmla="val 5833"/>
            </a:avLst>
          </a:prstGeom>
          <a:solidFill>
            <a:srgbClr val="1C2B4A"/>
          </a:solidFill>
          <a:ln/>
        </p:spPr>
      </p:sp>
      <p:sp>
        <p:nvSpPr>
          <p:cNvPr id="35" name="Text 33"/>
          <p:cNvSpPr/>
          <p:nvPr/>
        </p:nvSpPr>
        <p:spPr>
          <a:xfrm>
            <a:off x="822960" y="5029200"/>
            <a:ext cx="10545775" cy="868680"/>
          </a:xfrm>
          <a:prstGeom prst="rect">
            <a:avLst/>
          </a:prstGeom>
          <a:noFill/>
          <a:ln/>
        </p:spPr>
        <p:txBody>
          <a:bodyPr wrap="square" lIns="0" tIns="0" rIns="0" bIns="0" rtlCol="0" anchor="t"/>
          <a:lstStyle/>
          <a:p>
            <a:pPr indent="0" marL="0">
              <a:spcAft>
                <a:spcPts val="400"/>
              </a:spcAft>
              <a:buNone/>
            </a:pPr>
            <a:r>
              <a:rPr lang="en-US" sz="1300" b="1" dirty="0">
                <a:solidFill>
                  <a:srgbClr val="C0713A"/>
                </a:solidFill>
                <a:latin typeface="Malgun Gothic" pitchFamily="34" charset="0"/>
                <a:ea typeface="Malgun Gothic" pitchFamily="34" charset="-122"/>
                <a:cs typeface="Malgun Gothic" pitchFamily="34" charset="-120"/>
              </a:rPr>
              <a:t>여기가 포인트　</a:t>
            </a:r>
            <a:endParaRPr lang="en-US" sz="1300" dirty="0"/>
          </a:p>
          <a:p>
            <a:pPr indent="0" marL="0">
              <a:buNone/>
            </a:pPr>
            <a:r>
              <a:rPr lang="en-US" sz="1250" dirty="0">
                <a:solidFill>
                  <a:srgbClr val="FFFFFF"/>
                </a:solidFill>
                <a:latin typeface="Malgun Gothic" pitchFamily="34" charset="0"/>
                <a:ea typeface="Malgun Gothic" pitchFamily="34" charset="-122"/>
                <a:cs typeface="Malgun Gothic" pitchFamily="34" charset="-120"/>
              </a:rPr>
              <a:t>전공정은 한 곳에 모을 수 있다. 하지만 후공정은 소모품·장비·검사가 '팹 바로 옆'에 모인다 — 그래서 세계 톱의 후공정 기술이 도쿄가 아니라 지방(구마모토·아오모리·후쿠시마)에서 태어난다. 그것이 우리의 테마입니다.</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algun Gothic" pitchFamily="34" charset="0"/>
                <a:ea typeface="Malgun Gothic" pitchFamily="34" charset="-122"/>
                <a:cs typeface="Malgun Gothic" pitchFamily="34" charset="-120"/>
              </a:rPr>
              <a:t>EXECUTIVE SUMMARY</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300" b="1" dirty="0">
                <a:solidFill>
                  <a:srgbClr val="1C2B4A"/>
                </a:solidFill>
                <a:latin typeface="Malgun Gothic" pitchFamily="34" charset="0"/>
                <a:ea typeface="Malgun Gothic" pitchFamily="34" charset="-122"/>
                <a:cs typeface="Malgun Gothic" pitchFamily="34" charset="-120"/>
              </a:rPr>
              <a:t>전체 요약 — 4,438사에서, 규율 있는 게이트로 15사로</a:t>
            </a:r>
            <a:endParaRPr lang="en-US" sz="23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algun Gothic" pitchFamily="34" charset="0"/>
                <a:ea typeface="Malgun Gothic" pitchFamily="34" charset="-122"/>
                <a:cs typeface="Malgun Gothic" pitchFamily="34" charset="-120"/>
              </a:rPr>
              <a:t>닛케이 스톡리그 2026｜후공정 니치 톱 × 지방 클러스터</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algun Gothic" pitchFamily="34" charset="0"/>
                <a:ea typeface="Malgun Gothic" pitchFamily="34" charset="-122"/>
                <a:cs typeface="Malgun Gothic" pitchFamily="34" charset="-120"/>
              </a:rPr>
              <a:t>4</a:t>
            </a:r>
            <a:endParaRPr lang="en-US" sz="900" dirty="0"/>
          </a:p>
        </p:txBody>
      </p:sp>
      <p:sp>
        <p:nvSpPr>
          <p:cNvPr id="9" name="Shape 7"/>
          <p:cNvSpPr/>
          <p:nvPr/>
        </p:nvSpPr>
        <p:spPr>
          <a:xfrm>
            <a:off x="548640" y="1325880"/>
            <a:ext cx="3246120" cy="1298448"/>
          </a:xfrm>
          <a:prstGeom prst="roundRect">
            <a:avLst>
              <a:gd name="adj" fmla="val 4930"/>
            </a:avLst>
          </a:prstGeom>
          <a:solidFill>
            <a:srgbClr val="F3F6FA"/>
          </a:solidFill>
          <a:ln/>
        </p:spPr>
      </p:sp>
      <p:sp>
        <p:nvSpPr>
          <p:cNvPr id="10" name="Text 8"/>
          <p:cNvSpPr/>
          <p:nvPr/>
        </p:nvSpPr>
        <p:spPr>
          <a:xfrm>
            <a:off x="777240" y="1426464"/>
            <a:ext cx="2788920" cy="384048"/>
          </a:xfrm>
          <a:prstGeom prst="rect">
            <a:avLst/>
          </a:prstGeom>
          <a:noFill/>
          <a:ln/>
        </p:spPr>
        <p:txBody>
          <a:bodyPr wrap="square" lIns="0" tIns="0" rIns="0" bIns="0" rtlCol="0" anchor="ctr"/>
          <a:lstStyle/>
          <a:p>
            <a:pPr indent="0" marL="0">
              <a:buNone/>
            </a:pPr>
            <a:r>
              <a:rPr lang="en-US" sz="2500" b="1" dirty="0">
                <a:solidFill>
                  <a:srgbClr val="C0713A"/>
                </a:solidFill>
                <a:latin typeface="Malgun Gothic" pitchFamily="34" charset="0"/>
                <a:ea typeface="Malgun Gothic" pitchFamily="34" charset="-122"/>
                <a:cs typeface="Malgun Gothic" pitchFamily="34" charset="-120"/>
              </a:rPr>
              <a:t>106사</a:t>
            </a:r>
            <a:endParaRPr lang="en-US" sz="2500" dirty="0"/>
          </a:p>
        </p:txBody>
      </p:sp>
      <p:sp>
        <p:nvSpPr>
          <p:cNvPr id="11" name="Text 9"/>
          <p:cNvSpPr/>
          <p:nvPr/>
        </p:nvSpPr>
        <p:spPr>
          <a:xfrm>
            <a:off x="777240" y="1828800"/>
            <a:ext cx="2788920" cy="256032"/>
          </a:xfrm>
          <a:prstGeom prst="rect">
            <a:avLst/>
          </a:prstGeom>
          <a:noFill/>
          <a:ln/>
        </p:spPr>
        <p:txBody>
          <a:bodyPr wrap="square" lIns="0" tIns="0" rIns="0" bIns="0" rtlCol="0" anchor="ctr"/>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조사 유니버스</a:t>
            </a:r>
            <a:endParaRPr lang="en-US" sz="1200" dirty="0"/>
          </a:p>
        </p:txBody>
      </p:sp>
      <p:sp>
        <p:nvSpPr>
          <p:cNvPr id="12" name="Text 10"/>
          <p:cNvSpPr/>
          <p:nvPr/>
        </p:nvSpPr>
        <p:spPr>
          <a:xfrm>
            <a:off x="777240" y="2112264"/>
            <a:ext cx="2788920" cy="457200"/>
          </a:xfrm>
          <a:prstGeom prst="rect">
            <a:avLst/>
          </a:prstGeom>
          <a:noFill/>
          <a:ln/>
        </p:spPr>
        <p:txBody>
          <a:bodyPr wrap="square" lIns="0" tIns="0" rIns="0" bIns="0" rtlCol="0" anchor="t"/>
          <a:lstStyle/>
          <a:p>
            <a:pPr indent="0" marL="0">
              <a:buNone/>
            </a:pPr>
            <a:r>
              <a:rPr lang="en-US" sz="1000" dirty="0">
                <a:solidFill>
                  <a:srgbClr val="5B6B7F"/>
                </a:solidFill>
                <a:latin typeface="Malgun Gothic" pitchFamily="34" charset="0"/>
                <a:ea typeface="Malgun Gothic" pitchFamily="34" charset="-122"/>
                <a:cs typeface="Malgun Gothic" pitchFamily="34" charset="-120"/>
              </a:rPr>
              <a:t>모집단을 체계적으로 재정의</a:t>
            </a:r>
            <a:endParaRPr lang="en-US" sz="1000" dirty="0"/>
          </a:p>
          <a:p>
            <a:pPr indent="0" marL="0">
              <a:buNone/>
            </a:pPr>
            <a:r>
              <a:rPr lang="en-US" sz="1000" dirty="0">
                <a:solidFill>
                  <a:srgbClr val="5B6B7F"/>
                </a:solidFill>
                <a:latin typeface="Malgun Gothic" pitchFamily="34" charset="0"/>
                <a:ea typeface="Malgun Gothic" pitchFamily="34" charset="-122"/>
                <a:cs typeface="Malgun Gothic" pitchFamily="34" charset="-120"/>
              </a:rPr>
              <a:t>(4,438→1,039→106사)</a:t>
            </a:r>
            <a:endParaRPr lang="en-US" sz="1000" dirty="0"/>
          </a:p>
        </p:txBody>
      </p:sp>
      <p:sp>
        <p:nvSpPr>
          <p:cNvPr id="13" name="Shape 11"/>
          <p:cNvSpPr/>
          <p:nvPr/>
        </p:nvSpPr>
        <p:spPr>
          <a:xfrm>
            <a:off x="3904488" y="1828800"/>
            <a:ext cx="438912" cy="292608"/>
          </a:xfrm>
          <a:prstGeom prst="rightArrow">
            <a:avLst/>
          </a:prstGeom>
          <a:solidFill>
            <a:srgbClr val="DCE6F2"/>
          </a:solidFill>
          <a:ln/>
        </p:spPr>
      </p:sp>
      <p:sp>
        <p:nvSpPr>
          <p:cNvPr id="14" name="Shape 12"/>
          <p:cNvSpPr/>
          <p:nvPr/>
        </p:nvSpPr>
        <p:spPr>
          <a:xfrm>
            <a:off x="4453128" y="1325880"/>
            <a:ext cx="3246120" cy="1298448"/>
          </a:xfrm>
          <a:prstGeom prst="roundRect">
            <a:avLst>
              <a:gd name="adj" fmla="val 4930"/>
            </a:avLst>
          </a:prstGeom>
          <a:solidFill>
            <a:srgbClr val="F3F6FA"/>
          </a:solidFill>
          <a:ln/>
        </p:spPr>
      </p:sp>
      <p:sp>
        <p:nvSpPr>
          <p:cNvPr id="15" name="Text 13"/>
          <p:cNvSpPr/>
          <p:nvPr/>
        </p:nvSpPr>
        <p:spPr>
          <a:xfrm>
            <a:off x="4681728" y="1426464"/>
            <a:ext cx="2788920" cy="384048"/>
          </a:xfrm>
          <a:prstGeom prst="rect">
            <a:avLst/>
          </a:prstGeom>
          <a:noFill/>
          <a:ln/>
        </p:spPr>
        <p:txBody>
          <a:bodyPr wrap="square" lIns="0" tIns="0" rIns="0" bIns="0" rtlCol="0" anchor="ctr"/>
          <a:lstStyle/>
          <a:p>
            <a:pPr indent="0" marL="0">
              <a:buNone/>
            </a:pPr>
            <a:r>
              <a:rPr lang="en-US" sz="2500" b="1" dirty="0">
                <a:solidFill>
                  <a:srgbClr val="C0713A"/>
                </a:solidFill>
                <a:latin typeface="Malgun Gothic" pitchFamily="34" charset="0"/>
                <a:ea typeface="Malgun Gothic" pitchFamily="34" charset="-122"/>
                <a:cs typeface="Malgun Gothic" pitchFamily="34" charset="-120"/>
              </a:rPr>
              <a:t>48사</a:t>
            </a:r>
            <a:endParaRPr lang="en-US" sz="2500" dirty="0"/>
          </a:p>
        </p:txBody>
      </p:sp>
      <p:sp>
        <p:nvSpPr>
          <p:cNvPr id="16" name="Text 14"/>
          <p:cNvSpPr/>
          <p:nvPr/>
        </p:nvSpPr>
        <p:spPr>
          <a:xfrm>
            <a:off x="4681728" y="1828800"/>
            <a:ext cx="2788920" cy="256032"/>
          </a:xfrm>
          <a:prstGeom prst="rect">
            <a:avLst/>
          </a:prstGeom>
          <a:noFill/>
          <a:ln/>
        </p:spPr>
        <p:txBody>
          <a:bodyPr wrap="square" lIns="0" tIns="0" rIns="0" bIns="0" rtlCol="0" anchor="ctr"/>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재무·스코프 게이트 통과</a:t>
            </a:r>
            <a:endParaRPr lang="en-US" sz="1200" dirty="0"/>
          </a:p>
        </p:txBody>
      </p:sp>
      <p:sp>
        <p:nvSpPr>
          <p:cNvPr id="17" name="Text 15"/>
          <p:cNvSpPr/>
          <p:nvPr/>
        </p:nvSpPr>
        <p:spPr>
          <a:xfrm>
            <a:off x="4681728" y="2112264"/>
            <a:ext cx="2788920" cy="457200"/>
          </a:xfrm>
          <a:prstGeom prst="rect">
            <a:avLst/>
          </a:prstGeom>
          <a:noFill/>
          <a:ln/>
        </p:spPr>
        <p:txBody>
          <a:bodyPr wrap="square" lIns="0" tIns="0" rIns="0" bIns="0" rtlCol="0" anchor="t"/>
          <a:lstStyle/>
          <a:p>
            <a:pPr indent="0" marL="0">
              <a:buNone/>
            </a:pPr>
            <a:r>
              <a:rPr lang="en-US" sz="1000" dirty="0">
                <a:solidFill>
                  <a:srgbClr val="5B6B7F"/>
                </a:solidFill>
                <a:latin typeface="Malgun Gothic" pitchFamily="34" charset="0"/>
                <a:ea typeface="Malgun Gothic" pitchFamily="34" charset="-122"/>
                <a:cs typeface="Malgun Gothic" pitchFamily="34" charset="-120"/>
              </a:rPr>
              <a:t>자기자본≥40%·영업이익률≥8%</a:t>
            </a:r>
            <a:endParaRPr lang="en-US" sz="1000" dirty="0"/>
          </a:p>
          <a:p>
            <a:pPr indent="0" marL="0">
              <a:buNone/>
            </a:pPr>
            <a:r>
              <a:rPr lang="en-US" sz="1000" dirty="0">
                <a:solidFill>
                  <a:srgbClr val="5B6B7F"/>
                </a:solidFill>
                <a:latin typeface="Malgun Gothic" pitchFamily="34" charset="0"/>
                <a:ea typeface="Malgun Gothic" pitchFamily="34" charset="-122"/>
                <a:cs typeface="Malgun Gothic" pitchFamily="34" charset="-120"/>
              </a:rPr>
              <a:t>전공정 전용 장비는 스코프 밖</a:t>
            </a:r>
            <a:endParaRPr lang="en-US" sz="1000" dirty="0"/>
          </a:p>
        </p:txBody>
      </p:sp>
      <p:sp>
        <p:nvSpPr>
          <p:cNvPr id="18" name="Shape 16"/>
          <p:cNvSpPr/>
          <p:nvPr/>
        </p:nvSpPr>
        <p:spPr>
          <a:xfrm>
            <a:off x="7808976" y="1828800"/>
            <a:ext cx="438912" cy="292608"/>
          </a:xfrm>
          <a:prstGeom prst="rightArrow">
            <a:avLst/>
          </a:prstGeom>
          <a:solidFill>
            <a:srgbClr val="DCE6F2"/>
          </a:solidFill>
          <a:ln/>
        </p:spPr>
      </p:sp>
      <p:sp>
        <p:nvSpPr>
          <p:cNvPr id="19" name="Shape 17"/>
          <p:cNvSpPr/>
          <p:nvPr/>
        </p:nvSpPr>
        <p:spPr>
          <a:xfrm>
            <a:off x="8357616" y="1325880"/>
            <a:ext cx="3246120" cy="1298448"/>
          </a:xfrm>
          <a:prstGeom prst="roundRect">
            <a:avLst>
              <a:gd name="adj" fmla="val 4930"/>
            </a:avLst>
          </a:prstGeom>
          <a:solidFill>
            <a:srgbClr val="1C2B4A"/>
          </a:solidFill>
          <a:ln/>
        </p:spPr>
      </p:sp>
      <p:sp>
        <p:nvSpPr>
          <p:cNvPr id="20" name="Text 18"/>
          <p:cNvSpPr/>
          <p:nvPr/>
        </p:nvSpPr>
        <p:spPr>
          <a:xfrm>
            <a:off x="8586216" y="1426464"/>
            <a:ext cx="2788920" cy="384048"/>
          </a:xfrm>
          <a:prstGeom prst="rect">
            <a:avLst/>
          </a:prstGeom>
          <a:noFill/>
          <a:ln/>
        </p:spPr>
        <p:txBody>
          <a:bodyPr wrap="square" lIns="0" tIns="0" rIns="0" bIns="0" rtlCol="0" anchor="ctr"/>
          <a:lstStyle/>
          <a:p>
            <a:pPr indent="0" marL="0">
              <a:buNone/>
            </a:pPr>
            <a:r>
              <a:rPr lang="en-US" sz="2500" b="1" dirty="0">
                <a:solidFill>
                  <a:srgbClr val="FFFFFF"/>
                </a:solidFill>
                <a:latin typeface="Malgun Gothic" pitchFamily="34" charset="0"/>
                <a:ea typeface="Malgun Gothic" pitchFamily="34" charset="-122"/>
                <a:cs typeface="Malgun Gothic" pitchFamily="34" charset="-120"/>
              </a:rPr>
              <a:t>15사</a:t>
            </a:r>
            <a:endParaRPr lang="en-US" sz="2500" dirty="0"/>
          </a:p>
        </p:txBody>
      </p:sp>
      <p:sp>
        <p:nvSpPr>
          <p:cNvPr id="21" name="Text 19"/>
          <p:cNvSpPr/>
          <p:nvPr/>
        </p:nvSpPr>
        <p:spPr>
          <a:xfrm>
            <a:off x="8586216" y="1828800"/>
            <a:ext cx="2788920" cy="256032"/>
          </a:xfrm>
          <a:prstGeom prst="rect">
            <a:avLst/>
          </a:prstGeom>
          <a:noFill/>
          <a:ln/>
        </p:spPr>
        <p:txBody>
          <a:bodyPr wrap="square" lIns="0" tIns="0" rIns="0" bIns="0" rtlCol="0" anchor="ctr"/>
          <a:lstStyle/>
          <a:p>
            <a:pPr indent="0" marL="0">
              <a:buNone/>
            </a:pPr>
            <a:r>
              <a:rPr lang="en-US" sz="1200" b="1" dirty="0">
                <a:solidFill>
                  <a:srgbClr val="DCE6F2"/>
                </a:solidFill>
                <a:latin typeface="Malgun Gothic" pitchFamily="34" charset="0"/>
                <a:ea typeface="Malgun Gothic" pitchFamily="34" charset="-122"/>
                <a:cs typeface="Malgun Gothic" pitchFamily="34" charset="-120"/>
              </a:rPr>
              <a:t>확정 앵커 게이트 통과</a:t>
            </a:r>
            <a:endParaRPr lang="en-US" sz="1200" dirty="0"/>
          </a:p>
        </p:txBody>
      </p:sp>
      <p:sp>
        <p:nvSpPr>
          <p:cNvPr id="22" name="Text 20"/>
          <p:cNvSpPr/>
          <p:nvPr/>
        </p:nvSpPr>
        <p:spPr>
          <a:xfrm>
            <a:off x="8586216" y="2112264"/>
            <a:ext cx="2788920" cy="457200"/>
          </a:xfrm>
          <a:prstGeom prst="rect">
            <a:avLst/>
          </a:prstGeom>
          <a:noFill/>
          <a:ln/>
        </p:spPr>
        <p:txBody>
          <a:bodyPr wrap="square" lIns="0" tIns="0" rIns="0" bIns="0" rtlCol="0" anchor="t"/>
          <a:lstStyle/>
          <a:p>
            <a:pPr indent="0" marL="0">
              <a:buNone/>
            </a:pPr>
            <a:r>
              <a:rPr lang="en-US" sz="1000" dirty="0">
                <a:solidFill>
                  <a:srgbClr val="AEBFDC"/>
                </a:solidFill>
                <a:latin typeface="Malgun Gothic" pitchFamily="34" charset="0"/>
                <a:ea typeface="Malgun Gothic" pitchFamily="34" charset="-122"/>
                <a:cs typeface="Malgun Gothic" pitchFamily="34" charset="-120"/>
              </a:rPr>
              <a:t>입지·공급 링크를 1차 정보로 전수 검증</a:t>
            </a:r>
            <a:endParaRPr lang="en-US" sz="1000" dirty="0"/>
          </a:p>
          <a:p>
            <a:pPr indent="0" marL="0">
              <a:buNone/>
            </a:pPr>
            <a:r>
              <a:rPr lang="en-US" sz="1000" dirty="0">
                <a:solidFill>
                  <a:srgbClr val="AEBFDC"/>
                </a:solidFill>
                <a:latin typeface="Malgun Gothic" pitchFamily="34" charset="0"/>
                <a:ea typeface="Malgun Gothic" pitchFamily="34" charset="-122"/>
                <a:cs typeface="Malgun Gothic" pitchFamily="34" charset="-120"/>
              </a:rPr>
              <a:t>규슈 13사 + 도호쿠 2사</a:t>
            </a:r>
            <a:endParaRPr lang="en-US" sz="1000" dirty="0"/>
          </a:p>
        </p:txBody>
      </p:sp>
      <p:sp>
        <p:nvSpPr>
          <p:cNvPr id="23" name="Shape 21"/>
          <p:cNvSpPr/>
          <p:nvPr/>
        </p:nvSpPr>
        <p:spPr>
          <a:xfrm>
            <a:off x="548640" y="3063240"/>
            <a:ext cx="2587752" cy="1737360"/>
          </a:xfrm>
          <a:prstGeom prst="roundRect">
            <a:avLst>
              <a:gd name="adj" fmla="val 3684"/>
            </a:avLst>
          </a:prstGeom>
          <a:solidFill>
            <a:srgbClr val="F3F6FA"/>
          </a:solidFill>
          <a:ln/>
        </p:spPr>
      </p:sp>
      <p:sp>
        <p:nvSpPr>
          <p:cNvPr id="24" name="Text 22"/>
          <p:cNvSpPr/>
          <p:nvPr/>
        </p:nvSpPr>
        <p:spPr>
          <a:xfrm>
            <a:off x="749808" y="3227832"/>
            <a:ext cx="2185416" cy="502920"/>
          </a:xfrm>
          <a:prstGeom prst="rect">
            <a:avLst/>
          </a:prstGeom>
          <a:noFill/>
          <a:ln/>
        </p:spPr>
        <p:txBody>
          <a:bodyPr wrap="square" lIns="0" tIns="0" rIns="0" bIns="0" rtlCol="0" anchor="ctr"/>
          <a:lstStyle/>
          <a:p>
            <a:pPr indent="0" marL="0">
              <a:buNone/>
            </a:pPr>
            <a:r>
              <a:rPr lang="en-US" sz="2300" b="1" dirty="0">
                <a:solidFill>
                  <a:srgbClr val="C0713A"/>
                </a:solidFill>
                <a:latin typeface="Malgun Gothic" pitchFamily="34" charset="0"/>
                <a:ea typeface="Malgun Gothic" pitchFamily="34" charset="-122"/>
                <a:cs typeface="Malgun Gothic" pitchFamily="34" charset="-120"/>
              </a:rPr>
              <a:t>15/15</a:t>
            </a:r>
            <a:endParaRPr lang="en-US" sz="2300" dirty="0"/>
          </a:p>
        </p:txBody>
      </p:sp>
      <p:sp>
        <p:nvSpPr>
          <p:cNvPr id="25" name="Text 23"/>
          <p:cNvSpPr/>
          <p:nvPr/>
        </p:nvSpPr>
        <p:spPr>
          <a:xfrm>
            <a:off x="749808" y="3739896"/>
            <a:ext cx="2185416" cy="292608"/>
          </a:xfrm>
          <a:prstGeom prst="rect">
            <a:avLst/>
          </a:prstGeom>
          <a:noFill/>
          <a:ln/>
        </p:spPr>
        <p:txBody>
          <a:bodyPr wrap="square" lIns="0" tIns="0" rIns="0" bIns="0" rtlCol="0" anchor="ctr"/>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1차 정보 검증 완료</a:t>
            </a:r>
            <a:endParaRPr lang="en-US" sz="1200" dirty="0"/>
          </a:p>
        </p:txBody>
      </p:sp>
      <p:sp>
        <p:nvSpPr>
          <p:cNvPr id="26" name="Text 24"/>
          <p:cNvSpPr/>
          <p:nvPr/>
        </p:nvSpPr>
        <p:spPr>
          <a:xfrm>
            <a:off x="749808" y="4050792"/>
            <a:ext cx="2185416" cy="676656"/>
          </a:xfrm>
          <a:prstGeom prst="rect">
            <a:avLst/>
          </a:prstGeom>
          <a:noFill/>
          <a:ln/>
        </p:spPr>
        <p:txBody>
          <a:bodyPr wrap="square" lIns="0" tIns="0" rIns="0" bIns="0" rtlCol="0" anchor="t"/>
          <a:lstStyle/>
          <a:p>
            <a:pPr indent="0" marL="0">
              <a:buNone/>
            </a:pPr>
            <a:r>
              <a:rPr lang="en-US" sz="950" dirty="0">
                <a:solidFill>
                  <a:srgbClr val="5B6B7F"/>
                </a:solidFill>
                <a:latin typeface="Malgun Gothic" pitchFamily="34" charset="0"/>
                <a:ea typeface="Malgun Gothic" pitchFamily="34" charset="-122"/>
                <a:cs typeface="Malgun Gothic" pitchFamily="34" charset="-120"/>
              </a:rPr>
              <a:t>재무는 최신 통기 실적으로 전사 대조, 앵커는 유가증권보고서·IR·수상 릴리스로 확인</a:t>
            </a:r>
            <a:endParaRPr lang="en-US" sz="950" dirty="0"/>
          </a:p>
        </p:txBody>
      </p:sp>
      <p:sp>
        <p:nvSpPr>
          <p:cNvPr id="27" name="Shape 25"/>
          <p:cNvSpPr/>
          <p:nvPr/>
        </p:nvSpPr>
        <p:spPr>
          <a:xfrm>
            <a:off x="3383280" y="3063240"/>
            <a:ext cx="2587752" cy="1737360"/>
          </a:xfrm>
          <a:prstGeom prst="roundRect">
            <a:avLst>
              <a:gd name="adj" fmla="val 3684"/>
            </a:avLst>
          </a:prstGeom>
          <a:solidFill>
            <a:srgbClr val="F3F6FA"/>
          </a:solidFill>
          <a:ln/>
        </p:spPr>
      </p:sp>
      <p:sp>
        <p:nvSpPr>
          <p:cNvPr id="28" name="Text 26"/>
          <p:cNvSpPr/>
          <p:nvPr/>
        </p:nvSpPr>
        <p:spPr>
          <a:xfrm>
            <a:off x="3584448" y="3227832"/>
            <a:ext cx="2185416" cy="502920"/>
          </a:xfrm>
          <a:prstGeom prst="rect">
            <a:avLst/>
          </a:prstGeom>
          <a:noFill/>
          <a:ln/>
        </p:spPr>
        <p:txBody>
          <a:bodyPr wrap="square" lIns="0" tIns="0" rIns="0" bIns="0" rtlCol="0" anchor="ctr"/>
          <a:lstStyle/>
          <a:p>
            <a:pPr indent="0" marL="0">
              <a:buNone/>
            </a:pPr>
            <a:r>
              <a:rPr lang="en-US" sz="2300" b="1" dirty="0">
                <a:solidFill>
                  <a:srgbClr val="C0713A"/>
                </a:solidFill>
                <a:latin typeface="Malgun Gothic" pitchFamily="34" charset="0"/>
                <a:ea typeface="Malgun Gothic" pitchFamily="34" charset="-122"/>
                <a:cs typeface="Malgun Gothic" pitchFamily="34" charset="-120"/>
              </a:rPr>
              <a:t>★★★ 9사</a:t>
            </a:r>
            <a:endParaRPr lang="en-US" sz="2300" dirty="0"/>
          </a:p>
        </p:txBody>
      </p:sp>
      <p:sp>
        <p:nvSpPr>
          <p:cNvPr id="29" name="Text 27"/>
          <p:cNvSpPr/>
          <p:nvPr/>
        </p:nvSpPr>
        <p:spPr>
          <a:xfrm>
            <a:off x="3584448" y="3739896"/>
            <a:ext cx="2185416" cy="292608"/>
          </a:xfrm>
          <a:prstGeom prst="rect">
            <a:avLst/>
          </a:prstGeom>
          <a:noFill/>
          <a:ln/>
        </p:spPr>
        <p:txBody>
          <a:bodyPr wrap="square" lIns="0" tIns="0" rIns="0" bIns="0" rtlCol="0" anchor="ctr"/>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시계열 인과 확인</a:t>
            </a:r>
            <a:endParaRPr lang="en-US" sz="1200" dirty="0"/>
          </a:p>
        </p:txBody>
      </p:sp>
      <p:sp>
        <p:nvSpPr>
          <p:cNvPr id="30" name="Text 28"/>
          <p:cNvSpPr/>
          <p:nvPr/>
        </p:nvSpPr>
        <p:spPr>
          <a:xfrm>
            <a:off x="3584448" y="4050792"/>
            <a:ext cx="2185416" cy="676656"/>
          </a:xfrm>
          <a:prstGeom prst="rect">
            <a:avLst/>
          </a:prstGeom>
          <a:noFill/>
          <a:ln/>
        </p:spPr>
        <p:txBody>
          <a:bodyPr wrap="square" lIns="0" tIns="0" rIns="0" bIns="0" rtlCol="0" anchor="t"/>
          <a:lstStyle/>
          <a:p>
            <a:pPr indent="0" marL="0">
              <a:buNone/>
            </a:pPr>
            <a:r>
              <a:rPr lang="en-US" sz="950" dirty="0">
                <a:solidFill>
                  <a:srgbClr val="5B6B7F"/>
                </a:solidFill>
                <a:latin typeface="Malgun Gothic" pitchFamily="34" charset="0"/>
                <a:ea typeface="Malgun Gothic" pitchFamily="34" charset="-122"/>
                <a:cs typeface="Malgun Gothic" pitchFamily="34" charset="-120"/>
              </a:rPr>
              <a:t>앵커 투자 '발표 이후'의 증설·수상을 1차 정보로 확인한 종목 수</a:t>
            </a:r>
            <a:endParaRPr lang="en-US" sz="950" dirty="0"/>
          </a:p>
        </p:txBody>
      </p:sp>
      <p:sp>
        <p:nvSpPr>
          <p:cNvPr id="31" name="Shape 29"/>
          <p:cNvSpPr/>
          <p:nvPr/>
        </p:nvSpPr>
        <p:spPr>
          <a:xfrm>
            <a:off x="6217920" y="3063240"/>
            <a:ext cx="2587752" cy="1737360"/>
          </a:xfrm>
          <a:prstGeom prst="roundRect">
            <a:avLst>
              <a:gd name="adj" fmla="val 3684"/>
            </a:avLst>
          </a:prstGeom>
          <a:solidFill>
            <a:srgbClr val="F3F6FA"/>
          </a:solidFill>
          <a:ln/>
        </p:spPr>
      </p:sp>
      <p:sp>
        <p:nvSpPr>
          <p:cNvPr id="32" name="Text 30"/>
          <p:cNvSpPr/>
          <p:nvPr/>
        </p:nvSpPr>
        <p:spPr>
          <a:xfrm>
            <a:off x="6419088" y="3227832"/>
            <a:ext cx="2185416" cy="502920"/>
          </a:xfrm>
          <a:prstGeom prst="rect">
            <a:avLst/>
          </a:prstGeom>
          <a:noFill/>
          <a:ln/>
        </p:spPr>
        <p:txBody>
          <a:bodyPr wrap="square" lIns="0" tIns="0" rIns="0" bIns="0" rtlCol="0" anchor="ctr"/>
          <a:lstStyle/>
          <a:p>
            <a:pPr indent="0" marL="0">
              <a:buNone/>
            </a:pPr>
            <a:r>
              <a:rPr lang="en-US" sz="2300" b="1" dirty="0">
                <a:solidFill>
                  <a:srgbClr val="C0713A"/>
                </a:solidFill>
                <a:latin typeface="Malgun Gothic" pitchFamily="34" charset="0"/>
                <a:ea typeface="Malgun Gothic" pitchFamily="34" charset="-122"/>
                <a:cs typeface="Malgun Gothic" pitchFamily="34" charset="-120"/>
              </a:rPr>
              <a:t>13 + 2</a:t>
            </a:r>
            <a:endParaRPr lang="en-US" sz="2300" dirty="0"/>
          </a:p>
        </p:txBody>
      </p:sp>
      <p:sp>
        <p:nvSpPr>
          <p:cNvPr id="33" name="Text 31"/>
          <p:cNvSpPr/>
          <p:nvPr/>
        </p:nvSpPr>
        <p:spPr>
          <a:xfrm>
            <a:off x="6419088" y="3739896"/>
            <a:ext cx="2185416" cy="292608"/>
          </a:xfrm>
          <a:prstGeom prst="rect">
            <a:avLst/>
          </a:prstGeom>
          <a:noFill/>
          <a:ln/>
        </p:spPr>
        <p:txBody>
          <a:bodyPr wrap="square" lIns="0" tIns="0" rIns="0" bIns="0" rtlCol="0" anchor="ctr"/>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이축 클러스터</a:t>
            </a:r>
            <a:endParaRPr lang="en-US" sz="1200" dirty="0"/>
          </a:p>
        </p:txBody>
      </p:sp>
      <p:sp>
        <p:nvSpPr>
          <p:cNvPr id="34" name="Text 32"/>
          <p:cNvSpPr/>
          <p:nvPr/>
        </p:nvSpPr>
        <p:spPr>
          <a:xfrm>
            <a:off x="6419088" y="4050792"/>
            <a:ext cx="2185416" cy="676656"/>
          </a:xfrm>
          <a:prstGeom prst="rect">
            <a:avLst/>
          </a:prstGeom>
          <a:noFill/>
          <a:ln/>
        </p:spPr>
        <p:txBody>
          <a:bodyPr wrap="square" lIns="0" tIns="0" rIns="0" bIns="0" rtlCol="0" anchor="t"/>
          <a:lstStyle/>
          <a:p>
            <a:pPr indent="0" marL="0">
              <a:buNone/>
            </a:pPr>
            <a:r>
              <a:rPr lang="en-US" sz="950" dirty="0">
                <a:solidFill>
                  <a:srgbClr val="5B6B7F"/>
                </a:solidFill>
                <a:latin typeface="Malgun Gothic" pitchFamily="34" charset="0"/>
                <a:ea typeface="Malgun Gothic" pitchFamily="34" charset="-122"/>
                <a:cs typeface="Malgun Gothic" pitchFamily="34" charset="-120"/>
              </a:rPr>
              <a:t>규슈(TSMC 구마모토 등 다층 앵커)와 도호쿠(키옥시아 기타카미)의 이축 구성</a:t>
            </a:r>
            <a:endParaRPr lang="en-US" sz="950" dirty="0"/>
          </a:p>
        </p:txBody>
      </p:sp>
      <p:sp>
        <p:nvSpPr>
          <p:cNvPr id="35" name="Shape 33"/>
          <p:cNvSpPr/>
          <p:nvPr/>
        </p:nvSpPr>
        <p:spPr>
          <a:xfrm>
            <a:off x="9052560" y="3063240"/>
            <a:ext cx="2587752" cy="1737360"/>
          </a:xfrm>
          <a:prstGeom prst="roundRect">
            <a:avLst>
              <a:gd name="adj" fmla="val 3684"/>
            </a:avLst>
          </a:prstGeom>
          <a:solidFill>
            <a:srgbClr val="F3F6FA"/>
          </a:solidFill>
          <a:ln/>
        </p:spPr>
      </p:sp>
      <p:sp>
        <p:nvSpPr>
          <p:cNvPr id="36" name="Text 34"/>
          <p:cNvSpPr/>
          <p:nvPr/>
        </p:nvSpPr>
        <p:spPr>
          <a:xfrm>
            <a:off x="9253728" y="3227832"/>
            <a:ext cx="2185416" cy="502920"/>
          </a:xfrm>
          <a:prstGeom prst="rect">
            <a:avLst/>
          </a:prstGeom>
          <a:noFill/>
          <a:ln/>
        </p:spPr>
        <p:txBody>
          <a:bodyPr wrap="square" lIns="0" tIns="0" rIns="0" bIns="0" rtlCol="0" anchor="ctr"/>
          <a:lstStyle/>
          <a:p>
            <a:pPr indent="0" marL="0">
              <a:buNone/>
            </a:pPr>
            <a:r>
              <a:rPr lang="en-US" sz="2300" b="1" dirty="0">
                <a:solidFill>
                  <a:srgbClr val="C0713A"/>
                </a:solidFill>
                <a:latin typeface="Malgun Gothic" pitchFamily="34" charset="0"/>
                <a:ea typeface="Malgun Gothic" pitchFamily="34" charset="-122"/>
                <a:cs typeface="Malgun Gothic" pitchFamily="34" charset="-120"/>
              </a:rPr>
              <a:t>500만엔</a:t>
            </a:r>
            <a:endParaRPr lang="en-US" sz="2300" dirty="0"/>
          </a:p>
        </p:txBody>
      </p:sp>
      <p:sp>
        <p:nvSpPr>
          <p:cNvPr id="37" name="Text 35"/>
          <p:cNvSpPr/>
          <p:nvPr/>
        </p:nvSpPr>
        <p:spPr>
          <a:xfrm>
            <a:off x="9253728" y="3739896"/>
            <a:ext cx="2185416" cy="292608"/>
          </a:xfrm>
          <a:prstGeom prst="rect">
            <a:avLst/>
          </a:prstGeom>
          <a:noFill/>
          <a:ln/>
        </p:spPr>
        <p:txBody>
          <a:bodyPr wrap="square" lIns="0" tIns="0" rIns="0" bIns="0" rtlCol="0" anchor="ctr"/>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배분 설계 완료</a:t>
            </a:r>
            <a:endParaRPr lang="en-US" sz="1200" dirty="0"/>
          </a:p>
        </p:txBody>
      </p:sp>
      <p:sp>
        <p:nvSpPr>
          <p:cNvPr id="38" name="Text 36"/>
          <p:cNvSpPr/>
          <p:nvPr/>
        </p:nvSpPr>
        <p:spPr>
          <a:xfrm>
            <a:off x="9253728" y="4050792"/>
            <a:ext cx="2185416" cy="676656"/>
          </a:xfrm>
          <a:prstGeom prst="rect">
            <a:avLst/>
          </a:prstGeom>
          <a:noFill/>
          <a:ln/>
        </p:spPr>
        <p:txBody>
          <a:bodyPr wrap="square" lIns="0" tIns="0" rIns="0" bIns="0" rtlCol="0" anchor="t"/>
          <a:lstStyle/>
          <a:p>
            <a:pPr indent="0" marL="0">
              <a:buNone/>
            </a:pPr>
            <a:r>
              <a:rPr lang="en-US" sz="950" dirty="0">
                <a:solidFill>
                  <a:srgbClr val="5B6B7F"/>
                </a:solidFill>
                <a:latin typeface="Malgun Gothic" pitchFamily="34" charset="0"/>
                <a:ea typeface="Malgun Gothic" pitchFamily="34" charset="-122"/>
                <a:cs typeface="Malgun Gothic" pitchFamily="34" charset="-120"/>
              </a:rPr>
              <a:t>현재가 QARP 비례+상한10%/하한4%, 매매수수료 1.1% 차감 완료</a:t>
            </a:r>
            <a:endParaRPr lang="en-US" sz="950" dirty="0"/>
          </a:p>
        </p:txBody>
      </p:sp>
      <p:sp>
        <p:nvSpPr>
          <p:cNvPr id="39" name="Text 37"/>
          <p:cNvSpPr/>
          <p:nvPr/>
        </p:nvSpPr>
        <p:spPr>
          <a:xfrm>
            <a:off x="548640" y="5138928"/>
            <a:ext cx="11094415" cy="457200"/>
          </a:xfrm>
          <a:prstGeom prst="rect">
            <a:avLst/>
          </a:prstGeom>
          <a:noFill/>
          <a:ln/>
        </p:spPr>
        <p:txBody>
          <a:bodyPr wrap="square" lIns="0" tIns="0" rIns="0" bIns="0" rtlCol="0" anchor="t"/>
          <a:lstStyle/>
          <a:p>
            <a:pPr algn="ctr" indent="0" marL="0">
              <a:buNone/>
            </a:pPr>
            <a:r>
              <a:rPr lang="en-US" sz="1200" b="1" dirty="0">
                <a:solidFill>
                  <a:srgbClr val="1C2B4A"/>
                </a:solidFill>
                <a:latin typeface="Malgun Gothic" pitchFamily="34" charset="0"/>
                <a:ea typeface="Malgun Gothic" pitchFamily="34" charset="-122"/>
                <a:cs typeface="Malgun Gothic" pitchFamily="34" charset="-120"/>
              </a:rPr>
              <a:t>선정＝앵커(＝집적의 핵이 되는 대공장)로 결정 ・ 순위＝QARP(양질×저평가 자체 지표) ・ 비중＝현재 주가 기준　</a:t>
            </a:r>
            <a:pPr algn="ctr" indent="0" marL="0">
              <a:buNone/>
            </a:pPr>
            <a:r>
              <a:rPr lang="en-US" sz="1200" dirty="0">
                <a:solidFill>
                  <a:srgbClr val="5B6B7F"/>
                </a:solidFill>
                <a:latin typeface="Malgun Gothic" pitchFamily="34" charset="0"/>
                <a:ea typeface="Malgun Gothic" pitchFamily="34" charset="-122"/>
                <a:cs typeface="Malgun Gothic" pitchFamily="34" charset="-120"/>
              </a:rPr>
              <a:t>—'테마를 검증하는 종목 안에서, 좋고 싸게'</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algun Gothic" pitchFamily="34" charset="0"/>
                <a:ea typeface="Malgun Gothic" pitchFamily="34" charset="-122"/>
                <a:cs typeface="Malgun Gothic" pitchFamily="34" charset="-120"/>
              </a:rPr>
              <a:t>THEME &amp; SOCIAL VALUE</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300" b="1" dirty="0">
                <a:solidFill>
                  <a:srgbClr val="1C2B4A"/>
                </a:solidFill>
                <a:latin typeface="Malgun Gothic" pitchFamily="34" charset="0"/>
                <a:ea typeface="Malgun Gothic" pitchFamily="34" charset="-122"/>
                <a:cs typeface="Malgun Gothic" pitchFamily="34" charset="-120"/>
              </a:rPr>
              <a:t>투자 테마의 사회적 의의 — 지방창생 × 경제안보</a:t>
            </a:r>
            <a:endParaRPr lang="en-US" sz="23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algun Gothic" pitchFamily="34" charset="0"/>
                <a:ea typeface="Malgun Gothic" pitchFamily="34" charset="-122"/>
                <a:cs typeface="Malgun Gothic" pitchFamily="34" charset="-120"/>
              </a:rPr>
              <a:t>닛케이 스톡리그 2026｜후공정 니치 톱 × 지방 클러스터</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algun Gothic" pitchFamily="34" charset="0"/>
                <a:ea typeface="Malgun Gothic" pitchFamily="34" charset="-122"/>
                <a:cs typeface="Malgun Gothic" pitchFamily="34" charset="-120"/>
              </a:rPr>
              <a:t>5</a:t>
            </a:r>
            <a:endParaRPr lang="en-US" sz="900" dirty="0"/>
          </a:p>
        </p:txBody>
      </p:sp>
      <p:sp>
        <p:nvSpPr>
          <p:cNvPr id="9" name="Shape 7"/>
          <p:cNvSpPr/>
          <p:nvPr/>
        </p:nvSpPr>
        <p:spPr>
          <a:xfrm>
            <a:off x="548640" y="1371600"/>
            <a:ext cx="5413248" cy="3931920"/>
          </a:xfrm>
          <a:prstGeom prst="roundRect">
            <a:avLst>
              <a:gd name="adj" fmla="val 1628"/>
            </a:avLst>
          </a:prstGeom>
          <a:solidFill>
            <a:srgbClr val="F3F6FA"/>
          </a:solidFill>
          <a:ln/>
        </p:spPr>
      </p:sp>
      <p:sp>
        <p:nvSpPr>
          <p:cNvPr id="10" name="Text 8"/>
          <p:cNvSpPr/>
          <p:nvPr/>
        </p:nvSpPr>
        <p:spPr>
          <a:xfrm>
            <a:off x="822960" y="1645920"/>
            <a:ext cx="566928" cy="566928"/>
          </a:xfrm>
          <a:prstGeom prst="ellipse">
            <a:avLst/>
          </a:prstGeom>
          <a:solidFill>
            <a:srgbClr val="C0713A"/>
          </a:solid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創</a:t>
            </a:r>
            <a:endParaRPr lang="en-US" sz="2000" dirty="0"/>
          </a:p>
        </p:txBody>
      </p:sp>
      <p:sp>
        <p:nvSpPr>
          <p:cNvPr id="11" name="Text 9"/>
          <p:cNvSpPr/>
          <p:nvPr/>
        </p:nvSpPr>
        <p:spPr>
          <a:xfrm>
            <a:off x="1554480" y="1627632"/>
            <a:ext cx="4133088" cy="365760"/>
          </a:xfrm>
          <a:prstGeom prst="rect">
            <a:avLst/>
          </a:prstGeom>
          <a:noFill/>
          <a:ln/>
        </p:spPr>
        <p:txBody>
          <a:bodyPr wrap="square" lIns="0" tIns="0" rIns="0" bIns="0" rtlCol="0" anchor="ctr"/>
          <a:lstStyle/>
          <a:p>
            <a:pPr indent="0" marL="0">
              <a:buNone/>
            </a:pPr>
            <a:r>
              <a:rPr lang="en-US" sz="1900" b="1" dirty="0">
                <a:solidFill>
                  <a:srgbClr val="1C2B4A"/>
                </a:solidFill>
                <a:latin typeface="Malgun Gothic" pitchFamily="34" charset="0"/>
                <a:ea typeface="Malgun Gothic" pitchFamily="34" charset="-122"/>
                <a:cs typeface="Malgun Gothic" pitchFamily="34" charset="-120"/>
              </a:rPr>
              <a:t>지방창생</a:t>
            </a:r>
            <a:endParaRPr lang="en-US" sz="1900" dirty="0"/>
          </a:p>
        </p:txBody>
      </p:sp>
      <p:sp>
        <p:nvSpPr>
          <p:cNvPr id="12" name="Text 10"/>
          <p:cNvSpPr/>
          <p:nvPr/>
        </p:nvSpPr>
        <p:spPr>
          <a:xfrm>
            <a:off x="1554480" y="1993392"/>
            <a:ext cx="4133088" cy="292608"/>
          </a:xfrm>
          <a:prstGeom prst="rect">
            <a:avLst/>
          </a:prstGeom>
          <a:noFill/>
          <a:ln/>
        </p:spPr>
        <p:txBody>
          <a:bodyPr wrap="square" lIns="0" tIns="0" rIns="0" bIns="0" rtlCol="0" anchor="ctr"/>
          <a:lstStyle/>
          <a:p>
            <a:pPr indent="0" marL="0">
              <a:buNone/>
            </a:pPr>
            <a:r>
              <a:rPr lang="en-US" sz="1100" dirty="0">
                <a:solidFill>
                  <a:srgbClr val="5B6B7F"/>
                </a:solidFill>
                <a:latin typeface="Malgun Gothic" pitchFamily="34" charset="0"/>
                <a:ea typeface="Malgun Gothic" pitchFamily="34" charset="-122"/>
                <a:cs typeface="Malgun Gothic" pitchFamily="34" charset="-120"/>
              </a:rPr>
              <a:t>앵커 팹이, 지방에 고용과 생태계를 낳는다</a:t>
            </a:r>
            <a:endParaRPr lang="en-US" sz="1100" dirty="0"/>
          </a:p>
        </p:txBody>
      </p:sp>
      <p:sp>
        <p:nvSpPr>
          <p:cNvPr id="13" name="Text 11"/>
          <p:cNvSpPr/>
          <p:nvPr/>
        </p:nvSpPr>
        <p:spPr>
          <a:xfrm>
            <a:off x="868680" y="2560320"/>
            <a:ext cx="4773168" cy="841248"/>
          </a:xfrm>
          <a:prstGeom prst="rect">
            <a:avLst/>
          </a:prstGeom>
          <a:noFill/>
          <a:ln/>
        </p:spPr>
        <p:txBody>
          <a:bodyPr wrap="square" lIns="0" tIns="0" rIns="0" bIns="0" rtlCol="0" anchor="t"/>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히라타기공 (구마모토)</a:t>
            </a:r>
            <a:endParaRPr lang="en-US" sz="1200" dirty="0"/>
          </a:p>
          <a:p>
            <a:pPr indent="0" marL="0">
              <a:buNone/>
            </a:pPr>
            <a:r>
              <a:rPr lang="en-US" sz="1050" dirty="0">
                <a:solidFill>
                  <a:srgbClr val="5B6B7F"/>
                </a:solidFill>
                <a:latin typeface="Malgun Gothic" pitchFamily="34" charset="0"/>
                <a:ea typeface="Malgun Gothic" pitchFamily="34" charset="-122"/>
                <a:cs typeface="Malgun Gothic" pitchFamily="34" charset="-120"/>
              </a:rPr>
              <a:t>본사는 구마모토시 — 지역 토박이 기업이 TSMC 유치를 계기로 기쿠치 신공장에서 반도체 5할 증산으로</a:t>
            </a:r>
            <a:endParaRPr lang="en-US" sz="1200" dirty="0"/>
          </a:p>
        </p:txBody>
      </p:sp>
      <p:sp>
        <p:nvSpPr>
          <p:cNvPr id="14" name="Text 12"/>
          <p:cNvSpPr/>
          <p:nvPr/>
        </p:nvSpPr>
        <p:spPr>
          <a:xfrm>
            <a:off x="868680" y="3456432"/>
            <a:ext cx="4773168" cy="841248"/>
          </a:xfrm>
          <a:prstGeom prst="rect">
            <a:avLst/>
          </a:prstGeom>
          <a:noFill/>
          <a:ln/>
        </p:spPr>
        <p:txBody>
          <a:bodyPr wrap="square" lIns="0" tIns="0" rIns="0" bIns="0" rtlCol="0" anchor="t"/>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닛토방적 (후쿠시마)</a:t>
            </a:r>
            <a:endParaRPr lang="en-US" sz="1200" dirty="0"/>
          </a:p>
          <a:p>
            <a:pPr indent="0" marL="0">
              <a:buNone/>
            </a:pPr>
            <a:r>
              <a:rPr lang="en-US" sz="1050" dirty="0">
                <a:solidFill>
                  <a:srgbClr val="5B6B7F"/>
                </a:solidFill>
                <a:latin typeface="Malgun Gothic" pitchFamily="34" charset="0"/>
                <a:ea typeface="Malgun Gothic" pitchFamily="34" charset="-122"/>
                <a:cs typeface="Malgun Gothic" pitchFamily="34" charset="-120"/>
              </a:rPr>
              <a:t>본사 후쿠시마시. 150억엔 신공장 건설 — 지역 고용 확대가 보도됨</a:t>
            </a:r>
            <a:endParaRPr lang="en-US" sz="1200" dirty="0"/>
          </a:p>
        </p:txBody>
      </p:sp>
      <p:sp>
        <p:nvSpPr>
          <p:cNvPr id="15" name="Text 13"/>
          <p:cNvSpPr/>
          <p:nvPr/>
        </p:nvSpPr>
        <p:spPr>
          <a:xfrm>
            <a:off x="868680" y="4352544"/>
            <a:ext cx="4773168" cy="841248"/>
          </a:xfrm>
          <a:prstGeom prst="rect">
            <a:avLst/>
          </a:prstGeom>
          <a:noFill/>
          <a:ln/>
        </p:spPr>
        <p:txBody>
          <a:bodyPr wrap="square" lIns="0" tIns="0" rIns="0" bIns="0" rtlCol="0" anchor="t"/>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일본마이크로닉스 (아오모리)</a:t>
            </a:r>
            <a:endParaRPr lang="en-US" sz="1200" dirty="0"/>
          </a:p>
          <a:p>
            <a:pPr indent="0" marL="0">
              <a:buNone/>
            </a:pPr>
            <a:r>
              <a:rPr lang="en-US" sz="1050" dirty="0">
                <a:solidFill>
                  <a:srgbClr val="5B6B7F"/>
                </a:solidFill>
                <a:latin typeface="Malgun Gothic" pitchFamily="34" charset="0"/>
                <a:ea typeface="Malgun Gothic" pitchFamily="34" charset="-122"/>
                <a:cs typeface="Malgun Gothic" pitchFamily="34" charset="-120"/>
              </a:rPr>
              <a:t>히라카와 거점은 1981년부터. 신동 110억엔+추가 241억엔의 대형 투자</a:t>
            </a:r>
            <a:endParaRPr lang="en-US" sz="1200" dirty="0"/>
          </a:p>
        </p:txBody>
      </p:sp>
      <p:sp>
        <p:nvSpPr>
          <p:cNvPr id="16" name="Shape 14"/>
          <p:cNvSpPr/>
          <p:nvPr/>
        </p:nvSpPr>
        <p:spPr>
          <a:xfrm>
            <a:off x="6227064" y="1371600"/>
            <a:ext cx="5413248" cy="3931920"/>
          </a:xfrm>
          <a:prstGeom prst="roundRect">
            <a:avLst>
              <a:gd name="adj" fmla="val 1628"/>
            </a:avLst>
          </a:prstGeom>
          <a:solidFill>
            <a:srgbClr val="F3F6FA"/>
          </a:solidFill>
          <a:ln/>
        </p:spPr>
      </p:sp>
      <p:sp>
        <p:nvSpPr>
          <p:cNvPr id="17" name="Text 15"/>
          <p:cNvSpPr/>
          <p:nvPr/>
        </p:nvSpPr>
        <p:spPr>
          <a:xfrm>
            <a:off x="6501384" y="1645920"/>
            <a:ext cx="566928" cy="566928"/>
          </a:xfrm>
          <a:prstGeom prst="ellipse">
            <a:avLst/>
          </a:prstGeom>
          <a:solidFill>
            <a:srgbClr val="C0713A"/>
          </a:solid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保</a:t>
            </a:r>
            <a:endParaRPr lang="en-US" sz="2000" dirty="0"/>
          </a:p>
        </p:txBody>
      </p:sp>
      <p:sp>
        <p:nvSpPr>
          <p:cNvPr id="18" name="Text 16"/>
          <p:cNvSpPr/>
          <p:nvPr/>
        </p:nvSpPr>
        <p:spPr>
          <a:xfrm>
            <a:off x="7232904" y="1627632"/>
            <a:ext cx="4133088" cy="365760"/>
          </a:xfrm>
          <a:prstGeom prst="rect">
            <a:avLst/>
          </a:prstGeom>
          <a:noFill/>
          <a:ln/>
        </p:spPr>
        <p:txBody>
          <a:bodyPr wrap="square" lIns="0" tIns="0" rIns="0" bIns="0" rtlCol="0" anchor="ctr"/>
          <a:lstStyle/>
          <a:p>
            <a:pPr indent="0" marL="0">
              <a:buNone/>
            </a:pPr>
            <a:r>
              <a:rPr lang="en-US" sz="1900" b="1" dirty="0">
                <a:solidFill>
                  <a:srgbClr val="1C2B4A"/>
                </a:solidFill>
                <a:latin typeface="Malgun Gothic" pitchFamily="34" charset="0"/>
                <a:ea typeface="Malgun Gothic" pitchFamily="34" charset="-122"/>
                <a:cs typeface="Malgun Gothic" pitchFamily="34" charset="-120"/>
              </a:rPr>
              <a:t>경제안보</a:t>
            </a:r>
            <a:endParaRPr lang="en-US" sz="1900" dirty="0"/>
          </a:p>
        </p:txBody>
      </p:sp>
      <p:sp>
        <p:nvSpPr>
          <p:cNvPr id="19" name="Text 17"/>
          <p:cNvSpPr/>
          <p:nvPr/>
        </p:nvSpPr>
        <p:spPr>
          <a:xfrm>
            <a:off x="7232904" y="1993392"/>
            <a:ext cx="4133088" cy="292608"/>
          </a:xfrm>
          <a:prstGeom prst="rect">
            <a:avLst/>
          </a:prstGeom>
          <a:noFill/>
          <a:ln/>
        </p:spPr>
        <p:txBody>
          <a:bodyPr wrap="square" lIns="0" tIns="0" rIns="0" bIns="0" rtlCol="0" anchor="ctr"/>
          <a:lstStyle/>
          <a:p>
            <a:pPr indent="0" marL="0">
              <a:buNone/>
            </a:pPr>
            <a:r>
              <a:rPr lang="en-US" sz="1100" dirty="0">
                <a:solidFill>
                  <a:srgbClr val="5B6B7F"/>
                </a:solidFill>
                <a:latin typeface="Malgun Gothic" pitchFamily="34" charset="0"/>
                <a:ea typeface="Malgun Gothic" pitchFamily="34" charset="-122"/>
                <a:cs typeface="Malgun Gothic" pitchFamily="34" charset="-120"/>
              </a:rPr>
              <a:t>반도체 공급망의 국내 재구축</a:t>
            </a:r>
            <a:endParaRPr lang="en-US" sz="1100" dirty="0"/>
          </a:p>
        </p:txBody>
      </p:sp>
      <p:sp>
        <p:nvSpPr>
          <p:cNvPr id="20" name="Text 18"/>
          <p:cNvSpPr/>
          <p:nvPr/>
        </p:nvSpPr>
        <p:spPr>
          <a:xfrm>
            <a:off x="6547104" y="2560320"/>
            <a:ext cx="4773168" cy="841248"/>
          </a:xfrm>
          <a:prstGeom prst="rect">
            <a:avLst/>
          </a:prstGeom>
          <a:noFill/>
          <a:ln/>
        </p:spPr>
        <p:txBody>
          <a:bodyPr wrap="square" lIns="0" tIns="0" rIns="0" bIns="0" rtlCol="0" anchor="t"/>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경산성 '공급확보계획' 인정</a:t>
            </a:r>
            <a:endParaRPr lang="en-US" sz="1200" dirty="0"/>
          </a:p>
          <a:p>
            <a:pPr indent="0" marL="0">
              <a:buNone/>
            </a:pPr>
            <a:r>
              <a:rPr lang="en-US" sz="1050" dirty="0">
                <a:solidFill>
                  <a:srgbClr val="5B6B7F"/>
                </a:solidFill>
                <a:latin typeface="Malgun Gothic" pitchFamily="34" charset="0"/>
                <a:ea typeface="Malgun Gothic" pitchFamily="34" charset="-122"/>
                <a:cs typeface="Malgun Gothic" pitchFamily="34" charset="-120"/>
              </a:rPr>
              <a:t>닛토방적의 T글라스 신공장은 국가 공급확보계획에 인정 — 정책과의 정합</a:t>
            </a:r>
            <a:endParaRPr lang="en-US" sz="1200" dirty="0"/>
          </a:p>
        </p:txBody>
      </p:sp>
      <p:sp>
        <p:nvSpPr>
          <p:cNvPr id="21" name="Text 19"/>
          <p:cNvSpPr/>
          <p:nvPr/>
        </p:nvSpPr>
        <p:spPr>
          <a:xfrm>
            <a:off x="6547104" y="3456432"/>
            <a:ext cx="4773168" cy="841248"/>
          </a:xfrm>
          <a:prstGeom prst="rect">
            <a:avLst/>
          </a:prstGeom>
          <a:noFill/>
          <a:ln/>
        </p:spPr>
        <p:txBody>
          <a:bodyPr wrap="square" lIns="0" tIns="0" rIns="0" bIns="0" rtlCol="0" anchor="t"/>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국책 유치가 배경</a:t>
            </a:r>
            <a:endParaRPr lang="en-US" sz="1200" dirty="0"/>
          </a:p>
          <a:p>
            <a:pPr indent="0" marL="0">
              <a:buNone/>
            </a:pPr>
            <a:r>
              <a:rPr lang="en-US" sz="1050" dirty="0">
                <a:solidFill>
                  <a:srgbClr val="5B6B7F"/>
                </a:solidFill>
                <a:latin typeface="Malgun Gothic" pitchFamily="34" charset="0"/>
                <a:ea typeface="Malgun Gothic" pitchFamily="34" charset="-122"/>
                <a:cs typeface="Malgun Gothic" pitchFamily="34" charset="-120"/>
              </a:rPr>
              <a:t>TSMC 구마모토(JASM)·라피더스 홋카이도 — 국가가 유치한 첨단 팹이 집적의 시작점</a:t>
            </a:r>
            <a:endParaRPr lang="en-US" sz="1200" dirty="0"/>
          </a:p>
        </p:txBody>
      </p:sp>
      <p:sp>
        <p:nvSpPr>
          <p:cNvPr id="22" name="Text 20"/>
          <p:cNvSpPr/>
          <p:nvPr/>
        </p:nvSpPr>
        <p:spPr>
          <a:xfrm>
            <a:off x="6547104" y="4352544"/>
            <a:ext cx="4773168" cy="841248"/>
          </a:xfrm>
          <a:prstGeom prst="rect">
            <a:avLst/>
          </a:prstGeom>
          <a:noFill/>
          <a:ln/>
        </p:spPr>
        <p:txBody>
          <a:bodyPr wrap="square" lIns="0" tIns="0" rIns="0" bIns="0" rtlCol="0" anchor="t"/>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기반 인프라의 국내 확보</a:t>
            </a:r>
            <a:endParaRPr lang="en-US" sz="1200" dirty="0"/>
          </a:p>
          <a:p>
            <a:pPr indent="0" marL="0">
              <a:buNone/>
            </a:pPr>
            <a:r>
              <a:rPr lang="en-US" sz="1050" dirty="0">
                <a:solidFill>
                  <a:srgbClr val="5B6B7F"/>
                </a:solidFill>
                <a:latin typeface="Malgun Gothic" pitchFamily="34" charset="0"/>
                <a:ea typeface="Malgun Gothic" pitchFamily="34" charset="-122"/>
                <a:cs typeface="Malgun Gothic" pitchFamily="34" charset="-120"/>
              </a:rPr>
              <a:t>초순수·특수가스·정밀부재 — 팹을 지탱하는 '보이지 않는 기술'을 국내에 유지</a:t>
            </a:r>
            <a:endParaRPr lang="en-US" sz="1200" dirty="0"/>
          </a:p>
        </p:txBody>
      </p:sp>
      <p:sp>
        <p:nvSpPr>
          <p:cNvPr id="23" name="Shape 21"/>
          <p:cNvSpPr/>
          <p:nvPr/>
        </p:nvSpPr>
        <p:spPr>
          <a:xfrm>
            <a:off x="548640" y="5532120"/>
            <a:ext cx="11094415" cy="566928"/>
          </a:xfrm>
          <a:prstGeom prst="roundRect">
            <a:avLst>
              <a:gd name="adj" fmla="val 11290"/>
            </a:avLst>
          </a:prstGeom>
          <a:solidFill>
            <a:srgbClr val="1C2B4A"/>
          </a:solidFill>
          <a:ln/>
        </p:spPr>
      </p:sp>
      <p:sp>
        <p:nvSpPr>
          <p:cNvPr id="24" name="Text 22"/>
          <p:cNvSpPr/>
          <p:nvPr/>
        </p:nvSpPr>
        <p:spPr>
          <a:xfrm>
            <a:off x="822960" y="5532120"/>
            <a:ext cx="10545775"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이 포트폴리오 자체가, 지방창생과 경제안보의 '진행 지표'가 된다 — 투자로 사회 문제를 읽는다.</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algun Gothic" pitchFamily="34" charset="0"/>
                <a:ea typeface="Malgun Gothic" pitchFamily="34" charset="-122"/>
                <a:cs typeface="Malgun Gothic" pitchFamily="34" charset="-120"/>
              </a:rPr>
              <a:t>HYPOTHESIS</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300" b="1" dirty="0">
                <a:solidFill>
                  <a:srgbClr val="1C2B4A"/>
                </a:solidFill>
                <a:latin typeface="Malgun Gothic" pitchFamily="34" charset="0"/>
                <a:ea typeface="Malgun Gothic" pitchFamily="34" charset="-122"/>
                <a:cs typeface="Malgun Gothic" pitchFamily="34" charset="-120"/>
              </a:rPr>
              <a:t>왜 후공정은 팹 근처에 모이는가 — 4가지 구조 요인</a:t>
            </a:r>
            <a:endParaRPr lang="en-US" sz="23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algun Gothic" pitchFamily="34" charset="0"/>
                <a:ea typeface="Malgun Gothic" pitchFamily="34" charset="-122"/>
                <a:cs typeface="Malgun Gothic" pitchFamily="34" charset="-120"/>
              </a:rPr>
              <a:t>닛케이 스톡리그 2026｜후공정 니치 톱 × 지방 클러스터</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algun Gothic" pitchFamily="34" charset="0"/>
                <a:ea typeface="Malgun Gothic" pitchFamily="34" charset="-122"/>
                <a:cs typeface="Malgun Gothic" pitchFamily="34" charset="-120"/>
              </a:rPr>
              <a:t>6</a:t>
            </a:r>
            <a:endParaRPr lang="en-US" sz="900" dirty="0"/>
          </a:p>
        </p:txBody>
      </p:sp>
      <p:sp>
        <p:nvSpPr>
          <p:cNvPr id="9" name="Text 7"/>
          <p:cNvSpPr/>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5B6B7F"/>
                </a:solidFill>
                <a:latin typeface="Malgun Gothic" pitchFamily="34" charset="0"/>
                <a:ea typeface="Malgun Gothic" pitchFamily="34" charset="-122"/>
                <a:cs typeface="Malgun Gothic" pitchFamily="34" charset="-120"/>
              </a:rPr>
              <a:t>전공정(웨이퍼 제조)은 자본집약·중앙집중으로 메가팹에 응집한다. 반면 후공정·소재·장치는 </a:t>
            </a:r>
            <a:pPr indent="0" marL="0">
              <a:buNone/>
            </a:pPr>
            <a:r>
              <a:rPr lang="en-US" sz="1300" b="1" dirty="0">
                <a:solidFill>
                  <a:srgbClr val="A55D2B"/>
                </a:solidFill>
                <a:latin typeface="Malgun Gothic" pitchFamily="34" charset="0"/>
                <a:ea typeface="Malgun Gothic" pitchFamily="34" charset="-122"/>
                <a:cs typeface="Malgun Gothic" pitchFamily="34" charset="-120"/>
              </a:rPr>
              <a:t>'근접성' 그 자체가 경쟁력</a:t>
            </a:r>
            <a:pPr indent="0" marL="0">
              <a:buNone/>
            </a:pPr>
            <a:r>
              <a:rPr lang="en-US" sz="1300" dirty="0">
                <a:solidFill>
                  <a:srgbClr val="5B6B7F"/>
                </a:solidFill>
                <a:latin typeface="Malgun Gothic" pitchFamily="34" charset="0"/>
                <a:ea typeface="Malgun Gothic" pitchFamily="34" charset="-122"/>
                <a:cs typeface="Malgun Gothic" pitchFamily="34" charset="-120"/>
              </a:rPr>
              <a:t>이 된다.</a:t>
            </a:r>
            <a:endParaRPr lang="en-US" sz="1300" dirty="0"/>
          </a:p>
        </p:txBody>
      </p:sp>
      <p:sp>
        <p:nvSpPr>
          <p:cNvPr id="10" name="Shape 8"/>
          <p:cNvSpPr/>
          <p:nvPr/>
        </p:nvSpPr>
        <p:spPr>
          <a:xfrm>
            <a:off x="548640" y="1737360"/>
            <a:ext cx="5413248" cy="1810512"/>
          </a:xfrm>
          <a:prstGeom prst="roundRect">
            <a:avLst>
              <a:gd name="adj" fmla="val 3535"/>
            </a:avLst>
          </a:prstGeom>
          <a:solidFill>
            <a:srgbClr val="F3F6FA"/>
          </a:solidFill>
          <a:ln/>
        </p:spPr>
      </p:sp>
      <p:sp>
        <p:nvSpPr>
          <p:cNvPr id="11" name="Text 9"/>
          <p:cNvSpPr/>
          <p:nvPr/>
        </p:nvSpPr>
        <p:spPr>
          <a:xfrm>
            <a:off x="786384" y="1975104"/>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12" name="Text 10"/>
          <p:cNvSpPr/>
          <p:nvPr/>
        </p:nvSpPr>
        <p:spPr>
          <a:xfrm>
            <a:off x="1408176" y="1993392"/>
            <a:ext cx="4315968" cy="384048"/>
          </a:xfrm>
          <a:prstGeom prst="rect">
            <a:avLst/>
          </a:prstGeom>
          <a:noFill/>
          <a:ln/>
        </p:spPr>
        <p:txBody>
          <a:bodyPr wrap="square" lIns="0" tIns="0" rIns="0" bIns="0" rtlCol="0" anchor="ctr"/>
          <a:lstStyle/>
          <a:p>
            <a:pPr indent="0" marL="0">
              <a:buNone/>
            </a:pPr>
            <a:r>
              <a:rPr lang="en-US" sz="1500" b="1" dirty="0">
                <a:solidFill>
                  <a:srgbClr val="1C2B4A"/>
                </a:solidFill>
                <a:latin typeface="Malgun Gothic" pitchFamily="34" charset="0"/>
                <a:ea typeface="Malgun Gothic" pitchFamily="34" charset="-122"/>
                <a:cs typeface="Malgun Gothic" pitchFamily="34" charset="-120"/>
              </a:rPr>
              <a:t>고빈도 소모품 공급</a:t>
            </a:r>
            <a:endParaRPr lang="en-US" sz="1500" dirty="0"/>
          </a:p>
        </p:txBody>
      </p:sp>
      <p:sp>
        <p:nvSpPr>
          <p:cNvPr id="13" name="Text 11"/>
          <p:cNvSpPr/>
          <p:nvPr/>
        </p:nvSpPr>
        <p:spPr>
          <a:xfrm>
            <a:off x="1408176" y="2432304"/>
            <a:ext cx="4279392" cy="1005840"/>
          </a:xfrm>
          <a:prstGeom prst="rect">
            <a:avLst/>
          </a:prstGeom>
          <a:noFill/>
          <a:ln/>
        </p:spPr>
        <p:txBody>
          <a:bodyPr wrap="square" lIns="0" tIns="0" rIns="0" bIns="0" rtlCol="0" anchor="t"/>
          <a:lstStyle/>
          <a:p>
            <a:pPr indent="0" marL="0">
              <a:buNone/>
            </a:pPr>
            <a:r>
              <a:rPr lang="en-US" sz="1100" dirty="0">
                <a:solidFill>
                  <a:srgbClr val="5B6B7F"/>
                </a:solidFill>
                <a:latin typeface="Malgun Gothic" pitchFamily="34" charset="0"/>
                <a:ea typeface="Malgun Gothic" pitchFamily="34" charset="-122"/>
                <a:cs typeface="Malgun Gothic" pitchFamily="34" charset="-120"/>
              </a:rPr>
              <a:t>다이싱 테이프·슬러리·본딩와이어·특수가스 — JIT와 근접 물류가 효과적인 소모품을 팹은 매일 사용한다.</a:t>
            </a:r>
            <a:endParaRPr lang="en-US" sz="1100" dirty="0"/>
          </a:p>
        </p:txBody>
      </p:sp>
      <p:sp>
        <p:nvSpPr>
          <p:cNvPr id="14" name="Shape 12"/>
          <p:cNvSpPr/>
          <p:nvPr/>
        </p:nvSpPr>
        <p:spPr>
          <a:xfrm>
            <a:off x="6227064" y="1737360"/>
            <a:ext cx="5413248" cy="1810512"/>
          </a:xfrm>
          <a:prstGeom prst="roundRect">
            <a:avLst>
              <a:gd name="adj" fmla="val 3535"/>
            </a:avLst>
          </a:prstGeom>
          <a:solidFill>
            <a:srgbClr val="F3F6FA"/>
          </a:solidFill>
          <a:ln/>
        </p:spPr>
      </p:sp>
      <p:sp>
        <p:nvSpPr>
          <p:cNvPr id="15" name="Text 13"/>
          <p:cNvSpPr/>
          <p:nvPr/>
        </p:nvSpPr>
        <p:spPr>
          <a:xfrm>
            <a:off x="6464808" y="1975104"/>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16" name="Text 14"/>
          <p:cNvSpPr/>
          <p:nvPr/>
        </p:nvSpPr>
        <p:spPr>
          <a:xfrm>
            <a:off x="7086600" y="1993392"/>
            <a:ext cx="4315968" cy="384048"/>
          </a:xfrm>
          <a:prstGeom prst="rect">
            <a:avLst/>
          </a:prstGeom>
          <a:noFill/>
          <a:ln/>
        </p:spPr>
        <p:txBody>
          <a:bodyPr wrap="square" lIns="0" tIns="0" rIns="0" bIns="0" rtlCol="0" anchor="ctr"/>
          <a:lstStyle/>
          <a:p>
            <a:pPr indent="0" marL="0">
              <a:buNone/>
            </a:pPr>
            <a:r>
              <a:rPr lang="en-US" sz="1500" b="1" dirty="0">
                <a:solidFill>
                  <a:srgbClr val="1C2B4A"/>
                </a:solidFill>
                <a:latin typeface="Malgun Gothic" pitchFamily="34" charset="0"/>
                <a:ea typeface="Malgun Gothic" pitchFamily="34" charset="-122"/>
                <a:cs typeface="Malgun Gothic" pitchFamily="34" charset="-120"/>
              </a:rPr>
              <a:t>장비의 현장 서비스</a:t>
            </a:r>
            <a:endParaRPr lang="en-US" sz="1500" dirty="0"/>
          </a:p>
        </p:txBody>
      </p:sp>
      <p:sp>
        <p:nvSpPr>
          <p:cNvPr id="17" name="Text 15"/>
          <p:cNvSpPr/>
          <p:nvPr/>
        </p:nvSpPr>
        <p:spPr>
          <a:xfrm>
            <a:off x="7086600" y="2432304"/>
            <a:ext cx="4279392" cy="1005840"/>
          </a:xfrm>
          <a:prstGeom prst="rect">
            <a:avLst/>
          </a:prstGeom>
          <a:noFill/>
          <a:ln/>
        </p:spPr>
        <p:txBody>
          <a:bodyPr wrap="square" lIns="0" tIns="0" rIns="0" bIns="0" rtlCol="0" anchor="t"/>
          <a:lstStyle/>
          <a:p>
            <a:pPr indent="0" marL="0">
              <a:buNone/>
            </a:pPr>
            <a:r>
              <a:rPr lang="en-US" sz="1100" dirty="0">
                <a:solidFill>
                  <a:srgbClr val="5B6B7F"/>
                </a:solidFill>
                <a:latin typeface="Malgun Gothic" pitchFamily="34" charset="0"/>
                <a:ea typeface="Malgun Gothic" pitchFamily="34" charset="-122"/>
                <a:cs typeface="Malgun Gothic" pitchFamily="34" charset="-120"/>
              </a:rPr>
              <a:t>설치·유지보수·수율 튜닝은 엔지니어 상주가 전제 — 팹 근접 거점이 사실상 필수.</a:t>
            </a:r>
            <a:endParaRPr lang="en-US" sz="1100" dirty="0"/>
          </a:p>
        </p:txBody>
      </p:sp>
      <p:sp>
        <p:nvSpPr>
          <p:cNvPr id="18" name="Shape 16"/>
          <p:cNvSpPr/>
          <p:nvPr/>
        </p:nvSpPr>
        <p:spPr>
          <a:xfrm>
            <a:off x="548640" y="3767328"/>
            <a:ext cx="5413248" cy="1810512"/>
          </a:xfrm>
          <a:prstGeom prst="roundRect">
            <a:avLst>
              <a:gd name="adj" fmla="val 3535"/>
            </a:avLst>
          </a:prstGeom>
          <a:solidFill>
            <a:srgbClr val="F3F6FA"/>
          </a:solidFill>
          <a:ln/>
        </p:spPr>
      </p:sp>
      <p:sp>
        <p:nvSpPr>
          <p:cNvPr id="19" name="Text 17"/>
          <p:cNvSpPr/>
          <p:nvPr/>
        </p:nvSpPr>
        <p:spPr>
          <a:xfrm>
            <a:off x="786384" y="4005072"/>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20" name="Text 18"/>
          <p:cNvSpPr/>
          <p:nvPr/>
        </p:nvSpPr>
        <p:spPr>
          <a:xfrm>
            <a:off x="1408176" y="4023360"/>
            <a:ext cx="4315968" cy="384048"/>
          </a:xfrm>
          <a:prstGeom prst="rect">
            <a:avLst/>
          </a:prstGeom>
          <a:noFill/>
          <a:ln/>
        </p:spPr>
        <p:txBody>
          <a:bodyPr wrap="square" lIns="0" tIns="0" rIns="0" bIns="0" rtlCol="0" anchor="ctr"/>
          <a:lstStyle/>
          <a:p>
            <a:pPr indent="0" marL="0">
              <a:buNone/>
            </a:pPr>
            <a:r>
              <a:rPr lang="en-US" sz="1500" b="1" dirty="0">
                <a:solidFill>
                  <a:srgbClr val="1C2B4A"/>
                </a:solidFill>
                <a:latin typeface="Malgun Gothic" pitchFamily="34" charset="0"/>
                <a:ea typeface="Malgun Gothic" pitchFamily="34" charset="-122"/>
                <a:cs typeface="Malgun Gothic" pitchFamily="34" charset="-120"/>
              </a:rPr>
              <a:t>조립·검사 (OSAT)</a:t>
            </a:r>
            <a:endParaRPr lang="en-US" sz="1500" dirty="0"/>
          </a:p>
        </p:txBody>
      </p:sp>
      <p:sp>
        <p:nvSpPr>
          <p:cNvPr id="21" name="Text 19"/>
          <p:cNvSpPr/>
          <p:nvPr/>
        </p:nvSpPr>
        <p:spPr>
          <a:xfrm>
            <a:off x="1408176" y="4462272"/>
            <a:ext cx="4279392" cy="1005840"/>
          </a:xfrm>
          <a:prstGeom prst="rect">
            <a:avLst/>
          </a:prstGeom>
          <a:noFill/>
          <a:ln/>
        </p:spPr>
        <p:txBody>
          <a:bodyPr wrap="square" lIns="0" tIns="0" rIns="0" bIns="0" rtlCol="0" anchor="t"/>
          <a:lstStyle/>
          <a:p>
            <a:pPr indent="0" marL="0">
              <a:buNone/>
            </a:pPr>
            <a:r>
              <a:rPr lang="en-US" sz="1100" dirty="0">
                <a:solidFill>
                  <a:srgbClr val="5B6B7F"/>
                </a:solidFill>
                <a:latin typeface="Malgun Gothic" pitchFamily="34" charset="0"/>
                <a:ea typeface="Malgun Gothic" pitchFamily="34" charset="-122"/>
                <a:cs typeface="Malgun Gothic" pitchFamily="34" charset="-120"/>
              </a:rPr>
              <a:t>팹의 산출물을 받아 가공하기 때문에, 물리적 근접이 리드타임과 수율 협업에 직결된다.</a:t>
            </a:r>
            <a:endParaRPr lang="en-US" sz="1100" dirty="0"/>
          </a:p>
        </p:txBody>
      </p:sp>
      <p:sp>
        <p:nvSpPr>
          <p:cNvPr id="22" name="Shape 20"/>
          <p:cNvSpPr/>
          <p:nvPr/>
        </p:nvSpPr>
        <p:spPr>
          <a:xfrm>
            <a:off x="6227064" y="3767328"/>
            <a:ext cx="5413248" cy="1810512"/>
          </a:xfrm>
          <a:prstGeom prst="roundRect">
            <a:avLst>
              <a:gd name="adj" fmla="val 3535"/>
            </a:avLst>
          </a:prstGeom>
          <a:solidFill>
            <a:srgbClr val="F3F6FA"/>
          </a:solidFill>
          <a:ln/>
        </p:spPr>
      </p:sp>
      <p:sp>
        <p:nvSpPr>
          <p:cNvPr id="23" name="Text 21"/>
          <p:cNvSpPr/>
          <p:nvPr/>
        </p:nvSpPr>
        <p:spPr>
          <a:xfrm>
            <a:off x="6464808" y="4005072"/>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24" name="Text 22"/>
          <p:cNvSpPr/>
          <p:nvPr/>
        </p:nvSpPr>
        <p:spPr>
          <a:xfrm>
            <a:off x="7086600" y="4023360"/>
            <a:ext cx="4315968" cy="384048"/>
          </a:xfrm>
          <a:prstGeom prst="rect">
            <a:avLst/>
          </a:prstGeom>
          <a:noFill/>
          <a:ln/>
        </p:spPr>
        <p:txBody>
          <a:bodyPr wrap="square" lIns="0" tIns="0" rIns="0" bIns="0" rtlCol="0" anchor="ctr"/>
          <a:lstStyle/>
          <a:p>
            <a:pPr indent="0" marL="0">
              <a:buNone/>
            </a:pPr>
            <a:r>
              <a:rPr lang="en-US" sz="1500" b="1" dirty="0">
                <a:solidFill>
                  <a:srgbClr val="1C2B4A"/>
                </a:solidFill>
                <a:latin typeface="Malgun Gothic" pitchFamily="34" charset="0"/>
                <a:ea typeface="Malgun Gothic" pitchFamily="34" charset="-122"/>
                <a:cs typeface="Malgun Gothic" pitchFamily="34" charset="-120"/>
              </a:rPr>
              <a:t>선단 패키지 공동개발</a:t>
            </a:r>
            <a:endParaRPr lang="en-US" sz="1500" dirty="0"/>
          </a:p>
        </p:txBody>
      </p:sp>
      <p:sp>
        <p:nvSpPr>
          <p:cNvPr id="25" name="Text 23"/>
          <p:cNvSpPr/>
          <p:nvPr/>
        </p:nvSpPr>
        <p:spPr>
          <a:xfrm>
            <a:off x="7086600" y="4462272"/>
            <a:ext cx="4279392" cy="1005840"/>
          </a:xfrm>
          <a:prstGeom prst="rect">
            <a:avLst/>
          </a:prstGeom>
          <a:noFill/>
          <a:ln/>
        </p:spPr>
        <p:txBody>
          <a:bodyPr wrap="square" lIns="0" tIns="0" rIns="0" bIns="0" rtlCol="0" anchor="t"/>
          <a:lstStyle/>
          <a:p>
            <a:pPr indent="0" marL="0">
              <a:buNone/>
            </a:pPr>
            <a:r>
              <a:rPr lang="en-US" sz="1100" dirty="0">
                <a:solidFill>
                  <a:srgbClr val="5B6B7F"/>
                </a:solidFill>
                <a:latin typeface="Malgun Gothic" pitchFamily="34" charset="0"/>
                <a:ea typeface="Malgun Gothic" pitchFamily="34" charset="-122"/>
                <a:cs typeface="Malgun Gothic" pitchFamily="34" charset="-120"/>
              </a:rPr>
              <a:t>FC-BGA·칩렛은 팹×소재×장치의 co-engineering 밀도가 경쟁력 — 대면 근접이 유리.</a:t>
            </a:r>
            <a:endParaRPr lang="en-US" sz="1100" dirty="0"/>
          </a:p>
        </p:txBody>
      </p:sp>
      <p:sp>
        <p:nvSpPr>
          <p:cNvPr id="26" name="Text 24"/>
          <p:cNvSpPr/>
          <p:nvPr/>
        </p:nvSpPr>
        <p:spPr>
          <a:xfrm>
            <a:off x="548640" y="5806440"/>
            <a:ext cx="11094415" cy="365760"/>
          </a:xfrm>
          <a:prstGeom prst="rect">
            <a:avLst/>
          </a:prstGeom>
          <a:noFill/>
          <a:ln/>
        </p:spPr>
        <p:txBody>
          <a:bodyPr wrap="square" lIns="0" tIns="0" rIns="0" bIns="0" rtlCol="0" anchor="ctr"/>
          <a:lstStyle/>
          <a:p>
            <a:pPr indent="0" marL="0">
              <a:buNone/>
            </a:pPr>
            <a:r>
              <a:rPr lang="en-US" sz="1350" b="1" dirty="0">
                <a:solidFill>
                  <a:srgbClr val="1C2B4A"/>
                </a:solidFill>
                <a:latin typeface="Malgun Gothic" pitchFamily="34" charset="0"/>
                <a:ea typeface="Malgun Gothic" pitchFamily="34" charset="-122"/>
                <a:cs typeface="Malgun Gothic" pitchFamily="34" charset="-120"/>
              </a:rPr>
              <a:t>→ 후공정 생태계는, 앵커 팹 주변에 집적할 구조적 유인을 가진다.</a:t>
            </a:r>
            <a:pPr indent="0" marL="0">
              <a:buNone/>
            </a:pPr>
            <a:r>
              <a:rPr lang="en-US" sz="1350" dirty="0">
                <a:solidFill>
                  <a:srgbClr val="5B6B7F"/>
                </a:solidFill>
                <a:latin typeface="Malgun Gothic" pitchFamily="34" charset="0"/>
                <a:ea typeface="Malgun Gothic" pitchFamily="34" charset="-122"/>
                <a:cs typeface="Malgun Gothic" pitchFamily="34" charset="-120"/>
              </a:rPr>
              <a:t>　이 이론을, 구마모토와 도호쿠에서 검증했다.</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algun Gothic" pitchFamily="34" charset="0"/>
                <a:ea typeface="Malgun Gothic" pitchFamily="34" charset="-122"/>
                <a:cs typeface="Malgun Gothic" pitchFamily="34" charset="-120"/>
              </a:rPr>
              <a:t>EVIDENCE 1 — KYUSHU</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300" b="1" dirty="0">
                <a:solidFill>
                  <a:srgbClr val="1C2B4A"/>
                </a:solidFill>
                <a:latin typeface="Malgun Gothic" pitchFamily="34" charset="0"/>
                <a:ea typeface="Malgun Gothic" pitchFamily="34" charset="-122"/>
                <a:cs typeface="Malgun Gothic" pitchFamily="34" charset="-120"/>
              </a:rPr>
              <a:t>실증① 구마모토 — TSMC(JASM)가 집적을 실제로 낳았다</a:t>
            </a:r>
            <a:endParaRPr lang="en-US" sz="23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algun Gothic" pitchFamily="34" charset="0"/>
                <a:ea typeface="Malgun Gothic" pitchFamily="34" charset="-122"/>
                <a:cs typeface="Malgun Gothic" pitchFamily="34" charset="-120"/>
              </a:rPr>
              <a:t>닛케이 스톡리그 2026｜후공정 니치 톱 × 지방 클러스터</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algun Gothic" pitchFamily="34" charset="0"/>
                <a:ea typeface="Malgun Gothic" pitchFamily="34" charset="-122"/>
                <a:cs typeface="Malgun Gothic" pitchFamily="34" charset="-120"/>
              </a:rPr>
              <a:t>7</a:t>
            </a:r>
            <a:endParaRPr lang="en-US" sz="900" dirty="0"/>
          </a:p>
        </p:txBody>
      </p:sp>
      <p:sp>
        <p:nvSpPr>
          <p:cNvPr id="9" name="Text 7"/>
          <p:cNvSpPr/>
          <p:nvPr/>
        </p:nvSpPr>
        <p:spPr>
          <a:xfrm>
            <a:off x="548640" y="1188720"/>
            <a:ext cx="6949440" cy="347472"/>
          </a:xfrm>
          <a:prstGeom prst="rect">
            <a:avLst/>
          </a:prstGeom>
          <a:noFill/>
          <a:ln/>
        </p:spPr>
        <p:txBody>
          <a:bodyPr wrap="square" lIns="0" tIns="0" rIns="0" bIns="0" rtlCol="0" anchor="ctr"/>
          <a:lstStyle/>
          <a:p>
            <a:pPr indent="0" marL="0">
              <a:buNone/>
            </a:pPr>
            <a:r>
              <a:rPr lang="en-US" sz="1250" b="1" dirty="0">
                <a:solidFill>
                  <a:srgbClr val="A55D2B"/>
                </a:solidFill>
                <a:latin typeface="Malgun Gothic" pitchFamily="34" charset="0"/>
                <a:ea typeface="Malgun Gothic" pitchFamily="34" charset="-122"/>
                <a:cs typeface="Malgun Gothic" pitchFamily="34" charset="-120"/>
              </a:rPr>
              <a:t>시계열이 증거：</a:t>
            </a:r>
            <a:pPr indent="0" marL="0">
              <a:buNone/>
            </a:pPr>
            <a:r>
              <a:rPr lang="en-US" sz="1250" dirty="0">
                <a:solidFill>
                  <a:srgbClr val="5B6B7F"/>
                </a:solidFill>
                <a:latin typeface="Malgun Gothic" pitchFamily="34" charset="0"/>
                <a:ea typeface="Malgun Gothic" pitchFamily="34" charset="-122"/>
                <a:cs typeface="Malgun Gothic" pitchFamily="34" charset="-120"/>
              </a:rPr>
              <a:t> TSMC 2021년 진출 발표 → 2024년 가동. 그 '이후'에 수상·증설이 이어진다.</a:t>
            </a:r>
            <a:endParaRPr lang="en-US" sz="1250" dirty="0"/>
          </a:p>
        </p:txBody>
      </p:sp>
      <p:sp>
        <p:nvSpPr>
          <p:cNvPr id="10" name="Shape 8"/>
          <p:cNvSpPr/>
          <p:nvPr/>
        </p:nvSpPr>
        <p:spPr>
          <a:xfrm>
            <a:off x="594360" y="1709928"/>
            <a:ext cx="128016" cy="128016"/>
          </a:xfrm>
          <a:prstGeom prst="ellipse">
            <a:avLst/>
          </a:prstGeom>
          <a:solidFill>
            <a:srgbClr val="C0713A"/>
          </a:solidFill>
          <a:ln/>
        </p:spPr>
      </p:sp>
      <p:sp>
        <p:nvSpPr>
          <p:cNvPr id="11" name="Text 9"/>
          <p:cNvSpPr/>
          <p:nvPr/>
        </p:nvSpPr>
        <p:spPr>
          <a:xfrm>
            <a:off x="859536" y="1627632"/>
            <a:ext cx="6720840" cy="841248"/>
          </a:xfrm>
          <a:prstGeom prst="rect">
            <a:avLst/>
          </a:prstGeom>
          <a:noFill/>
          <a:ln/>
        </p:spPr>
        <p:txBody>
          <a:bodyPr wrap="square" lIns="0" tIns="0" rIns="0" bIns="0" rtlCol="0" anchor="t"/>
          <a:lstStyle/>
          <a:p>
            <a:pPr indent="0" marL="0">
              <a:buNone/>
            </a:pPr>
            <a:r>
              <a:rPr lang="en-US" sz="1250" b="1" dirty="0">
                <a:solidFill>
                  <a:srgbClr val="1C2B4A"/>
                </a:solidFill>
                <a:latin typeface="Malgun Gothic" pitchFamily="34" charset="0"/>
                <a:ea typeface="Malgun Gothic" pitchFamily="34" charset="-122"/>
                <a:cs typeface="Malgun Gothic" pitchFamily="34" charset="-120"/>
              </a:rPr>
              <a:t>오르가노　</a:t>
            </a:r>
            <a:pPr indent="0" marL="0">
              <a:buNone/>
            </a:pPr>
            <a:r>
              <a:rPr lang="en-US" sz="1100" dirty="0">
                <a:solidFill>
                  <a:srgbClr val="5B6B7F"/>
                </a:solidFill>
                <a:latin typeface="Malgun Gothic" pitchFamily="34" charset="0"/>
                <a:ea typeface="Malgun Gothic" pitchFamily="34" charset="-122"/>
                <a:cs typeface="Malgun Gothic" pitchFamily="34" charset="-120"/>
              </a:rPr>
              <a:t>TSMC 구마모토에 초순수를 직접 납품 — 2024 Excellent Performance Award(신팹 건설) 수상</a:t>
            </a:r>
            <a:endParaRPr lang="en-US" sz="1250" dirty="0"/>
          </a:p>
        </p:txBody>
      </p:sp>
      <p:sp>
        <p:nvSpPr>
          <p:cNvPr id="12" name="Shape 10"/>
          <p:cNvSpPr/>
          <p:nvPr/>
        </p:nvSpPr>
        <p:spPr>
          <a:xfrm>
            <a:off x="594360" y="2615184"/>
            <a:ext cx="128016" cy="128016"/>
          </a:xfrm>
          <a:prstGeom prst="ellipse">
            <a:avLst/>
          </a:prstGeom>
          <a:solidFill>
            <a:srgbClr val="C0713A"/>
          </a:solidFill>
          <a:ln/>
        </p:spPr>
      </p:sp>
      <p:sp>
        <p:nvSpPr>
          <p:cNvPr id="13" name="Text 11"/>
          <p:cNvSpPr/>
          <p:nvPr/>
        </p:nvSpPr>
        <p:spPr>
          <a:xfrm>
            <a:off x="859536" y="2532888"/>
            <a:ext cx="6720840" cy="841248"/>
          </a:xfrm>
          <a:prstGeom prst="rect">
            <a:avLst/>
          </a:prstGeom>
          <a:noFill/>
          <a:ln/>
        </p:spPr>
        <p:txBody>
          <a:bodyPr wrap="square" lIns="0" tIns="0" rIns="0" bIns="0" rtlCol="0" anchor="t"/>
          <a:lstStyle/>
          <a:p>
            <a:pPr indent="0" marL="0">
              <a:buNone/>
            </a:pPr>
            <a:r>
              <a:rPr lang="en-US" sz="1250" b="1" dirty="0">
                <a:solidFill>
                  <a:srgbClr val="1C2B4A"/>
                </a:solidFill>
                <a:latin typeface="Malgun Gothic" pitchFamily="34" charset="0"/>
                <a:ea typeface="Malgun Gothic" pitchFamily="34" charset="-122"/>
                <a:cs typeface="Malgun Gothic" pitchFamily="34" charset="-120"/>
              </a:rPr>
              <a:t>디스코 ／ 시바우라 메카트로닉스　</a:t>
            </a:r>
            <a:pPr indent="0" marL="0">
              <a:buNone/>
            </a:pPr>
            <a:r>
              <a:rPr lang="en-US" sz="1100" dirty="0">
                <a:solidFill>
                  <a:srgbClr val="5B6B7F"/>
                </a:solidFill>
                <a:latin typeface="Malgun Gothic" pitchFamily="34" charset="0"/>
                <a:ea typeface="Malgun Gothic" pitchFamily="34" charset="-122"/>
                <a:cs typeface="Malgun Gothic" pitchFamily="34" charset="-120"/>
              </a:rPr>
              <a:t>TSMC '선단 패키징' 부문 우수 서플라이어 수상 — 후공정 니치가 앵커에 직결</a:t>
            </a:r>
            <a:endParaRPr lang="en-US" sz="1250" dirty="0"/>
          </a:p>
        </p:txBody>
      </p:sp>
      <p:sp>
        <p:nvSpPr>
          <p:cNvPr id="14" name="Shape 12"/>
          <p:cNvSpPr/>
          <p:nvPr/>
        </p:nvSpPr>
        <p:spPr>
          <a:xfrm>
            <a:off x="594360" y="3520440"/>
            <a:ext cx="128016" cy="128016"/>
          </a:xfrm>
          <a:prstGeom prst="ellipse">
            <a:avLst/>
          </a:prstGeom>
          <a:solidFill>
            <a:srgbClr val="C0713A"/>
          </a:solidFill>
          <a:ln/>
        </p:spPr>
      </p:sp>
      <p:sp>
        <p:nvSpPr>
          <p:cNvPr id="15" name="Text 13"/>
          <p:cNvSpPr/>
          <p:nvPr/>
        </p:nvSpPr>
        <p:spPr>
          <a:xfrm>
            <a:off x="859536" y="3438144"/>
            <a:ext cx="6720840" cy="841248"/>
          </a:xfrm>
          <a:prstGeom prst="rect">
            <a:avLst/>
          </a:prstGeom>
          <a:noFill/>
          <a:ln/>
        </p:spPr>
        <p:txBody>
          <a:bodyPr wrap="square" lIns="0" tIns="0" rIns="0" bIns="0" rtlCol="0" anchor="t"/>
          <a:lstStyle/>
          <a:p>
            <a:pPr indent="0" marL="0">
              <a:buNone/>
            </a:pPr>
            <a:r>
              <a:rPr lang="en-US" sz="1250" b="1" dirty="0">
                <a:solidFill>
                  <a:srgbClr val="1C2B4A"/>
                </a:solidFill>
                <a:latin typeface="Malgun Gothic" pitchFamily="34" charset="0"/>
                <a:ea typeface="Malgun Gothic" pitchFamily="34" charset="-122"/>
                <a:cs typeface="Malgun Gothic" pitchFamily="34" charset="-120"/>
              </a:rPr>
              <a:t>도쿄오카공업　</a:t>
            </a:r>
            <a:pPr indent="0" marL="0">
              <a:buNone/>
            </a:pPr>
            <a:r>
              <a:rPr lang="en-US" sz="1100" dirty="0">
                <a:solidFill>
                  <a:srgbClr val="5B6B7F"/>
                </a:solidFill>
                <a:latin typeface="Malgun Gothic" pitchFamily="34" charset="0"/>
                <a:ea typeface="Malgun Gothic" pitchFamily="34" charset="-122"/>
                <a:cs typeface="Malgun Gothic" pitchFamily="34" charset="-120"/>
              </a:rPr>
              <a:t>진출 발표 후, 구마모토 기쿠치에 신공장 130억엔(2025 가동) — 발표→증설의 시계열이 명확</a:t>
            </a:r>
            <a:endParaRPr lang="en-US" sz="1250" dirty="0"/>
          </a:p>
        </p:txBody>
      </p:sp>
      <p:sp>
        <p:nvSpPr>
          <p:cNvPr id="16" name="Shape 14"/>
          <p:cNvSpPr/>
          <p:nvPr/>
        </p:nvSpPr>
        <p:spPr>
          <a:xfrm>
            <a:off x="594360" y="4425696"/>
            <a:ext cx="128016" cy="128016"/>
          </a:xfrm>
          <a:prstGeom prst="ellipse">
            <a:avLst/>
          </a:prstGeom>
          <a:solidFill>
            <a:srgbClr val="C0713A"/>
          </a:solidFill>
          <a:ln/>
        </p:spPr>
      </p:sp>
      <p:sp>
        <p:nvSpPr>
          <p:cNvPr id="17" name="Text 15"/>
          <p:cNvSpPr/>
          <p:nvPr/>
        </p:nvSpPr>
        <p:spPr>
          <a:xfrm>
            <a:off x="859536" y="4343400"/>
            <a:ext cx="6720840" cy="841248"/>
          </a:xfrm>
          <a:prstGeom prst="rect">
            <a:avLst/>
          </a:prstGeom>
          <a:noFill/>
          <a:ln/>
        </p:spPr>
        <p:txBody>
          <a:bodyPr wrap="square" lIns="0" tIns="0" rIns="0" bIns="0" rtlCol="0" anchor="t"/>
          <a:lstStyle/>
          <a:p>
            <a:pPr indent="0" marL="0">
              <a:buNone/>
            </a:pPr>
            <a:r>
              <a:rPr lang="en-US" sz="1250" b="1" dirty="0">
                <a:solidFill>
                  <a:srgbClr val="1C2B4A"/>
                </a:solidFill>
                <a:latin typeface="Malgun Gothic" pitchFamily="34" charset="0"/>
                <a:ea typeface="Malgun Gothic" pitchFamily="34" charset="-122"/>
                <a:cs typeface="Malgun Gothic" pitchFamily="34" charset="-120"/>
              </a:rPr>
              <a:t>히라타기공　</a:t>
            </a:r>
            <a:pPr indent="0" marL="0">
              <a:buNone/>
            </a:pPr>
            <a:r>
              <a:rPr lang="en-US" sz="1100" dirty="0">
                <a:solidFill>
                  <a:srgbClr val="5B6B7F"/>
                </a:solidFill>
                <a:latin typeface="Malgun Gothic" pitchFamily="34" charset="0"/>
                <a:ea typeface="Malgun Gothic" pitchFamily="34" charset="-122"/>
                <a:cs typeface="Malgun Gothic" pitchFamily="34" charset="-120"/>
              </a:rPr>
              <a:t>본사는 구마모토시(창업지). 기쿠치 신공장을 취득해 반도체 5할 증산 — 지역 기업의 내생 성장</a:t>
            </a:r>
            <a:endParaRPr lang="en-US" sz="1250" dirty="0"/>
          </a:p>
        </p:txBody>
      </p:sp>
      <p:sp>
        <p:nvSpPr>
          <p:cNvPr id="18" name="Shape 16"/>
          <p:cNvSpPr/>
          <p:nvPr/>
        </p:nvSpPr>
        <p:spPr>
          <a:xfrm>
            <a:off x="594360" y="5330952"/>
            <a:ext cx="128016" cy="128016"/>
          </a:xfrm>
          <a:prstGeom prst="ellipse">
            <a:avLst/>
          </a:prstGeom>
          <a:solidFill>
            <a:srgbClr val="C0713A"/>
          </a:solidFill>
          <a:ln/>
        </p:spPr>
      </p:sp>
      <p:sp>
        <p:nvSpPr>
          <p:cNvPr id="19" name="Text 17"/>
          <p:cNvSpPr/>
          <p:nvPr/>
        </p:nvSpPr>
        <p:spPr>
          <a:xfrm>
            <a:off x="859536" y="5248656"/>
            <a:ext cx="6720840" cy="841248"/>
          </a:xfrm>
          <a:prstGeom prst="rect">
            <a:avLst/>
          </a:prstGeom>
          <a:noFill/>
          <a:ln/>
        </p:spPr>
        <p:txBody>
          <a:bodyPr wrap="square" lIns="0" tIns="0" rIns="0" bIns="0" rtlCol="0" anchor="t"/>
          <a:lstStyle/>
          <a:p>
            <a:pPr indent="0" marL="0">
              <a:buNone/>
            </a:pPr>
            <a:r>
              <a:rPr lang="en-US" sz="1250" b="1" dirty="0">
                <a:solidFill>
                  <a:srgbClr val="1C2B4A"/>
                </a:solidFill>
                <a:latin typeface="Malgun Gothic" pitchFamily="34" charset="0"/>
                <a:ea typeface="Malgun Gothic" pitchFamily="34" charset="-122"/>
                <a:cs typeface="Malgun Gothic" pitchFamily="34" charset="-120"/>
              </a:rPr>
              <a:t>재팬머티리얼　</a:t>
            </a:r>
            <a:pPr indent="0" marL="0">
              <a:buNone/>
            </a:pPr>
            <a:r>
              <a:rPr lang="en-US" sz="1100" dirty="0">
                <a:solidFill>
                  <a:srgbClr val="5B6B7F"/>
                </a:solidFill>
                <a:latin typeface="Malgun Gothic" pitchFamily="34" charset="0"/>
                <a:ea typeface="Malgun Gothic" pitchFamily="34" charset="-122"/>
                <a:cs typeface="Malgun Gothic" pitchFamily="34" charset="-120"/>
              </a:rPr>
              <a:t>오즈초 신거점(2022~)에서 JASM/TSMC에 특수가스를 온사이트 공급</a:t>
            </a:r>
            <a:endParaRPr lang="en-US" sz="1250" dirty="0"/>
          </a:p>
        </p:txBody>
      </p:sp>
      <p:sp>
        <p:nvSpPr>
          <p:cNvPr id="20" name="Shape 18"/>
          <p:cNvSpPr/>
          <p:nvPr/>
        </p:nvSpPr>
        <p:spPr>
          <a:xfrm>
            <a:off x="8001000" y="1234440"/>
            <a:ext cx="3639312" cy="4937760"/>
          </a:xfrm>
          <a:prstGeom prst="roundRect">
            <a:avLst>
              <a:gd name="adj" fmla="val 1759"/>
            </a:avLst>
          </a:prstGeom>
          <a:solidFill>
            <a:srgbClr val="1C2B4A"/>
          </a:solidFill>
          <a:ln/>
        </p:spPr>
      </p:sp>
      <p:sp>
        <p:nvSpPr>
          <p:cNvPr id="21" name="Text 19"/>
          <p:cNvSpPr/>
          <p:nvPr/>
        </p:nvSpPr>
        <p:spPr>
          <a:xfrm>
            <a:off x="8275320" y="1463040"/>
            <a:ext cx="3090672" cy="594360"/>
          </a:xfrm>
          <a:prstGeom prst="rect">
            <a:avLst/>
          </a:prstGeom>
          <a:noFill/>
          <a:ln/>
        </p:spPr>
        <p:txBody>
          <a:bodyPr wrap="square" lIns="0" tIns="0" rIns="0" bIns="0" rtlCol="0" anchor="ctr"/>
          <a:lstStyle/>
          <a:p>
            <a:pPr indent="0" marL="0">
              <a:buNone/>
            </a:pPr>
            <a:r>
              <a:rPr lang="en-US" sz="1450" b="1" dirty="0">
                <a:solidFill>
                  <a:srgbClr val="FFFFFF"/>
                </a:solidFill>
                <a:latin typeface="Malgun Gothic" pitchFamily="34" charset="0"/>
                <a:ea typeface="Malgun Gothic" pitchFamily="34" charset="-122"/>
                <a:cs typeface="Malgun Gothic" pitchFamily="34" charset="-120"/>
              </a:rPr>
              <a:t>앵커는 다층 — TSMC뿐만이 아니다</a:t>
            </a:r>
            <a:endParaRPr lang="en-US" sz="1450" dirty="0"/>
          </a:p>
        </p:txBody>
      </p:sp>
      <p:sp>
        <p:nvSpPr>
          <p:cNvPr id="22" name="Text 20"/>
          <p:cNvSpPr/>
          <p:nvPr/>
        </p:nvSpPr>
        <p:spPr>
          <a:xfrm>
            <a:off x="8275320" y="2194560"/>
            <a:ext cx="3090672" cy="822960"/>
          </a:xfrm>
          <a:prstGeom prst="rect">
            <a:avLst/>
          </a:prstGeom>
          <a:noFill/>
          <a:ln/>
        </p:spPr>
        <p:txBody>
          <a:bodyPr wrap="square" lIns="0" tIns="0" rIns="0" bIns="0" rtlCol="0" anchor="t"/>
          <a:lstStyle/>
          <a:p>
            <a:pPr indent="0" marL="0">
              <a:buNone/>
            </a:pPr>
            <a:r>
              <a:rPr lang="en-US" sz="1250" b="1" dirty="0">
                <a:solidFill>
                  <a:srgbClr val="C0713A"/>
                </a:solidFill>
                <a:latin typeface="Malgun Gothic" pitchFamily="34" charset="0"/>
                <a:ea typeface="Malgun Gothic" pitchFamily="34" charset="-122"/>
                <a:cs typeface="Malgun Gothic" pitchFamily="34" charset="-120"/>
              </a:rPr>
              <a:t>미쓰비시전기</a:t>
            </a:r>
            <a:endParaRPr lang="en-US" sz="1250" dirty="0"/>
          </a:p>
          <a:p>
            <a:pPr indent="0" marL="0">
              <a:buNone/>
            </a:pPr>
            <a:r>
              <a:rPr lang="en-US" sz="1050" dirty="0">
                <a:solidFill>
                  <a:srgbClr val="DCE6F2"/>
                </a:solidFill>
                <a:latin typeface="Malgun Gothic" pitchFamily="34" charset="0"/>
                <a:ea typeface="Malgun Gothic" pitchFamily="34" charset="-122"/>
                <a:cs typeface="Malgun Gothic" pitchFamily="34" charset="-120"/>
              </a:rPr>
              <a:t>SiC 파워반도체 약 1,000억엔(기쿠치, 2025.11 완공)</a:t>
            </a:r>
            <a:endParaRPr lang="en-US" sz="1250" dirty="0"/>
          </a:p>
        </p:txBody>
      </p:sp>
      <p:sp>
        <p:nvSpPr>
          <p:cNvPr id="23" name="Text 21"/>
          <p:cNvSpPr/>
          <p:nvPr/>
        </p:nvSpPr>
        <p:spPr>
          <a:xfrm>
            <a:off x="8275320" y="3063240"/>
            <a:ext cx="3090672" cy="822960"/>
          </a:xfrm>
          <a:prstGeom prst="rect">
            <a:avLst/>
          </a:prstGeom>
          <a:noFill/>
          <a:ln/>
        </p:spPr>
        <p:txBody>
          <a:bodyPr wrap="square" lIns="0" tIns="0" rIns="0" bIns="0" rtlCol="0" anchor="t"/>
          <a:lstStyle/>
          <a:p>
            <a:pPr indent="0" marL="0">
              <a:buNone/>
            </a:pPr>
            <a:r>
              <a:rPr lang="en-US" sz="1250" b="1" dirty="0">
                <a:solidFill>
                  <a:srgbClr val="C0713A"/>
                </a:solidFill>
                <a:latin typeface="Malgun Gothic" pitchFamily="34" charset="0"/>
                <a:ea typeface="Malgun Gothic" pitchFamily="34" charset="-122"/>
                <a:cs typeface="Malgun Gothic" pitchFamily="34" charset="-120"/>
              </a:rPr>
              <a:t>소니</a:t>
            </a:r>
            <a:endParaRPr lang="en-US" sz="1250" dirty="0"/>
          </a:p>
          <a:p>
            <a:pPr indent="0" marL="0">
              <a:buNone/>
            </a:pPr>
            <a:r>
              <a:rPr lang="en-US" sz="1050" dirty="0">
                <a:solidFill>
                  <a:srgbClr val="DCE6F2"/>
                </a:solidFill>
                <a:latin typeface="Malgun Gothic" pitchFamily="34" charset="0"/>
                <a:ea typeface="Malgun Gothic" pitchFamily="34" charset="-122"/>
                <a:cs typeface="Malgun Gothic" pitchFamily="34" charset="-120"/>
              </a:rPr>
              <a:t>이미지센서 신공장을 고시에 건설 중</a:t>
            </a:r>
            <a:endParaRPr lang="en-US" sz="1250" dirty="0"/>
          </a:p>
        </p:txBody>
      </p:sp>
      <p:sp>
        <p:nvSpPr>
          <p:cNvPr id="24" name="Text 22"/>
          <p:cNvSpPr/>
          <p:nvPr/>
        </p:nvSpPr>
        <p:spPr>
          <a:xfrm>
            <a:off x="8275320" y="3931920"/>
            <a:ext cx="3090672" cy="822960"/>
          </a:xfrm>
          <a:prstGeom prst="rect">
            <a:avLst/>
          </a:prstGeom>
          <a:noFill/>
          <a:ln/>
        </p:spPr>
        <p:txBody>
          <a:bodyPr wrap="square" lIns="0" tIns="0" rIns="0" bIns="0" rtlCol="0" anchor="t"/>
          <a:lstStyle/>
          <a:p>
            <a:pPr indent="0" marL="0">
              <a:buNone/>
            </a:pPr>
            <a:r>
              <a:rPr lang="en-US" sz="1250" b="1" dirty="0">
                <a:solidFill>
                  <a:srgbClr val="C0713A"/>
                </a:solidFill>
                <a:latin typeface="Malgun Gothic" pitchFamily="34" charset="0"/>
                <a:ea typeface="Malgun Gothic" pitchFamily="34" charset="-122"/>
                <a:cs typeface="Malgun Gothic" pitchFamily="34" charset="-120"/>
              </a:rPr>
              <a:t>TEL규슈</a:t>
            </a:r>
            <a:endParaRPr lang="en-US" sz="1250" dirty="0"/>
          </a:p>
          <a:p>
            <a:pPr indent="0" marL="0">
              <a:buNone/>
            </a:pPr>
            <a:r>
              <a:rPr lang="en-US" sz="1050" dirty="0">
                <a:solidFill>
                  <a:srgbClr val="DCE6F2"/>
                </a:solidFill>
                <a:latin typeface="Malgun Gothic" pitchFamily="34" charset="0"/>
                <a:ea typeface="Malgun Gothic" pitchFamily="34" charset="-122"/>
                <a:cs typeface="Malgun Gothic" pitchFamily="34" charset="-120"/>
              </a:rPr>
              <a:t>신개발동 약 470억엔(고시, 2025.10 준공)</a:t>
            </a:r>
            <a:endParaRPr lang="en-US" sz="1250" dirty="0"/>
          </a:p>
        </p:txBody>
      </p:sp>
      <p:sp>
        <p:nvSpPr>
          <p:cNvPr id="25" name="Shape 23"/>
          <p:cNvSpPr/>
          <p:nvPr/>
        </p:nvSpPr>
        <p:spPr>
          <a:xfrm>
            <a:off x="8275320" y="4846320"/>
            <a:ext cx="3090672" cy="0"/>
          </a:xfrm>
          <a:prstGeom prst="line">
            <a:avLst/>
          </a:prstGeom>
          <a:noFill/>
          <a:ln w="12700">
            <a:solidFill>
              <a:srgbClr val="3A4F7E"/>
            </a:solidFill>
            <a:prstDash val="solid"/>
          </a:ln>
        </p:spPr>
      </p:sp>
      <p:sp>
        <p:nvSpPr>
          <p:cNvPr id="26" name="Text 24"/>
          <p:cNvSpPr/>
          <p:nvPr/>
        </p:nvSpPr>
        <p:spPr>
          <a:xfrm>
            <a:off x="8275320" y="4956048"/>
            <a:ext cx="3090672" cy="1097280"/>
          </a:xfrm>
          <a:prstGeom prst="rect">
            <a:avLst/>
          </a:prstGeom>
          <a:noFill/>
          <a:ln/>
        </p:spPr>
        <p:txBody>
          <a:bodyPr wrap="square" lIns="0" tIns="0" rIns="0" bIns="0" rtlCol="0" anchor="t"/>
          <a:lstStyle/>
          <a:p>
            <a:pPr indent="0" marL="0">
              <a:buNone/>
            </a:pPr>
            <a:r>
              <a:rPr lang="en-US" sz="1050" dirty="0">
                <a:solidFill>
                  <a:srgbClr val="AEBFDC"/>
                </a:solidFill>
                <a:latin typeface="Malgun Gothic" pitchFamily="34" charset="0"/>
                <a:ea typeface="Malgun Gothic" pitchFamily="34" charset="-122"/>
                <a:cs typeface="Malgun Gothic" pitchFamily="34" charset="-120"/>
              </a:rPr>
              <a:t>소니·TEL은 TSMC '이전'부터 구마모토에 — 토양이 있고, TSMC가 가속시키고, 앵커가 다층화된다. '신생 실리콘아일랜드 규슈'</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algun Gothic" pitchFamily="34" charset="0"/>
                <a:ea typeface="Malgun Gothic" pitchFamily="34" charset="-122"/>
                <a:cs typeface="Malgun Gothic" pitchFamily="34" charset="-120"/>
              </a:rPr>
              <a:t>EVIDENCE 2 — TOHOKU</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300" b="1" dirty="0">
                <a:solidFill>
                  <a:srgbClr val="1C2B4A"/>
                </a:solidFill>
                <a:latin typeface="Malgun Gothic" pitchFamily="34" charset="0"/>
                <a:ea typeface="Malgun Gothic" pitchFamily="34" charset="-122"/>
                <a:cs typeface="Malgun Gothic" pitchFamily="34" charset="-120"/>
              </a:rPr>
              <a:t>실증② 도호쿠 — 메모리 밸류체인의 지리적 묶음</a:t>
            </a:r>
            <a:endParaRPr lang="en-US" sz="23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algun Gothic" pitchFamily="34" charset="0"/>
                <a:ea typeface="Malgun Gothic" pitchFamily="34" charset="-122"/>
                <a:cs typeface="Malgun Gothic" pitchFamily="34" charset="-120"/>
              </a:rPr>
              <a:t>닛케이 스톡리그 2026｜후공정 니치 톱 × 지방 클러스터</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algun Gothic" pitchFamily="34" charset="0"/>
                <a:ea typeface="Malgun Gothic" pitchFamily="34" charset="-122"/>
                <a:cs typeface="Malgun Gothic" pitchFamily="34" charset="-120"/>
              </a:rPr>
              <a:t>8</a:t>
            </a:r>
            <a:endParaRPr lang="en-US" sz="900" dirty="0"/>
          </a:p>
        </p:txBody>
      </p:sp>
      <p:sp>
        <p:nvSpPr>
          <p:cNvPr id="9" name="Shape 7"/>
          <p:cNvSpPr/>
          <p:nvPr/>
        </p:nvSpPr>
        <p:spPr>
          <a:xfrm>
            <a:off x="548640" y="1234440"/>
            <a:ext cx="11094415" cy="658368"/>
          </a:xfrm>
          <a:prstGeom prst="roundRect">
            <a:avLst>
              <a:gd name="adj" fmla="val 9722"/>
            </a:avLst>
          </a:prstGeom>
          <a:solidFill>
            <a:srgbClr val="1C2B4A"/>
          </a:solidFill>
          <a:ln/>
        </p:spPr>
      </p:sp>
      <p:sp>
        <p:nvSpPr>
          <p:cNvPr id="10" name="Text 8"/>
          <p:cNvSpPr/>
          <p:nvPr/>
        </p:nvSpPr>
        <p:spPr>
          <a:xfrm>
            <a:off x="822960" y="1234440"/>
            <a:ext cx="10545775" cy="658368"/>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앵커：키옥시아 기타카미 공장(이와테)</a:t>
            </a:r>
            <a:pPr indent="0" marL="0">
              <a:buNone/>
            </a:pPr>
            <a:r>
              <a:rPr lang="en-US" sz="1150" dirty="0">
                <a:solidFill>
                  <a:srgbClr val="DCE6F2"/>
                </a:solidFill>
                <a:latin typeface="Malgun Gothic" pitchFamily="34" charset="0"/>
                <a:ea typeface="Malgun Gothic" pitchFamily="34" charset="-122"/>
                <a:cs typeface="Malgun Gothic" pitchFamily="34" charset="-120"/>
              </a:rPr>
              <a:t>　K1(2020~) + K2동 2025년 9월 가동 — AI용 최신 NAND, 풀가동 시 능력 약 2배</a:t>
            </a:r>
            <a:endParaRPr lang="en-US" sz="1300" dirty="0"/>
          </a:p>
        </p:txBody>
      </p:sp>
      <p:sp>
        <p:nvSpPr>
          <p:cNvPr id="11" name="Shape 9"/>
          <p:cNvSpPr/>
          <p:nvPr/>
        </p:nvSpPr>
        <p:spPr>
          <a:xfrm>
            <a:off x="548640" y="2148840"/>
            <a:ext cx="5413248" cy="2377440"/>
          </a:xfrm>
          <a:prstGeom prst="roundRect">
            <a:avLst>
              <a:gd name="adj" fmla="val 2692"/>
            </a:avLst>
          </a:prstGeom>
          <a:solidFill>
            <a:srgbClr val="F3F6FA"/>
          </a:solidFill>
          <a:ln/>
        </p:spPr>
      </p:sp>
      <p:sp>
        <p:nvSpPr>
          <p:cNvPr id="12" name="Text 10"/>
          <p:cNvSpPr/>
          <p:nvPr/>
        </p:nvSpPr>
        <p:spPr>
          <a:xfrm>
            <a:off x="822960" y="2350008"/>
            <a:ext cx="4864608" cy="365760"/>
          </a:xfrm>
          <a:prstGeom prst="rect">
            <a:avLst/>
          </a:prstGeom>
          <a:noFill/>
          <a:ln/>
        </p:spPr>
        <p:txBody>
          <a:bodyPr wrap="square" lIns="0" tIns="0" rIns="0" bIns="0" rtlCol="0" anchor="ctr"/>
          <a:lstStyle/>
          <a:p>
            <a:pPr indent="0" marL="0">
              <a:buNone/>
            </a:pPr>
            <a:r>
              <a:rPr lang="en-US" sz="1450" b="1" dirty="0">
                <a:solidFill>
                  <a:srgbClr val="1C2B4A"/>
                </a:solidFill>
                <a:latin typeface="Malgun Gothic" pitchFamily="34" charset="0"/>
                <a:ea typeface="Malgun Gothic" pitchFamily="34" charset="-122"/>
                <a:cs typeface="Malgun Gothic" pitchFamily="34" charset="-120"/>
              </a:rPr>
              <a:t>일본마이크로닉스(6871)　</a:t>
            </a:r>
            <a:pPr indent="0" marL="0">
              <a:buNone/>
            </a:pPr>
            <a:r>
              <a:rPr lang="en-US" sz="1200" b="1" dirty="0">
                <a:solidFill>
                  <a:srgbClr val="4A6FA5"/>
                </a:solidFill>
                <a:latin typeface="Malgun Gothic" pitchFamily="34" charset="0"/>
                <a:ea typeface="Malgun Gothic" pitchFamily="34" charset="-122"/>
                <a:cs typeface="Malgun Gothic" pitchFamily="34" charset="-120"/>
              </a:rPr>
              <a:t>아오모리·히라카와</a:t>
            </a:r>
            <a:endParaRPr lang="en-US" sz="1450" dirty="0"/>
          </a:p>
        </p:txBody>
      </p:sp>
      <p:sp>
        <p:nvSpPr>
          <p:cNvPr id="13" name="Text 11"/>
          <p:cNvSpPr/>
          <p:nvPr/>
        </p:nvSpPr>
        <p:spPr>
          <a:xfrm>
            <a:off x="822960" y="2807208"/>
            <a:ext cx="4864608" cy="150876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5B6B7F"/>
                </a:solidFill>
                <a:latin typeface="Malgun Gothic" pitchFamily="34" charset="0"/>
                <a:ea typeface="Malgun Gothic" pitchFamily="34" charset="-122"/>
                <a:cs typeface="Malgun Gothic" pitchFamily="34" charset="-120"/>
              </a:rPr>
              <a:t>프로브카드 세계 상위(메모리용 톱급)</a:t>
            </a:r>
            <a:endParaRPr lang="en-US" sz="1100" dirty="0"/>
          </a:p>
          <a:p>
            <a:pPr marL="127000" indent="-127000">
              <a:spcAft>
                <a:spcPts val="500"/>
              </a:spcAft>
              <a:buSzPct val="100000"/>
              <a:buChar char="•"/>
            </a:pPr>
            <a:r>
              <a:rPr lang="en-US" sz="1100" dirty="0">
                <a:solidFill>
                  <a:srgbClr val="5B6B7F"/>
                </a:solidFill>
                <a:latin typeface="Malgun Gothic" pitchFamily="34" charset="0"/>
                <a:ea typeface="Malgun Gothic" pitchFamily="34" charset="-122"/>
                <a:cs typeface="Malgun Gothic" pitchFamily="34" charset="-120"/>
              </a:rPr>
              <a:t>최대 생산거점은 아오모리 히라카와 — 1981년부터 40년 이상</a:t>
            </a:r>
            <a:endParaRPr lang="en-US" sz="1100" dirty="0"/>
          </a:p>
          <a:p>
            <a:pPr marL="127000" indent="-127000">
              <a:spcAft>
                <a:spcPts val="500"/>
              </a:spcAft>
              <a:buSzPct val="100000"/>
              <a:buChar char="•"/>
            </a:pPr>
            <a:r>
              <a:rPr lang="en-US" sz="1100" dirty="0">
                <a:solidFill>
                  <a:srgbClr val="5B6B7F"/>
                </a:solidFill>
                <a:latin typeface="Malgun Gothic" pitchFamily="34" charset="0"/>
                <a:ea typeface="Malgun Gothic" pitchFamily="34" charset="-122"/>
                <a:cs typeface="Malgun Gothic" pitchFamily="34" charset="-120"/>
              </a:rPr>
              <a:t>신동 110억엔(2024.12 준공)+추가 241억엔 투자 — 동인은 HBM/AI메모리 테스트 수요(IR 명시)</a:t>
            </a:r>
            <a:endParaRPr lang="en-US" sz="1100" dirty="0"/>
          </a:p>
        </p:txBody>
      </p:sp>
      <p:sp>
        <p:nvSpPr>
          <p:cNvPr id="14" name="Shape 12"/>
          <p:cNvSpPr/>
          <p:nvPr/>
        </p:nvSpPr>
        <p:spPr>
          <a:xfrm>
            <a:off x="6227064" y="2148840"/>
            <a:ext cx="5413248" cy="2377440"/>
          </a:xfrm>
          <a:prstGeom prst="roundRect">
            <a:avLst>
              <a:gd name="adj" fmla="val 2692"/>
            </a:avLst>
          </a:prstGeom>
          <a:solidFill>
            <a:srgbClr val="F3F6FA"/>
          </a:solidFill>
          <a:ln/>
        </p:spPr>
      </p:sp>
      <p:sp>
        <p:nvSpPr>
          <p:cNvPr id="15" name="Text 13"/>
          <p:cNvSpPr/>
          <p:nvPr/>
        </p:nvSpPr>
        <p:spPr>
          <a:xfrm>
            <a:off x="6501384" y="2350008"/>
            <a:ext cx="4864608" cy="365760"/>
          </a:xfrm>
          <a:prstGeom prst="rect">
            <a:avLst/>
          </a:prstGeom>
          <a:noFill/>
          <a:ln/>
        </p:spPr>
        <p:txBody>
          <a:bodyPr wrap="square" lIns="0" tIns="0" rIns="0" bIns="0" rtlCol="0" anchor="ctr"/>
          <a:lstStyle/>
          <a:p>
            <a:pPr indent="0" marL="0">
              <a:buNone/>
            </a:pPr>
            <a:r>
              <a:rPr lang="en-US" sz="1450" b="1" dirty="0">
                <a:solidFill>
                  <a:srgbClr val="1C2B4A"/>
                </a:solidFill>
                <a:latin typeface="Malgun Gothic" pitchFamily="34" charset="0"/>
                <a:ea typeface="Malgun Gothic" pitchFamily="34" charset="-122"/>
                <a:cs typeface="Malgun Gothic" pitchFamily="34" charset="-120"/>
              </a:rPr>
              <a:t>닛토방적(3110)　</a:t>
            </a:r>
            <a:pPr indent="0" marL="0">
              <a:buNone/>
            </a:pPr>
            <a:r>
              <a:rPr lang="en-US" sz="1200" b="1" dirty="0">
                <a:solidFill>
                  <a:srgbClr val="4A6FA5"/>
                </a:solidFill>
                <a:latin typeface="Malgun Gothic" pitchFamily="34" charset="0"/>
                <a:ea typeface="Malgun Gothic" pitchFamily="34" charset="-122"/>
                <a:cs typeface="Malgun Gothic" pitchFamily="34" charset="-120"/>
              </a:rPr>
              <a:t>후쿠시마</a:t>
            </a:r>
            <a:endParaRPr lang="en-US" sz="1450" dirty="0"/>
          </a:p>
        </p:txBody>
      </p:sp>
      <p:sp>
        <p:nvSpPr>
          <p:cNvPr id="16" name="Text 14"/>
          <p:cNvSpPr/>
          <p:nvPr/>
        </p:nvSpPr>
        <p:spPr>
          <a:xfrm>
            <a:off x="6501384" y="2807208"/>
            <a:ext cx="4864608" cy="150876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5B6B7F"/>
                </a:solidFill>
                <a:latin typeface="Malgun Gothic" pitchFamily="34" charset="0"/>
                <a:ea typeface="Malgun Gothic" pitchFamily="34" charset="-122"/>
                <a:cs typeface="Malgun Gothic" pitchFamily="34" charset="-120"/>
              </a:rPr>
              <a:t>선단 패키지 기판에 필수인 T글라스 클로스로 세계 톱 — 후쿠시마에서 단독 생산</a:t>
            </a:r>
            <a:endParaRPr lang="en-US" sz="1100" dirty="0"/>
          </a:p>
          <a:p>
            <a:pPr marL="127000" indent="-127000">
              <a:spcAft>
                <a:spcPts val="500"/>
              </a:spcAft>
              <a:buSzPct val="100000"/>
              <a:buChar char="•"/>
            </a:pPr>
            <a:r>
              <a:rPr lang="en-US" sz="1100" dirty="0">
                <a:solidFill>
                  <a:srgbClr val="5B6B7F"/>
                </a:solidFill>
                <a:latin typeface="Malgun Gothic" pitchFamily="34" charset="0"/>
                <a:ea typeface="Malgun Gothic" pitchFamily="34" charset="-122"/>
                <a:cs typeface="Malgun Gothic" pitchFamily="34" charset="-120"/>
              </a:rPr>
              <a:t>150억엔 신공장동(2027 가동)·경산성 공급확보계획 인정</a:t>
            </a:r>
            <a:endParaRPr lang="en-US" sz="1100" dirty="0"/>
          </a:p>
          <a:p>
            <a:pPr marL="127000" indent="-127000">
              <a:spcAft>
                <a:spcPts val="500"/>
              </a:spcAft>
              <a:buSzPct val="100000"/>
              <a:buChar char="•"/>
            </a:pPr>
            <a:r>
              <a:rPr lang="en-US" sz="1100" dirty="0">
                <a:solidFill>
                  <a:srgbClr val="5B6B7F"/>
                </a:solidFill>
                <a:latin typeface="Malgun Gothic" pitchFamily="34" charset="0"/>
                <a:ea typeface="Malgun Gothic" pitchFamily="34" charset="-122"/>
                <a:cs typeface="Malgun Gothic" pitchFamily="34" charset="-120"/>
              </a:rPr>
              <a:t>본사도 후쿠시마시 — '지방 니치 톱'의 전형</a:t>
            </a:r>
            <a:endParaRPr lang="en-US" sz="1100" dirty="0"/>
          </a:p>
        </p:txBody>
      </p:sp>
      <p:sp>
        <p:nvSpPr>
          <p:cNvPr id="17" name="Shape 15"/>
          <p:cNvSpPr/>
          <p:nvPr/>
        </p:nvSpPr>
        <p:spPr>
          <a:xfrm>
            <a:off x="548640" y="4800600"/>
            <a:ext cx="11094415" cy="1234440"/>
          </a:xfrm>
          <a:prstGeom prst="roundRect">
            <a:avLst>
              <a:gd name="adj" fmla="val 5185"/>
            </a:avLst>
          </a:prstGeom>
          <a:solidFill>
            <a:srgbClr val="F3F6FA"/>
          </a:solidFill>
          <a:ln/>
        </p:spPr>
      </p:sp>
      <p:sp>
        <p:nvSpPr>
          <p:cNvPr id="18" name="Text 16"/>
          <p:cNvSpPr/>
          <p:nvPr/>
        </p:nvSpPr>
        <p:spPr>
          <a:xfrm>
            <a:off x="822960" y="4956048"/>
            <a:ext cx="10545775" cy="960120"/>
          </a:xfrm>
          <a:prstGeom prst="rect">
            <a:avLst/>
          </a:prstGeom>
          <a:noFill/>
          <a:ln/>
        </p:spPr>
        <p:txBody>
          <a:bodyPr wrap="square" lIns="0" tIns="0" rIns="0" bIns="0" rtlCol="0" anchor="t"/>
          <a:lstStyle/>
          <a:p>
            <a:pPr indent="0" marL="0">
              <a:spcAft>
                <a:spcPts val="400"/>
              </a:spcAft>
              <a:buNone/>
            </a:pPr>
            <a:r>
              <a:rPr lang="en-US" sz="1250" b="1" dirty="0">
                <a:solidFill>
                  <a:srgbClr val="A55D2B"/>
                </a:solidFill>
                <a:latin typeface="Malgun Gothic" pitchFamily="34" charset="0"/>
                <a:ea typeface="Malgun Gothic" pitchFamily="34" charset="-122"/>
                <a:cs typeface="Malgun Gothic" pitchFamily="34" charset="-120"/>
              </a:rPr>
              <a:t>정직한 정리 — 과장하지 않는 것이, 이 축의 설득력.</a:t>
            </a:r>
            <a:endParaRPr lang="en-US" sz="1250" dirty="0"/>
          </a:p>
          <a:p>
            <a:pPr indent="0" marL="0">
              <a:buNone/>
            </a:pPr>
            <a:r>
              <a:rPr lang="en-US" sz="1100" dirty="0">
                <a:solidFill>
                  <a:srgbClr val="5B6B7F"/>
                </a:solidFill>
                <a:latin typeface="Malgun Gothic" pitchFamily="34" charset="0"/>
                <a:ea typeface="Malgun Gothic" pitchFamily="34" charset="-122"/>
                <a:cs typeface="Malgun Gothic" pitchFamily="34" charset="-120"/>
              </a:rPr>
              <a:t>도호쿠 2사의 증설 1차 동인은 글로벌 AI/HBM 수요이며, 구마모토형 '유치→진출'의 인과와는 다르다. 메모리 팹(기타카미)·테스트 소모품(아오모리)·기판 소재(후쿠시마)가 같은 권역에서 세계 수요를 받아내는 '밸류체인의 지리적 묶음'으로 서술한다.</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algun Gothic" pitchFamily="34" charset="0"/>
                <a:ea typeface="Malgun Gothic" pitchFamily="34" charset="-122"/>
                <a:cs typeface="Malgun Gothic" pitchFamily="34" charset="-120"/>
              </a:rPr>
              <a:t>METHODOLOGY</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300" b="1" dirty="0">
                <a:solidFill>
                  <a:srgbClr val="1C2B4A"/>
                </a:solidFill>
                <a:latin typeface="Malgun Gothic" pitchFamily="34" charset="0"/>
                <a:ea typeface="Malgun Gothic" pitchFamily="34" charset="-122"/>
                <a:cs typeface="Malgun Gothic" pitchFamily="34" charset="-120"/>
              </a:rPr>
              <a:t>선정 방법론 — 3단계 게이트</a:t>
            </a:r>
            <a:endParaRPr lang="en-US" sz="23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algun Gothic" pitchFamily="34" charset="0"/>
                <a:ea typeface="Malgun Gothic" pitchFamily="34" charset="-122"/>
                <a:cs typeface="Malgun Gothic" pitchFamily="34" charset="-120"/>
              </a:rPr>
              <a:t>닛케이 스톡리그 2026｜후공정 니치 톱 × 지방 클러스터</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algun Gothic" pitchFamily="34" charset="0"/>
                <a:ea typeface="Malgun Gothic" pitchFamily="34" charset="-122"/>
                <a:cs typeface="Malgun Gothic" pitchFamily="34" charset="-120"/>
              </a:rPr>
              <a:t>9</a:t>
            </a:r>
            <a:endParaRPr lang="en-US" sz="900" dirty="0"/>
          </a:p>
        </p:txBody>
      </p:sp>
      <p:sp>
        <p:nvSpPr>
          <p:cNvPr id="9" name="Shape 7"/>
          <p:cNvSpPr/>
          <p:nvPr/>
        </p:nvSpPr>
        <p:spPr>
          <a:xfrm>
            <a:off x="548640" y="1371600"/>
            <a:ext cx="8732520" cy="1444752"/>
          </a:xfrm>
          <a:prstGeom prst="roundRect">
            <a:avLst>
              <a:gd name="adj" fmla="val 4430"/>
            </a:avLst>
          </a:prstGeom>
          <a:solidFill>
            <a:srgbClr val="F3F6FA"/>
          </a:solidFill>
          <a:ln/>
        </p:spPr>
      </p:sp>
      <p:sp>
        <p:nvSpPr>
          <p:cNvPr id="10" name="Text 8"/>
          <p:cNvSpPr/>
          <p:nvPr/>
        </p:nvSpPr>
        <p:spPr>
          <a:xfrm>
            <a:off x="804672" y="1627632"/>
            <a:ext cx="512064" cy="512064"/>
          </a:xfrm>
          <a:prstGeom prst="ellipse">
            <a:avLst/>
          </a:prstGeom>
          <a:solidFill>
            <a:srgbClr val="1C2B4A"/>
          </a:solid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11" name="Text 9"/>
          <p:cNvSpPr/>
          <p:nvPr/>
        </p:nvSpPr>
        <p:spPr>
          <a:xfrm>
            <a:off x="1508760" y="1517904"/>
            <a:ext cx="7498080" cy="365760"/>
          </a:xfrm>
          <a:prstGeom prst="rect">
            <a:avLst/>
          </a:prstGeom>
          <a:noFill/>
          <a:ln/>
        </p:spPr>
        <p:txBody>
          <a:bodyPr wrap="square" lIns="0" tIns="0" rIns="0" bIns="0" rtlCol="0" anchor="ctr"/>
          <a:lstStyle/>
          <a:p>
            <a:pPr indent="0" marL="0">
              <a:buNone/>
            </a:pPr>
            <a:r>
              <a:rPr lang="en-US" sz="1550" b="1" dirty="0">
                <a:solidFill>
                  <a:srgbClr val="1C2B4A"/>
                </a:solidFill>
                <a:latin typeface="Malgun Gothic" pitchFamily="34" charset="0"/>
                <a:ea typeface="Malgun Gothic" pitchFamily="34" charset="-122"/>
                <a:cs typeface="Malgun Gothic" pitchFamily="34" charset="-120"/>
              </a:rPr>
              <a:t>레드라인 게이트　</a:t>
            </a:r>
            <a:pPr indent="0" marL="0">
              <a:buNone/>
            </a:pPr>
            <a:r>
              <a:rPr lang="en-US" sz="1300" b="1" dirty="0">
                <a:solidFill>
                  <a:srgbClr val="A55D2B"/>
                </a:solidFill>
                <a:latin typeface="Malgun Gothic" pitchFamily="34" charset="0"/>
                <a:ea typeface="Malgun Gothic" pitchFamily="34" charset="-122"/>
                <a:cs typeface="Malgun Gothic" pitchFamily="34" charset="-120"/>
              </a:rPr>
              <a:t>106사 → 48사</a:t>
            </a:r>
            <a:endParaRPr lang="en-US" sz="1550" dirty="0"/>
          </a:p>
        </p:txBody>
      </p:sp>
      <p:sp>
        <p:nvSpPr>
          <p:cNvPr id="12" name="Text 10"/>
          <p:cNvSpPr/>
          <p:nvPr/>
        </p:nvSpPr>
        <p:spPr>
          <a:xfrm>
            <a:off x="1508760" y="1901952"/>
            <a:ext cx="7543800" cy="859536"/>
          </a:xfrm>
          <a:prstGeom prst="rect">
            <a:avLst/>
          </a:prstGeom>
          <a:noFill/>
          <a:ln/>
        </p:spPr>
        <p:txBody>
          <a:bodyPr wrap="square" lIns="0" tIns="0" rIns="0" bIns="0" rtlCol="0" anchor="t"/>
          <a:lstStyle/>
          <a:p>
            <a:pPr indent="0" marL="0">
              <a:buNone/>
            </a:pPr>
            <a:r>
              <a:rPr lang="en-US" sz="1050" dirty="0">
                <a:solidFill>
                  <a:srgbClr val="5B6B7F"/>
                </a:solidFill>
                <a:latin typeface="Malgun Gothic" pitchFamily="34" charset="0"/>
                <a:ea typeface="Malgun Gothic" pitchFamily="34" charset="-122"/>
                <a:cs typeface="Malgun Gothic" pitchFamily="34" charset="-120"/>
              </a:rPr>
              <a:t>재무 기준으로 기계적으로 압축 : 자기자본비율 ≥ 40%·영업이익률 ≥ 8%·상장 지속. 스코프 규칙 — 전공정 '전용' 프로세스 장비는 테마 밖(레이저텍·에바라 등을 제외하는 규율).</a:t>
            </a:r>
            <a:endParaRPr lang="en-US" sz="1050" dirty="0"/>
          </a:p>
        </p:txBody>
      </p:sp>
      <p:sp>
        <p:nvSpPr>
          <p:cNvPr id="13" name="Shape 11"/>
          <p:cNvSpPr/>
          <p:nvPr/>
        </p:nvSpPr>
        <p:spPr>
          <a:xfrm>
            <a:off x="4709160" y="2834640"/>
            <a:ext cx="274320" cy="182880"/>
          </a:xfrm>
          <a:prstGeom prst="downArrow">
            <a:avLst/>
          </a:prstGeom>
          <a:solidFill>
            <a:srgbClr val="DCE6F2"/>
          </a:solidFill>
          <a:ln/>
        </p:spPr>
      </p:sp>
      <p:sp>
        <p:nvSpPr>
          <p:cNvPr id="14" name="Shape 12"/>
          <p:cNvSpPr/>
          <p:nvPr/>
        </p:nvSpPr>
        <p:spPr>
          <a:xfrm>
            <a:off x="548640" y="3035808"/>
            <a:ext cx="8732520" cy="1444752"/>
          </a:xfrm>
          <a:prstGeom prst="roundRect">
            <a:avLst>
              <a:gd name="adj" fmla="val 4430"/>
            </a:avLst>
          </a:prstGeom>
          <a:solidFill>
            <a:srgbClr val="F3F6FA"/>
          </a:solidFill>
          <a:ln/>
        </p:spPr>
      </p:sp>
      <p:sp>
        <p:nvSpPr>
          <p:cNvPr id="15" name="Text 13"/>
          <p:cNvSpPr/>
          <p:nvPr/>
        </p:nvSpPr>
        <p:spPr>
          <a:xfrm>
            <a:off x="804672" y="3291840"/>
            <a:ext cx="512064" cy="512064"/>
          </a:xfrm>
          <a:prstGeom prst="ellipse">
            <a:avLst/>
          </a:prstGeom>
          <a:solidFill>
            <a:srgbClr val="C0713A"/>
          </a:solid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16" name="Text 14"/>
          <p:cNvSpPr/>
          <p:nvPr/>
        </p:nvSpPr>
        <p:spPr>
          <a:xfrm>
            <a:off x="1508760" y="3182112"/>
            <a:ext cx="7498080" cy="365760"/>
          </a:xfrm>
          <a:prstGeom prst="rect">
            <a:avLst/>
          </a:prstGeom>
          <a:noFill/>
          <a:ln/>
        </p:spPr>
        <p:txBody>
          <a:bodyPr wrap="square" lIns="0" tIns="0" rIns="0" bIns="0" rtlCol="0" anchor="ctr"/>
          <a:lstStyle/>
          <a:p>
            <a:pPr indent="0" marL="0">
              <a:buNone/>
            </a:pPr>
            <a:r>
              <a:rPr lang="en-US" sz="1550" b="1" dirty="0">
                <a:solidFill>
                  <a:srgbClr val="1C2B4A"/>
                </a:solidFill>
                <a:latin typeface="Malgun Gothic" pitchFamily="34" charset="0"/>
                <a:ea typeface="Malgun Gothic" pitchFamily="34" charset="-122"/>
                <a:cs typeface="Malgun Gothic" pitchFamily="34" charset="-120"/>
              </a:rPr>
              <a:t>확정 앵커 게이트　</a:t>
            </a:r>
            <a:pPr indent="0" marL="0">
              <a:buNone/>
            </a:pPr>
            <a:r>
              <a:rPr lang="en-US" sz="1300" b="1" dirty="0">
                <a:solidFill>
                  <a:srgbClr val="A55D2B"/>
                </a:solidFill>
                <a:latin typeface="Malgun Gothic" pitchFamily="34" charset="0"/>
                <a:ea typeface="Malgun Gothic" pitchFamily="34" charset="-122"/>
                <a:cs typeface="Malgun Gothic" pitchFamily="34" charset="-120"/>
              </a:rPr>
              <a:t>48사 → 15사</a:t>
            </a:r>
            <a:endParaRPr lang="en-US" sz="1550" dirty="0"/>
          </a:p>
        </p:txBody>
      </p:sp>
      <p:sp>
        <p:nvSpPr>
          <p:cNvPr id="17" name="Text 15"/>
          <p:cNvSpPr/>
          <p:nvPr/>
        </p:nvSpPr>
        <p:spPr>
          <a:xfrm>
            <a:off x="1508760" y="3566160"/>
            <a:ext cx="7543800" cy="859536"/>
          </a:xfrm>
          <a:prstGeom prst="rect">
            <a:avLst/>
          </a:prstGeom>
          <a:noFill/>
          <a:ln/>
        </p:spPr>
        <p:txBody>
          <a:bodyPr wrap="square" lIns="0" tIns="0" rIns="0" bIns="0" rtlCol="0" anchor="t"/>
          <a:lstStyle/>
          <a:p>
            <a:pPr indent="0" marL="0">
              <a:buNone/>
            </a:pPr>
            <a:r>
              <a:rPr lang="en-US" sz="1050" dirty="0">
                <a:solidFill>
                  <a:srgbClr val="5B6B7F"/>
                </a:solidFill>
                <a:latin typeface="Malgun Gothic" pitchFamily="34" charset="0"/>
                <a:ea typeface="Malgun Gothic" pitchFamily="34" charset="-122"/>
                <a:cs typeface="Malgun Gothic" pitchFamily="34" charset="-120"/>
              </a:rPr>
              <a:t>입지·공급 링크를 1차 정보로 전수 검증 — 유가증권보고서 사업소 현황·IR·TSMC 수상·설비투자 릴리스. 가설 태그의 오류를 다수 반증(태그≠검증). 앵커→기업 방향의 명단 대조와 전국 클러스터 전수 조사로, 누락도 점검.</a:t>
            </a:r>
            <a:endParaRPr lang="en-US" sz="1050" dirty="0"/>
          </a:p>
        </p:txBody>
      </p:sp>
      <p:sp>
        <p:nvSpPr>
          <p:cNvPr id="18" name="Shape 16"/>
          <p:cNvSpPr/>
          <p:nvPr/>
        </p:nvSpPr>
        <p:spPr>
          <a:xfrm>
            <a:off x="4709160" y="4498848"/>
            <a:ext cx="274320" cy="182880"/>
          </a:xfrm>
          <a:prstGeom prst="downArrow">
            <a:avLst/>
          </a:prstGeom>
          <a:solidFill>
            <a:srgbClr val="DCE6F2"/>
          </a:solidFill>
          <a:ln/>
        </p:spPr>
      </p:sp>
      <p:sp>
        <p:nvSpPr>
          <p:cNvPr id="19" name="Shape 17"/>
          <p:cNvSpPr/>
          <p:nvPr/>
        </p:nvSpPr>
        <p:spPr>
          <a:xfrm>
            <a:off x="548640" y="4700016"/>
            <a:ext cx="8732520" cy="1444752"/>
          </a:xfrm>
          <a:prstGeom prst="roundRect">
            <a:avLst>
              <a:gd name="adj" fmla="val 4430"/>
            </a:avLst>
          </a:prstGeom>
          <a:solidFill>
            <a:srgbClr val="F3F6FA"/>
          </a:solidFill>
          <a:ln/>
        </p:spPr>
      </p:sp>
      <p:sp>
        <p:nvSpPr>
          <p:cNvPr id="20" name="Text 18"/>
          <p:cNvSpPr/>
          <p:nvPr/>
        </p:nvSpPr>
        <p:spPr>
          <a:xfrm>
            <a:off x="804672" y="4956048"/>
            <a:ext cx="512064" cy="512064"/>
          </a:xfrm>
          <a:prstGeom prst="ellipse">
            <a:avLst/>
          </a:prstGeom>
          <a:solidFill>
            <a:srgbClr val="1C2B4A"/>
          </a:solid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21" name="Text 19"/>
          <p:cNvSpPr/>
          <p:nvPr/>
        </p:nvSpPr>
        <p:spPr>
          <a:xfrm>
            <a:off x="1508760" y="4846320"/>
            <a:ext cx="7498080" cy="365760"/>
          </a:xfrm>
          <a:prstGeom prst="rect">
            <a:avLst/>
          </a:prstGeom>
          <a:noFill/>
          <a:ln/>
        </p:spPr>
        <p:txBody>
          <a:bodyPr wrap="square" lIns="0" tIns="0" rIns="0" bIns="0" rtlCol="0" anchor="ctr"/>
          <a:lstStyle/>
          <a:p>
            <a:pPr indent="0" marL="0">
              <a:buNone/>
            </a:pPr>
            <a:r>
              <a:rPr lang="en-US" sz="1550" b="1" dirty="0">
                <a:solidFill>
                  <a:srgbClr val="1C2B4A"/>
                </a:solidFill>
                <a:latin typeface="Malgun Gothic" pitchFamily="34" charset="0"/>
                <a:ea typeface="Malgun Gothic" pitchFamily="34" charset="-122"/>
                <a:cs typeface="Malgun Gothic" pitchFamily="34" charset="-120"/>
              </a:rPr>
              <a:t>QARP 순위 매기기　</a:t>
            </a:r>
            <a:pPr indent="0" marL="0">
              <a:buNone/>
            </a:pPr>
            <a:r>
              <a:rPr lang="en-US" sz="1300" b="1" dirty="0">
                <a:solidFill>
                  <a:srgbClr val="A55D2B"/>
                </a:solidFill>
                <a:latin typeface="Malgun Gothic" pitchFamily="34" charset="0"/>
                <a:ea typeface="Malgun Gothic" pitchFamily="34" charset="-122"/>
                <a:cs typeface="Malgun Gothic" pitchFamily="34" charset="-120"/>
              </a:rPr>
              <a:t>15사 안에서</a:t>
            </a:r>
            <a:endParaRPr lang="en-US" sz="1550" dirty="0"/>
          </a:p>
        </p:txBody>
      </p:sp>
      <p:sp>
        <p:nvSpPr>
          <p:cNvPr id="22" name="Text 20"/>
          <p:cNvSpPr/>
          <p:nvPr/>
        </p:nvSpPr>
        <p:spPr>
          <a:xfrm>
            <a:off x="1508760" y="5230368"/>
            <a:ext cx="7543800" cy="859536"/>
          </a:xfrm>
          <a:prstGeom prst="rect">
            <a:avLst/>
          </a:prstGeom>
          <a:noFill/>
          <a:ln/>
        </p:spPr>
        <p:txBody>
          <a:bodyPr wrap="square" lIns="0" tIns="0" rIns="0" bIns="0" rtlCol="0" anchor="t"/>
          <a:lstStyle/>
          <a:p>
            <a:pPr indent="0" marL="0">
              <a:buNone/>
            </a:pPr>
            <a:r>
              <a:rPr lang="en-US" sz="1050" dirty="0">
                <a:solidFill>
                  <a:srgbClr val="5B6B7F"/>
                </a:solidFill>
                <a:latin typeface="Malgun Gothic" pitchFamily="34" charset="0"/>
                <a:ea typeface="Malgun Gothic" pitchFamily="34" charset="-122"/>
                <a:cs typeface="Malgun Gothic" pitchFamily="34" charset="-120"/>
              </a:rPr>
              <a:t>품질(재무·기술) × 밸류(시가총액/영업익·PSR)를 50:50으로 종합 — '테마를 검증하는 종목 안에서, 좋고 싸게'. 순위는 비중 결정에 사용(현재가 기준으로 재채점).</a:t>
            </a:r>
            <a:endParaRPr lang="en-US" sz="1050" dirty="0"/>
          </a:p>
        </p:txBody>
      </p:sp>
      <p:sp>
        <p:nvSpPr>
          <p:cNvPr id="23" name="Shape 21"/>
          <p:cNvSpPr/>
          <p:nvPr/>
        </p:nvSpPr>
        <p:spPr>
          <a:xfrm>
            <a:off x="9646920" y="1371600"/>
            <a:ext cx="2011680" cy="1188720"/>
          </a:xfrm>
          <a:prstGeom prst="roundRect">
            <a:avLst>
              <a:gd name="adj" fmla="val 5385"/>
            </a:avLst>
          </a:prstGeom>
          <a:solidFill>
            <a:srgbClr val="F3F6FA"/>
          </a:solidFill>
          <a:ln/>
        </p:spPr>
      </p:sp>
      <p:sp>
        <p:nvSpPr>
          <p:cNvPr id="24" name="Text 22"/>
          <p:cNvSpPr/>
          <p:nvPr/>
        </p:nvSpPr>
        <p:spPr>
          <a:xfrm>
            <a:off x="9646920" y="1481328"/>
            <a:ext cx="2011680" cy="566928"/>
          </a:xfrm>
          <a:prstGeom prst="rect">
            <a:avLst/>
          </a:prstGeom>
          <a:noFill/>
          <a:ln/>
        </p:spPr>
        <p:txBody>
          <a:bodyPr wrap="square" lIns="0" tIns="0" rIns="0" bIns="0" rtlCol="0" anchor="ctr"/>
          <a:lstStyle/>
          <a:p>
            <a:pPr algn="ctr" indent="0" marL="0">
              <a:buNone/>
            </a:pPr>
            <a:r>
              <a:rPr lang="en-US" sz="3000" b="1" dirty="0">
                <a:solidFill>
                  <a:srgbClr val="C0713A"/>
                </a:solidFill>
                <a:latin typeface="Malgun Gothic" pitchFamily="34" charset="0"/>
                <a:ea typeface="Malgun Gothic" pitchFamily="34" charset="-122"/>
                <a:cs typeface="Malgun Gothic" pitchFamily="34" charset="-120"/>
              </a:rPr>
              <a:t>106</a:t>
            </a:r>
            <a:endParaRPr lang="en-US" sz="3000" dirty="0"/>
          </a:p>
        </p:txBody>
      </p:sp>
      <p:sp>
        <p:nvSpPr>
          <p:cNvPr id="25" name="Text 23"/>
          <p:cNvSpPr/>
          <p:nvPr/>
        </p:nvSpPr>
        <p:spPr>
          <a:xfrm>
            <a:off x="9646920" y="2084832"/>
            <a:ext cx="2011680" cy="310896"/>
          </a:xfrm>
          <a:prstGeom prst="rect">
            <a:avLst/>
          </a:prstGeom>
          <a:noFill/>
          <a:ln/>
        </p:spPr>
        <p:txBody>
          <a:bodyPr wrap="square" lIns="0" tIns="0" rIns="0" bIns="0" rtlCol="0" anchor="ctr"/>
          <a:lstStyle/>
          <a:p>
            <a:pPr algn="ctr" indent="0" marL="0">
              <a:buNone/>
            </a:pPr>
            <a:r>
              <a:rPr lang="en-US" sz="1050" dirty="0">
                <a:solidFill>
                  <a:srgbClr val="5B6B7F"/>
                </a:solidFill>
                <a:latin typeface="Malgun Gothic" pitchFamily="34" charset="0"/>
                <a:ea typeface="Malgun Gothic" pitchFamily="34" charset="-122"/>
                <a:cs typeface="Malgun Gothic" pitchFamily="34" charset="-120"/>
              </a:rPr>
              <a:t>유니버스</a:t>
            </a:r>
            <a:endParaRPr lang="en-US" sz="1050" dirty="0"/>
          </a:p>
        </p:txBody>
      </p:sp>
      <p:sp>
        <p:nvSpPr>
          <p:cNvPr id="26" name="Shape 24"/>
          <p:cNvSpPr/>
          <p:nvPr/>
        </p:nvSpPr>
        <p:spPr>
          <a:xfrm>
            <a:off x="10524744" y="2615184"/>
            <a:ext cx="256032" cy="310896"/>
          </a:xfrm>
          <a:prstGeom prst="downArrow">
            <a:avLst/>
          </a:prstGeom>
          <a:solidFill>
            <a:srgbClr val="DCE6F2"/>
          </a:solidFill>
          <a:ln/>
        </p:spPr>
      </p:sp>
      <p:sp>
        <p:nvSpPr>
          <p:cNvPr id="27" name="Shape 25"/>
          <p:cNvSpPr/>
          <p:nvPr/>
        </p:nvSpPr>
        <p:spPr>
          <a:xfrm>
            <a:off x="9646920" y="3035808"/>
            <a:ext cx="2011680" cy="1188720"/>
          </a:xfrm>
          <a:prstGeom prst="roundRect">
            <a:avLst>
              <a:gd name="adj" fmla="val 5385"/>
            </a:avLst>
          </a:prstGeom>
          <a:solidFill>
            <a:srgbClr val="F3F6FA"/>
          </a:solidFill>
          <a:ln/>
        </p:spPr>
      </p:sp>
      <p:sp>
        <p:nvSpPr>
          <p:cNvPr id="28" name="Text 26"/>
          <p:cNvSpPr/>
          <p:nvPr/>
        </p:nvSpPr>
        <p:spPr>
          <a:xfrm>
            <a:off x="9646920" y="3145536"/>
            <a:ext cx="2011680" cy="566928"/>
          </a:xfrm>
          <a:prstGeom prst="rect">
            <a:avLst/>
          </a:prstGeom>
          <a:noFill/>
          <a:ln/>
        </p:spPr>
        <p:txBody>
          <a:bodyPr wrap="square" lIns="0" tIns="0" rIns="0" bIns="0" rtlCol="0" anchor="ctr"/>
          <a:lstStyle/>
          <a:p>
            <a:pPr algn="ctr" indent="0" marL="0">
              <a:buNone/>
            </a:pPr>
            <a:r>
              <a:rPr lang="en-US" sz="3000" b="1" dirty="0">
                <a:solidFill>
                  <a:srgbClr val="C0713A"/>
                </a:solidFill>
                <a:latin typeface="Malgun Gothic" pitchFamily="34" charset="0"/>
                <a:ea typeface="Malgun Gothic" pitchFamily="34" charset="-122"/>
                <a:cs typeface="Malgun Gothic" pitchFamily="34" charset="-120"/>
              </a:rPr>
              <a:t>48</a:t>
            </a:r>
            <a:endParaRPr lang="en-US" sz="3000" dirty="0"/>
          </a:p>
        </p:txBody>
      </p:sp>
      <p:sp>
        <p:nvSpPr>
          <p:cNvPr id="29" name="Text 27"/>
          <p:cNvSpPr/>
          <p:nvPr/>
        </p:nvSpPr>
        <p:spPr>
          <a:xfrm>
            <a:off x="9646920" y="3749040"/>
            <a:ext cx="2011680" cy="310896"/>
          </a:xfrm>
          <a:prstGeom prst="rect">
            <a:avLst/>
          </a:prstGeom>
          <a:noFill/>
          <a:ln/>
        </p:spPr>
        <p:txBody>
          <a:bodyPr wrap="square" lIns="0" tIns="0" rIns="0" bIns="0" rtlCol="0" anchor="ctr"/>
          <a:lstStyle/>
          <a:p>
            <a:pPr algn="ctr" indent="0" marL="0">
              <a:buNone/>
            </a:pPr>
            <a:r>
              <a:rPr lang="en-US" sz="1050" dirty="0">
                <a:solidFill>
                  <a:srgbClr val="5B6B7F"/>
                </a:solidFill>
                <a:latin typeface="Malgun Gothic" pitchFamily="34" charset="0"/>
                <a:ea typeface="Malgun Gothic" pitchFamily="34" charset="-122"/>
                <a:cs typeface="Malgun Gothic" pitchFamily="34" charset="-120"/>
              </a:rPr>
              <a:t>재무 통과</a:t>
            </a:r>
            <a:endParaRPr lang="en-US" sz="1050" dirty="0"/>
          </a:p>
        </p:txBody>
      </p:sp>
      <p:sp>
        <p:nvSpPr>
          <p:cNvPr id="30" name="Shape 28"/>
          <p:cNvSpPr/>
          <p:nvPr/>
        </p:nvSpPr>
        <p:spPr>
          <a:xfrm>
            <a:off x="10524744" y="4279392"/>
            <a:ext cx="256032" cy="310896"/>
          </a:xfrm>
          <a:prstGeom prst="downArrow">
            <a:avLst/>
          </a:prstGeom>
          <a:solidFill>
            <a:srgbClr val="DCE6F2"/>
          </a:solidFill>
          <a:ln/>
        </p:spPr>
      </p:sp>
      <p:sp>
        <p:nvSpPr>
          <p:cNvPr id="31" name="Shape 29"/>
          <p:cNvSpPr/>
          <p:nvPr/>
        </p:nvSpPr>
        <p:spPr>
          <a:xfrm>
            <a:off x="9646920" y="4700016"/>
            <a:ext cx="2011680" cy="1188720"/>
          </a:xfrm>
          <a:prstGeom prst="roundRect">
            <a:avLst>
              <a:gd name="adj" fmla="val 5385"/>
            </a:avLst>
          </a:prstGeom>
          <a:solidFill>
            <a:srgbClr val="1C2B4A"/>
          </a:solidFill>
          <a:ln/>
        </p:spPr>
      </p:sp>
      <p:sp>
        <p:nvSpPr>
          <p:cNvPr id="32" name="Text 30"/>
          <p:cNvSpPr/>
          <p:nvPr/>
        </p:nvSpPr>
        <p:spPr>
          <a:xfrm>
            <a:off x="9646920" y="4809744"/>
            <a:ext cx="2011680" cy="566928"/>
          </a:xfrm>
          <a:prstGeom prst="rect">
            <a:avLst/>
          </a:prstGeom>
          <a:noFill/>
          <a:ln/>
        </p:spPr>
        <p:txBody>
          <a:bodyPr wrap="square" lIns="0" tIns="0" rIns="0" bIns="0" rtlCol="0" anchor="ctr"/>
          <a:lstStyle/>
          <a:p>
            <a:pPr algn="ctr" indent="0" marL="0">
              <a:buNone/>
            </a:pPr>
            <a:r>
              <a:rPr lang="en-US" sz="3000" b="1" dirty="0">
                <a:solidFill>
                  <a:srgbClr val="FFFFFF"/>
                </a:solidFill>
                <a:latin typeface="Malgun Gothic" pitchFamily="34" charset="0"/>
                <a:ea typeface="Malgun Gothic" pitchFamily="34" charset="-122"/>
                <a:cs typeface="Malgun Gothic" pitchFamily="34" charset="-120"/>
              </a:rPr>
              <a:t>15</a:t>
            </a:r>
            <a:endParaRPr lang="en-US" sz="3000" dirty="0"/>
          </a:p>
        </p:txBody>
      </p:sp>
      <p:sp>
        <p:nvSpPr>
          <p:cNvPr id="33" name="Text 31"/>
          <p:cNvSpPr/>
          <p:nvPr/>
        </p:nvSpPr>
        <p:spPr>
          <a:xfrm>
            <a:off x="9646920" y="5413248"/>
            <a:ext cx="2011680" cy="310896"/>
          </a:xfrm>
          <a:prstGeom prst="rect">
            <a:avLst/>
          </a:prstGeom>
          <a:noFill/>
          <a:ln/>
        </p:spPr>
        <p:txBody>
          <a:bodyPr wrap="square" lIns="0" tIns="0" rIns="0" bIns="0" rtlCol="0" anchor="ctr"/>
          <a:lstStyle/>
          <a:p>
            <a:pPr algn="ctr" indent="0" marL="0">
              <a:buNone/>
            </a:pPr>
            <a:r>
              <a:rPr lang="en-US" sz="1050" dirty="0">
                <a:solidFill>
                  <a:srgbClr val="DCE6F2"/>
                </a:solidFill>
                <a:latin typeface="Malgun Gothic" pitchFamily="34" charset="0"/>
                <a:ea typeface="Malgun Gothic" pitchFamily="34" charset="-122"/>
                <a:cs typeface="Malgun Gothic" pitchFamily="34" charset="-120"/>
              </a:rPr>
              <a:t>최종 선정</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algun Gothic" pitchFamily="34" charset="0"/>
                <a:ea typeface="Malgun Gothic" pitchFamily="34" charset="-122"/>
                <a:cs typeface="Malgun Gothic" pitchFamily="34" charset="-120"/>
              </a:rPr>
              <a:t>INTEGRITY BY DESIGN</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300" b="1" dirty="0">
                <a:solidFill>
                  <a:srgbClr val="1C2B4A"/>
                </a:solidFill>
                <a:latin typeface="Malgun Gothic" pitchFamily="34" charset="0"/>
                <a:ea typeface="Malgun Gothic" pitchFamily="34" charset="-122"/>
                <a:cs typeface="Malgun Gothic" pitchFamily="34" charset="-120"/>
              </a:rPr>
              <a:t>선정의 규율 — '정직함'을 설계에 담다</a:t>
            </a:r>
            <a:endParaRPr lang="en-US" sz="23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algun Gothic" pitchFamily="34" charset="0"/>
                <a:ea typeface="Malgun Gothic" pitchFamily="34" charset="-122"/>
                <a:cs typeface="Malgun Gothic" pitchFamily="34" charset="-120"/>
              </a:rPr>
              <a:t>닛케이 스톡리그 2026｜후공정 니치 톱 × 지방 클러스터</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algun Gothic" pitchFamily="34" charset="0"/>
                <a:ea typeface="Malgun Gothic" pitchFamily="34" charset="-122"/>
                <a:cs typeface="Malgun Gothic" pitchFamily="34" charset="-120"/>
              </a:rPr>
              <a:t>10</a:t>
            </a:r>
            <a:endParaRPr lang="en-US" sz="900" dirty="0"/>
          </a:p>
        </p:txBody>
      </p:sp>
      <p:sp>
        <p:nvSpPr>
          <p:cNvPr id="9" name="Shape 7"/>
          <p:cNvSpPr/>
          <p:nvPr/>
        </p:nvSpPr>
        <p:spPr>
          <a:xfrm>
            <a:off x="548640" y="1371600"/>
            <a:ext cx="3520440" cy="4069080"/>
          </a:xfrm>
          <a:prstGeom prst="roundRect">
            <a:avLst>
              <a:gd name="adj" fmla="val 1818"/>
            </a:avLst>
          </a:prstGeom>
          <a:solidFill>
            <a:srgbClr val="F3F6FA"/>
          </a:solidFill>
          <a:ln/>
        </p:spPr>
      </p:sp>
      <p:sp>
        <p:nvSpPr>
          <p:cNvPr id="10" name="Text 8"/>
          <p:cNvSpPr/>
          <p:nvPr/>
        </p:nvSpPr>
        <p:spPr>
          <a:xfrm>
            <a:off x="804672" y="1627632"/>
            <a:ext cx="457200" cy="457200"/>
          </a:xfrm>
          <a:prstGeom prst="ellipse">
            <a:avLst/>
          </a:prstGeom>
          <a:solidFill>
            <a:srgbClr val="C0713A"/>
          </a:solid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11" name="Text 9"/>
          <p:cNvSpPr/>
          <p:nvPr/>
        </p:nvSpPr>
        <p:spPr>
          <a:xfrm>
            <a:off x="804672" y="2240280"/>
            <a:ext cx="3008376" cy="658368"/>
          </a:xfrm>
          <a:prstGeom prst="rect">
            <a:avLst/>
          </a:prstGeom>
          <a:noFill/>
          <a:ln/>
        </p:spPr>
        <p:txBody>
          <a:bodyPr wrap="square" lIns="0" tIns="0" rIns="0" bIns="0" rtlCol="0" anchor="t"/>
          <a:lstStyle/>
          <a:p>
            <a:pPr indent="0" marL="0">
              <a:buNone/>
            </a:pPr>
            <a:r>
              <a:rPr lang="en-US" sz="1550" b="1" dirty="0">
                <a:solidFill>
                  <a:srgbClr val="1C2B4A"/>
                </a:solidFill>
                <a:latin typeface="Malgun Gothic" pitchFamily="34" charset="0"/>
                <a:ea typeface="Malgun Gothic" pitchFamily="34" charset="-122"/>
                <a:cs typeface="Malgun Gothic" pitchFamily="34" charset="-120"/>
              </a:rPr>
              <a:t>고득점이어도, 제외</a:t>
            </a:r>
            <a:endParaRPr lang="en-US" sz="1550" dirty="0"/>
          </a:p>
        </p:txBody>
      </p:sp>
      <p:sp>
        <p:nvSpPr>
          <p:cNvPr id="12" name="Text 10"/>
          <p:cNvSpPr/>
          <p:nvPr/>
        </p:nvSpPr>
        <p:spPr>
          <a:xfrm>
            <a:off x="804672" y="2944368"/>
            <a:ext cx="3008376" cy="2286000"/>
          </a:xfrm>
          <a:prstGeom prst="rect">
            <a:avLst/>
          </a:prstGeom>
          <a:noFill/>
          <a:ln/>
        </p:spPr>
        <p:txBody>
          <a:bodyPr wrap="square" lIns="0" tIns="0" rIns="0" bIns="0" rtlCol="0" anchor="t"/>
          <a:lstStyle/>
          <a:p>
            <a:pPr marL="127000" indent="-127000">
              <a:spcAft>
                <a:spcPts val="7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QARP 상위여도 지리 집적이 없는 9사는 제외 — 미쓰이금속(#2)·우에무라공업(#4)·어드밴테스트(#6) 등</a:t>
            </a:r>
            <a:endParaRPr lang="en-US" sz="1050" dirty="0"/>
          </a:p>
          <a:p>
            <a:pPr marL="127000" indent="-127000">
              <a:spcAft>
                <a:spcPts val="7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거점은 사이타마·오사카·군마 — 테마의 AND 조건을 충족하지 못함</a:t>
            </a:r>
            <a:endParaRPr lang="en-US" sz="1050" dirty="0"/>
          </a:p>
          <a:p>
            <a:pPr marL="127000" indent="-127000">
              <a:spcAft>
                <a:spcPts val="7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고득점 종목을 뺀 것 자체가, 체리피킹이 아니라는 증거 — 리포트 부록에 '정직한 반증'으로 명기</a:t>
            </a:r>
            <a:endParaRPr lang="en-US" sz="1050" dirty="0"/>
          </a:p>
        </p:txBody>
      </p:sp>
      <p:sp>
        <p:nvSpPr>
          <p:cNvPr id="13" name="Shape 11"/>
          <p:cNvSpPr/>
          <p:nvPr/>
        </p:nvSpPr>
        <p:spPr>
          <a:xfrm>
            <a:off x="4334256" y="1371600"/>
            <a:ext cx="3520440" cy="4069080"/>
          </a:xfrm>
          <a:prstGeom prst="roundRect">
            <a:avLst>
              <a:gd name="adj" fmla="val 1818"/>
            </a:avLst>
          </a:prstGeom>
          <a:solidFill>
            <a:srgbClr val="F3F6FA"/>
          </a:solidFill>
          <a:ln/>
        </p:spPr>
      </p:sp>
      <p:sp>
        <p:nvSpPr>
          <p:cNvPr id="14" name="Text 12"/>
          <p:cNvSpPr/>
          <p:nvPr/>
        </p:nvSpPr>
        <p:spPr>
          <a:xfrm>
            <a:off x="4590288" y="1627632"/>
            <a:ext cx="457200" cy="457200"/>
          </a:xfrm>
          <a:prstGeom prst="ellipse">
            <a:avLst/>
          </a:prstGeom>
          <a:solidFill>
            <a:srgbClr val="C0713A"/>
          </a:solid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15" name="Text 13"/>
          <p:cNvSpPr/>
          <p:nvPr/>
        </p:nvSpPr>
        <p:spPr>
          <a:xfrm>
            <a:off x="4590288" y="2240280"/>
            <a:ext cx="3008376" cy="658368"/>
          </a:xfrm>
          <a:prstGeom prst="rect">
            <a:avLst/>
          </a:prstGeom>
          <a:noFill/>
          <a:ln/>
        </p:spPr>
        <p:txBody>
          <a:bodyPr wrap="square" lIns="0" tIns="0" rIns="0" bIns="0" rtlCol="0" anchor="t"/>
          <a:lstStyle/>
          <a:p>
            <a:pPr indent="0" marL="0">
              <a:buNone/>
            </a:pPr>
            <a:r>
              <a:rPr lang="en-US" sz="1550" b="1" dirty="0">
                <a:solidFill>
                  <a:srgbClr val="1C2B4A"/>
                </a:solidFill>
                <a:latin typeface="Malgun Gothic" pitchFamily="34" charset="0"/>
                <a:ea typeface="Malgun Gothic" pitchFamily="34" charset="-122"/>
                <a:cs typeface="Malgun Gothic" pitchFamily="34" charset="-120"/>
              </a:rPr>
              <a:t>인과의 사정거리 구분</a:t>
            </a:r>
            <a:endParaRPr lang="en-US" sz="1550" dirty="0"/>
          </a:p>
        </p:txBody>
      </p:sp>
      <p:sp>
        <p:nvSpPr>
          <p:cNvPr id="16" name="Text 14"/>
          <p:cNvSpPr/>
          <p:nvPr/>
        </p:nvSpPr>
        <p:spPr>
          <a:xfrm>
            <a:off x="4590288" y="2944368"/>
            <a:ext cx="3008376" cy="2286000"/>
          </a:xfrm>
          <a:prstGeom prst="rect">
            <a:avLst/>
          </a:prstGeom>
          <a:noFill/>
          <a:ln/>
        </p:spPr>
        <p:txBody>
          <a:bodyPr wrap="square" lIns="0" tIns="0" rIns="0" bIns="0" rtlCol="0" anchor="t"/>
          <a:lstStyle/>
          <a:p>
            <a:pPr marL="127000" indent="-127000">
              <a:spcAft>
                <a:spcPts val="7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시계열 인과(앵커 투자 '이후'의 증설·수상)가 1차 정보로 확인되는 것은 ★★★ 9사뿐</a:t>
            </a:r>
            <a:endParaRPr lang="en-US" sz="1050" dirty="0"/>
          </a:p>
          <a:p>
            <a:pPr marL="127000" indent="-127000">
              <a:spcAft>
                <a:spcPts val="7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 6사는 주력 거점의 입지는 확정이나, 다수가 앵커 이전부터의 입지</a:t>
            </a:r>
            <a:endParaRPr lang="en-US" sz="1050" dirty="0"/>
          </a:p>
          <a:p>
            <a:pPr marL="127000" indent="-127000">
              <a:spcAft>
                <a:spcPts val="7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그것은 인과가 아니라 '규슈가 원래 소재·부재의 토양'이라는 방증 — 전체를 인과로 과대 일반화하지 않음</a:t>
            </a:r>
            <a:endParaRPr lang="en-US" sz="1050" dirty="0"/>
          </a:p>
        </p:txBody>
      </p:sp>
      <p:sp>
        <p:nvSpPr>
          <p:cNvPr id="17" name="Shape 15"/>
          <p:cNvSpPr/>
          <p:nvPr/>
        </p:nvSpPr>
        <p:spPr>
          <a:xfrm>
            <a:off x="8119872" y="1371600"/>
            <a:ext cx="3520440" cy="4069080"/>
          </a:xfrm>
          <a:prstGeom prst="roundRect">
            <a:avLst>
              <a:gd name="adj" fmla="val 1818"/>
            </a:avLst>
          </a:prstGeom>
          <a:solidFill>
            <a:srgbClr val="F3F6FA"/>
          </a:solidFill>
          <a:ln/>
        </p:spPr>
      </p:sp>
      <p:sp>
        <p:nvSpPr>
          <p:cNvPr id="18" name="Text 16"/>
          <p:cNvSpPr/>
          <p:nvPr/>
        </p:nvSpPr>
        <p:spPr>
          <a:xfrm>
            <a:off x="8375904" y="1627632"/>
            <a:ext cx="457200" cy="457200"/>
          </a:xfrm>
          <a:prstGeom prst="ellipse">
            <a:avLst/>
          </a:prstGeom>
          <a:solidFill>
            <a:srgbClr val="C0713A"/>
          </a:solid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19" name="Text 17"/>
          <p:cNvSpPr/>
          <p:nvPr/>
        </p:nvSpPr>
        <p:spPr>
          <a:xfrm>
            <a:off x="8375904" y="2240280"/>
            <a:ext cx="3008376" cy="658368"/>
          </a:xfrm>
          <a:prstGeom prst="rect">
            <a:avLst/>
          </a:prstGeom>
          <a:noFill/>
          <a:ln/>
        </p:spPr>
        <p:txBody>
          <a:bodyPr wrap="square" lIns="0" tIns="0" rIns="0" bIns="0" rtlCol="0" anchor="t"/>
          <a:lstStyle/>
          <a:p>
            <a:pPr indent="0" marL="0">
              <a:buNone/>
            </a:pPr>
            <a:r>
              <a:rPr lang="en-US" sz="1550" b="1" dirty="0">
                <a:solidFill>
                  <a:srgbClr val="1C2B4A"/>
                </a:solidFill>
                <a:latin typeface="Malgun Gothic" pitchFamily="34" charset="0"/>
                <a:ea typeface="Malgun Gothic" pitchFamily="34" charset="-122"/>
                <a:cs typeface="Malgun Gothic" pitchFamily="34" charset="-120"/>
              </a:rPr>
              <a:t>모집단을 재정의해도, 결론 불변</a:t>
            </a:r>
            <a:endParaRPr lang="en-US" sz="1550" dirty="0"/>
          </a:p>
        </p:txBody>
      </p:sp>
      <p:sp>
        <p:nvSpPr>
          <p:cNvPr id="20" name="Text 18"/>
          <p:cNvSpPr/>
          <p:nvPr/>
        </p:nvSpPr>
        <p:spPr>
          <a:xfrm>
            <a:off x="8375904" y="2944368"/>
            <a:ext cx="3008376" cy="2286000"/>
          </a:xfrm>
          <a:prstGeom prst="rect">
            <a:avLst/>
          </a:prstGeom>
          <a:noFill/>
          <a:ln/>
        </p:spPr>
        <p:txBody>
          <a:bodyPr wrap="square" lIns="0" tIns="0" rIns="0" bIns="0" rtlCol="0" anchor="t"/>
          <a:lstStyle/>
          <a:p>
            <a:pPr marL="127000" indent="-127000">
              <a:spcAft>
                <a:spcPts val="7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'왜 이 모집단인가'라는 임의성 지적에, 도쿄증시 전 상장 4,438사를 기점으로 체계적으로 재정의해 답함 — JPX 공식 업종분류와 증권 DB 테마의 합집합(1,039사)에서 후공정 니치 106사를 추출</a:t>
            </a:r>
            <a:endParaRPr lang="en-US" sz="1050" dirty="0"/>
          </a:p>
          <a:p>
            <a:pPr marL="127000" indent="-127000">
              <a:spcAft>
                <a:spcPts val="7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추가 편입은 재팬머티리얼 1사뿐, 다른 추가 후보는 전부 정당하게 탈락 — 최종 15사는 불변</a:t>
            </a:r>
            <a:endParaRPr lang="en-US" sz="1050" dirty="0"/>
          </a:p>
          <a:p>
            <a:pPr marL="127000" indent="-127000">
              <a:spcAft>
                <a:spcPts val="7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결과를 결정하는 건 표본 수가 아니라, 게이트 규율임을 실측으로 증명</a:t>
            </a:r>
            <a:endParaRPr lang="en-US" sz="1050" dirty="0"/>
          </a:p>
        </p:txBody>
      </p:sp>
      <p:sp>
        <p:nvSpPr>
          <p:cNvPr id="21" name="Text 19"/>
          <p:cNvSpPr/>
          <p:nvPr/>
        </p:nvSpPr>
        <p:spPr>
          <a:xfrm>
            <a:off x="548640" y="5715000"/>
            <a:ext cx="11094415" cy="365760"/>
          </a:xfrm>
          <a:prstGeom prst="rect">
            <a:avLst/>
          </a:prstGeom>
          <a:noFill/>
          <a:ln/>
        </p:spPr>
        <p:txBody>
          <a:bodyPr wrap="square" lIns="0" tIns="0" rIns="0" bIns="0" rtlCol="0" anchor="ctr"/>
          <a:lstStyle/>
          <a:p>
            <a:pPr algn="ctr" indent="0" marL="0">
              <a:buNone/>
            </a:pPr>
            <a:r>
              <a:rPr lang="en-US" sz="1250" b="1" dirty="0">
                <a:solidFill>
                  <a:srgbClr val="1C2B4A"/>
                </a:solidFill>
                <a:latin typeface="Malgun Gothic" pitchFamily="34" charset="0"/>
                <a:ea typeface="Malgun Gothic" pitchFamily="34" charset="-122"/>
                <a:cs typeface="Malgun Gothic" pitchFamily="34" charset="-120"/>
              </a:rPr>
              <a:t>심사는 '조사·분석의 깊이'를 본다 — 결론의 강함이 아니라, 반증과 한계를 숨기지 않는 설계로 답한다.</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algun Gothic" pitchFamily="34" charset="0"/>
                <a:ea typeface="Malgun Gothic" pitchFamily="34" charset="-122"/>
                <a:cs typeface="Malgun Gothic" pitchFamily="34" charset="-120"/>
              </a:rPr>
              <a:t>PORTFOLIO</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300" b="1" dirty="0">
                <a:solidFill>
                  <a:srgbClr val="1C2B4A"/>
                </a:solidFill>
                <a:latin typeface="Malgun Gothic" pitchFamily="34" charset="0"/>
                <a:ea typeface="Malgun Gothic" pitchFamily="34" charset="-122"/>
                <a:cs typeface="Malgun Gothic" pitchFamily="34" charset="-120"/>
              </a:rPr>
              <a:t>최종 포트폴리오 — 15사 (규슈13 + 도호쿠2)</a:t>
            </a:r>
            <a:endParaRPr lang="en-US" sz="23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algun Gothic" pitchFamily="34" charset="0"/>
                <a:ea typeface="Malgun Gothic" pitchFamily="34" charset="-122"/>
                <a:cs typeface="Malgun Gothic" pitchFamily="34" charset="-120"/>
              </a:rPr>
              <a:t>닛케이 스톡리그 2026｜후공정 니치 톱 × 지방 클러스터</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algun Gothic" pitchFamily="34" charset="0"/>
                <a:ea typeface="Malgun Gothic" pitchFamily="34" charset="-122"/>
                <a:cs typeface="Malgun Gothic"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777240"/>
                <a:gridCol w="2331720"/>
                <a:gridCol w="4251960"/>
                <a:gridCol w="1143000"/>
                <a:gridCol w="987552"/>
                <a:gridCol w="1600200"/>
              </a:tblGrid>
              <a:tr h="329184">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코드</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C2B4A"/>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회사명</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C2B4A"/>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세계 니치</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C2B4A"/>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클러스터</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C2B4A"/>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증거</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C2B4A"/>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배분</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C2B4A"/>
                    </a:solidFill>
                  </a:tcPr>
                </a:tc>
              </a:tr>
              <a:tr h="274320">
                <a:tc>
                  <a:txBody>
                    <a:bodyPr/>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6855</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1000" b="1" dirty="0">
                          <a:solidFill>
                            <a:srgbClr val="20293A"/>
                          </a:solidFill>
                          <a:latin typeface="Malgun Gothic" pitchFamily="34" charset="0"/>
                          <a:ea typeface="Malgun Gothic" pitchFamily="34" charset="-122"/>
                          <a:cs typeface="Malgun Gothic" pitchFamily="34" charset="-120"/>
                        </a:rPr>
                        <a:t>일본전자재료</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950" dirty="0">
                          <a:solidFill>
                            <a:srgbClr val="5B6B7F"/>
                          </a:solidFill>
                          <a:latin typeface="Malgun Gothic" pitchFamily="34" charset="0"/>
                          <a:ea typeface="Malgun Gothic" pitchFamily="34" charset="-122"/>
                          <a:cs typeface="Malgun Gothic" pitchFamily="34" charset="-120"/>
                        </a:rPr>
                        <a:t>테스트용 프로브카드 국내 2위</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55D2B"/>
                          </a:solidFill>
                          <a:latin typeface="Malgun Gothic" pitchFamily="34" charset="0"/>
                          <a:ea typeface="Malgun Gothic" pitchFamily="34" charset="-122"/>
                          <a:cs typeface="Malgun Gothic" pitchFamily="34" charset="-120"/>
                        </a:rPr>
                        <a:t>규슈</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713A"/>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C2B4A"/>
                          </a:solidFill>
                          <a:latin typeface="Malgun Gothic" pitchFamily="34" charset="0"/>
                          <a:ea typeface="Malgun Gothic" pitchFamily="34" charset="-122"/>
                          <a:cs typeface="Malgun Gothic" pitchFamily="34" charset="-120"/>
                        </a:rPr>
                        <a:t>9.4%</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6627</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1000" b="1" dirty="0">
                          <a:solidFill>
                            <a:srgbClr val="20293A"/>
                          </a:solidFill>
                          <a:latin typeface="Malgun Gothic" pitchFamily="34" charset="0"/>
                          <a:ea typeface="Malgun Gothic" pitchFamily="34" charset="-122"/>
                          <a:cs typeface="Malgun Gothic" pitchFamily="34" charset="-120"/>
                        </a:rPr>
                        <a:t>테라프로브</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950" dirty="0">
                          <a:solidFill>
                            <a:srgbClr val="5B6B7F"/>
                          </a:solidFill>
                          <a:latin typeface="Malgun Gothic" pitchFamily="34" charset="0"/>
                          <a:ea typeface="Malgun Gothic" pitchFamily="34" charset="-122"/>
                          <a:cs typeface="Malgun Gothic" pitchFamily="34" charset="-120"/>
                        </a:rPr>
                        <a:t>메모리·LSI 테스트 수탁 국내 톱급</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b="1" dirty="0">
                          <a:solidFill>
                            <a:srgbClr val="A55D2B"/>
                          </a:solidFill>
                          <a:latin typeface="Malgun Gothic" pitchFamily="34" charset="0"/>
                          <a:ea typeface="Malgun Gothic" pitchFamily="34" charset="-122"/>
                          <a:cs typeface="Malgun Gothic" pitchFamily="34" charset="-120"/>
                        </a:rPr>
                        <a:t>규슈</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dirty="0">
                          <a:solidFill>
                            <a:srgbClr val="C0713A"/>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C2B4A"/>
                          </a:solidFill>
                          <a:latin typeface="Malgun Gothic" pitchFamily="34" charset="0"/>
                          <a:ea typeface="Malgun Gothic" pitchFamily="34" charset="-122"/>
                          <a:cs typeface="Malgun Gothic" pitchFamily="34" charset="-120"/>
                        </a:rPr>
                        <a:t>9.1%</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r>
              <a:tr h="274320">
                <a:tc>
                  <a:txBody>
                    <a:bodyPr/>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4203</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1000" b="1" dirty="0">
                          <a:solidFill>
                            <a:srgbClr val="20293A"/>
                          </a:solidFill>
                          <a:latin typeface="Malgun Gothic" pitchFamily="34" charset="0"/>
                          <a:ea typeface="Malgun Gothic" pitchFamily="34" charset="-122"/>
                          <a:cs typeface="Malgun Gothic" pitchFamily="34" charset="-120"/>
                        </a:rPr>
                        <a:t>스미토모 베이클라이트</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950" dirty="0">
                          <a:solidFill>
                            <a:srgbClr val="5B6B7F"/>
                          </a:solidFill>
                          <a:latin typeface="Malgun Gothic" pitchFamily="34" charset="0"/>
                          <a:ea typeface="Malgun Gothic" pitchFamily="34" charset="-122"/>
                          <a:cs typeface="Malgun Gothic" pitchFamily="34" charset="-120"/>
                        </a:rPr>
                        <a:t>반도체 봉지재 세계 점유율 약 40% 1위</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55D2B"/>
                          </a:solidFill>
                          <a:latin typeface="Malgun Gothic" pitchFamily="34" charset="0"/>
                          <a:ea typeface="Malgun Gothic" pitchFamily="34" charset="-122"/>
                          <a:cs typeface="Malgun Gothic" pitchFamily="34" charset="-120"/>
                        </a:rPr>
                        <a:t>규슈</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713A"/>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C2B4A"/>
                          </a:solidFill>
                          <a:latin typeface="Malgun Gothic" pitchFamily="34" charset="0"/>
                          <a:ea typeface="Malgun Gothic" pitchFamily="34" charset="-122"/>
                          <a:cs typeface="Malgun Gothic" pitchFamily="34" charset="-120"/>
                        </a:rPr>
                        <a:t>8.9%</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6258</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1000" b="1" dirty="0">
                          <a:solidFill>
                            <a:srgbClr val="20293A"/>
                          </a:solidFill>
                          <a:latin typeface="Malgun Gothic" pitchFamily="34" charset="0"/>
                          <a:ea typeface="Malgun Gothic" pitchFamily="34" charset="-122"/>
                          <a:cs typeface="Malgun Gothic" pitchFamily="34" charset="-120"/>
                        </a:rPr>
                        <a:t>히라타기공</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950" dirty="0">
                          <a:solidFill>
                            <a:srgbClr val="5B6B7F"/>
                          </a:solidFill>
                          <a:latin typeface="Malgun Gothic" pitchFamily="34" charset="0"/>
                          <a:ea typeface="Malgun Gothic" pitchFamily="34" charset="-122"/>
                          <a:cs typeface="Malgun Gothic" pitchFamily="34" charset="-120"/>
                        </a:rPr>
                        <a:t>자동화 생산설비(반도체 반송·조립)</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b="1" dirty="0">
                          <a:solidFill>
                            <a:srgbClr val="A55D2B"/>
                          </a:solidFill>
                          <a:latin typeface="Malgun Gothic" pitchFamily="34" charset="0"/>
                          <a:ea typeface="Malgun Gothic" pitchFamily="34" charset="-122"/>
                          <a:cs typeface="Malgun Gothic" pitchFamily="34" charset="-120"/>
                        </a:rPr>
                        <a:t>규슈</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dirty="0">
                          <a:solidFill>
                            <a:srgbClr val="C0713A"/>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C2B4A"/>
                          </a:solidFill>
                          <a:latin typeface="Malgun Gothic" pitchFamily="34" charset="0"/>
                          <a:ea typeface="Malgun Gothic" pitchFamily="34" charset="-122"/>
                          <a:cs typeface="Malgun Gothic" pitchFamily="34" charset="-120"/>
                        </a:rPr>
                        <a:t>8.3%</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r>
              <a:tr h="274320">
                <a:tc>
                  <a:txBody>
                    <a:bodyPr/>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4626</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1000" b="1" dirty="0">
                          <a:solidFill>
                            <a:srgbClr val="20293A"/>
                          </a:solidFill>
                          <a:latin typeface="Malgun Gothic" pitchFamily="34" charset="0"/>
                          <a:ea typeface="Malgun Gothic" pitchFamily="34" charset="-122"/>
                          <a:cs typeface="Malgun Gothic" pitchFamily="34" charset="-120"/>
                        </a:rPr>
                        <a:t>다이요HD</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950" dirty="0">
                          <a:solidFill>
                            <a:srgbClr val="5B6B7F"/>
                          </a:solidFill>
                          <a:latin typeface="Malgun Gothic" pitchFamily="34" charset="0"/>
                          <a:ea typeface="Malgun Gothic" pitchFamily="34" charset="-122"/>
                          <a:cs typeface="Malgun Gothic" pitchFamily="34" charset="-120"/>
                        </a:rPr>
                        <a:t>솔더 레지스트 세계 1위</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55D2B"/>
                          </a:solidFill>
                          <a:latin typeface="Malgun Gothic" pitchFamily="34" charset="0"/>
                          <a:ea typeface="Malgun Gothic" pitchFamily="34" charset="-122"/>
                          <a:cs typeface="Malgun Gothic" pitchFamily="34" charset="-120"/>
                        </a:rPr>
                        <a:t>규슈</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713A"/>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C2B4A"/>
                          </a:solidFill>
                          <a:latin typeface="Malgun Gothic" pitchFamily="34" charset="0"/>
                          <a:ea typeface="Malgun Gothic" pitchFamily="34" charset="-122"/>
                          <a:cs typeface="Malgun Gothic" pitchFamily="34" charset="-120"/>
                        </a:rPr>
                        <a:t>8.2%</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6055</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1000" b="1" dirty="0">
                          <a:solidFill>
                            <a:srgbClr val="20293A"/>
                          </a:solidFill>
                          <a:latin typeface="Malgun Gothic" pitchFamily="34" charset="0"/>
                          <a:ea typeface="Malgun Gothic" pitchFamily="34" charset="-122"/>
                          <a:cs typeface="Malgun Gothic" pitchFamily="34" charset="-120"/>
                        </a:rPr>
                        <a:t>재팬머티리얼</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950" dirty="0">
                          <a:solidFill>
                            <a:srgbClr val="5B6B7F"/>
                          </a:solidFill>
                          <a:latin typeface="Malgun Gothic" pitchFamily="34" charset="0"/>
                          <a:ea typeface="Malgun Gothic" pitchFamily="34" charset="-122"/>
                          <a:cs typeface="Malgun Gothic" pitchFamily="34" charset="-120"/>
                        </a:rPr>
                        <a:t>특수가스의 온사이트 공급 국내 톱급</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b="1" dirty="0">
                          <a:solidFill>
                            <a:srgbClr val="A55D2B"/>
                          </a:solidFill>
                          <a:latin typeface="Malgun Gothic" pitchFamily="34" charset="0"/>
                          <a:ea typeface="Malgun Gothic" pitchFamily="34" charset="-122"/>
                          <a:cs typeface="Malgun Gothic" pitchFamily="34" charset="-120"/>
                        </a:rPr>
                        <a:t>규슈</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dirty="0">
                          <a:solidFill>
                            <a:srgbClr val="C0713A"/>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C2B4A"/>
                          </a:solidFill>
                          <a:latin typeface="Malgun Gothic" pitchFamily="34" charset="0"/>
                          <a:ea typeface="Malgun Gothic" pitchFamily="34" charset="-122"/>
                          <a:cs typeface="Malgun Gothic" pitchFamily="34" charset="-120"/>
                        </a:rPr>
                        <a:t>7.1%</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r>
              <a:tr h="274320">
                <a:tc>
                  <a:txBody>
                    <a:bodyPr/>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6490</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1000" b="1" dirty="0">
                          <a:solidFill>
                            <a:srgbClr val="20293A"/>
                          </a:solidFill>
                          <a:latin typeface="Malgun Gothic" pitchFamily="34" charset="0"/>
                          <a:ea typeface="Malgun Gothic" pitchFamily="34" charset="-122"/>
                          <a:cs typeface="Malgun Gothic" pitchFamily="34" charset="-120"/>
                        </a:rPr>
                        <a:t>일본필러공업</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950" dirty="0">
                          <a:solidFill>
                            <a:srgbClr val="5B6B7F"/>
                          </a:solidFill>
                          <a:latin typeface="Malgun Gothic" pitchFamily="34" charset="0"/>
                          <a:ea typeface="Malgun Gothic" pitchFamily="34" charset="-122"/>
                          <a:cs typeface="Malgun Gothic" pitchFamily="34" charset="-120"/>
                        </a:rPr>
                        <a:t>불소수지 조인트(초고순도 배관) 톱급</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55D2B"/>
                          </a:solidFill>
                          <a:latin typeface="Malgun Gothic" pitchFamily="34" charset="0"/>
                          <a:ea typeface="Malgun Gothic" pitchFamily="34" charset="-122"/>
                          <a:cs typeface="Malgun Gothic" pitchFamily="34" charset="-120"/>
                        </a:rPr>
                        <a:t>규슈</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713A"/>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C2B4A"/>
                          </a:solidFill>
                          <a:latin typeface="Malgun Gothic" pitchFamily="34" charset="0"/>
                          <a:ea typeface="Malgun Gothic" pitchFamily="34" charset="-122"/>
                          <a:cs typeface="Malgun Gothic" pitchFamily="34" charset="-120"/>
                        </a:rPr>
                        <a:t>6.6%</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6368</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1000" b="1" dirty="0">
                          <a:solidFill>
                            <a:srgbClr val="20293A"/>
                          </a:solidFill>
                          <a:latin typeface="Malgun Gothic" pitchFamily="34" charset="0"/>
                          <a:ea typeface="Malgun Gothic" pitchFamily="34" charset="-122"/>
                          <a:cs typeface="Malgun Gothic" pitchFamily="34" charset="-120"/>
                        </a:rPr>
                        <a:t>오르가노</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950" dirty="0">
                          <a:solidFill>
                            <a:srgbClr val="5B6B7F"/>
                          </a:solidFill>
                          <a:latin typeface="Malgun Gothic" pitchFamily="34" charset="0"/>
                          <a:ea typeface="Malgun Gothic" pitchFamily="34" charset="-122"/>
                          <a:cs typeface="Malgun Gothic" pitchFamily="34" charset="-120"/>
                        </a:rPr>
                        <a:t>초순수 제조장치 국내 최고봉</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b="1" dirty="0">
                          <a:solidFill>
                            <a:srgbClr val="A55D2B"/>
                          </a:solidFill>
                          <a:latin typeface="Malgun Gothic" pitchFamily="34" charset="0"/>
                          <a:ea typeface="Malgun Gothic" pitchFamily="34" charset="-122"/>
                          <a:cs typeface="Malgun Gothic" pitchFamily="34" charset="-120"/>
                        </a:rPr>
                        <a:t>규슈</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dirty="0">
                          <a:solidFill>
                            <a:srgbClr val="C0713A"/>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C2B4A"/>
                          </a:solidFill>
                          <a:latin typeface="Malgun Gothic" pitchFamily="34" charset="0"/>
                          <a:ea typeface="Malgun Gothic" pitchFamily="34" charset="-122"/>
                          <a:cs typeface="Malgun Gothic" pitchFamily="34" charset="-120"/>
                        </a:rPr>
                        <a:t>6.4%</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r>
              <a:tr h="274320">
                <a:tc>
                  <a:txBody>
                    <a:bodyPr/>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6856</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1000" b="1" dirty="0">
                          <a:solidFill>
                            <a:srgbClr val="20293A"/>
                          </a:solidFill>
                          <a:latin typeface="Malgun Gothic" pitchFamily="34" charset="0"/>
                          <a:ea typeface="Malgun Gothic" pitchFamily="34" charset="-122"/>
                          <a:cs typeface="Malgun Gothic" pitchFamily="34" charset="-120"/>
                        </a:rPr>
                        <a:t>호리바제작소</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950" dirty="0">
                          <a:solidFill>
                            <a:srgbClr val="5B6B7F"/>
                          </a:solidFill>
                          <a:latin typeface="Malgun Gothic" pitchFamily="34" charset="0"/>
                          <a:ea typeface="Malgun Gothic" pitchFamily="34" charset="-122"/>
                          <a:cs typeface="Malgun Gothic" pitchFamily="34" charset="-120"/>
                        </a:rPr>
                        <a:t>매스플로 컨트롤러 세계 점유율 약 6할</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55D2B"/>
                          </a:solidFill>
                          <a:latin typeface="Malgun Gothic" pitchFamily="34" charset="0"/>
                          <a:ea typeface="Malgun Gothic" pitchFamily="34" charset="-122"/>
                          <a:cs typeface="Malgun Gothic" pitchFamily="34" charset="-120"/>
                        </a:rPr>
                        <a:t>규슈</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713A"/>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C2B4A"/>
                          </a:solidFill>
                          <a:latin typeface="Malgun Gothic" pitchFamily="34" charset="0"/>
                          <a:ea typeface="Malgun Gothic" pitchFamily="34" charset="-122"/>
                          <a:cs typeface="Malgun Gothic" pitchFamily="34" charset="-120"/>
                        </a:rPr>
                        <a:t>6.3%</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6146</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1000" b="1" dirty="0">
                          <a:solidFill>
                            <a:srgbClr val="20293A"/>
                          </a:solidFill>
                          <a:latin typeface="Malgun Gothic" pitchFamily="34" charset="0"/>
                          <a:ea typeface="Malgun Gothic" pitchFamily="34" charset="-122"/>
                          <a:cs typeface="Malgun Gothic" pitchFamily="34" charset="-120"/>
                        </a:rPr>
                        <a:t>디스코</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950" dirty="0">
                          <a:solidFill>
                            <a:srgbClr val="5B6B7F"/>
                          </a:solidFill>
                          <a:latin typeface="Malgun Gothic" pitchFamily="34" charset="0"/>
                          <a:ea typeface="Malgun Gothic" pitchFamily="34" charset="-122"/>
                          <a:cs typeface="Malgun Gothic" pitchFamily="34" charset="-120"/>
                        </a:rPr>
                        <a:t>다이싱 장치 세계 압도적 1위</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b="1" dirty="0">
                          <a:solidFill>
                            <a:srgbClr val="A55D2B"/>
                          </a:solidFill>
                          <a:latin typeface="Malgun Gothic" pitchFamily="34" charset="0"/>
                          <a:ea typeface="Malgun Gothic" pitchFamily="34" charset="-122"/>
                          <a:cs typeface="Malgun Gothic" pitchFamily="34" charset="-120"/>
                        </a:rPr>
                        <a:t>규슈</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dirty="0">
                          <a:solidFill>
                            <a:srgbClr val="C0713A"/>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C2B4A"/>
                          </a:solidFill>
                          <a:latin typeface="Malgun Gothic" pitchFamily="34" charset="0"/>
                          <a:ea typeface="Malgun Gothic" pitchFamily="34" charset="-122"/>
                          <a:cs typeface="Malgun Gothic" pitchFamily="34" charset="-120"/>
                        </a:rPr>
                        <a:t>6.1%</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r>
              <a:tr h="274320">
                <a:tc>
                  <a:txBody>
                    <a:bodyPr/>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6871</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1000" b="1" dirty="0">
                          <a:solidFill>
                            <a:srgbClr val="20293A"/>
                          </a:solidFill>
                          <a:latin typeface="Malgun Gothic" pitchFamily="34" charset="0"/>
                          <a:ea typeface="Malgun Gothic" pitchFamily="34" charset="-122"/>
                          <a:cs typeface="Malgun Gothic" pitchFamily="34" charset="-120"/>
                        </a:rPr>
                        <a:t>일본마이크로닉스</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950" dirty="0">
                          <a:solidFill>
                            <a:srgbClr val="5B6B7F"/>
                          </a:solidFill>
                          <a:latin typeface="Malgun Gothic" pitchFamily="34" charset="0"/>
                          <a:ea typeface="Malgun Gothic" pitchFamily="34" charset="-122"/>
                          <a:cs typeface="Malgun Gothic" pitchFamily="34" charset="-120"/>
                        </a:rPr>
                        <a:t>프로브카드 세계 상위(메모리용 톱급)</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4A6FA5"/>
                          </a:solidFill>
                          <a:latin typeface="Malgun Gothic" pitchFamily="34" charset="0"/>
                          <a:ea typeface="Malgun Gothic" pitchFamily="34" charset="-122"/>
                          <a:cs typeface="Malgun Gothic" pitchFamily="34" charset="-120"/>
                        </a:rPr>
                        <a:t>도호쿠</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713A"/>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C2B4A"/>
                          </a:solidFill>
                          <a:latin typeface="Malgun Gothic" pitchFamily="34" charset="0"/>
                          <a:ea typeface="Malgun Gothic" pitchFamily="34" charset="-122"/>
                          <a:cs typeface="Malgun Gothic" pitchFamily="34" charset="-120"/>
                        </a:rPr>
                        <a:t>5.3%</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4186</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1000" b="1" dirty="0">
                          <a:solidFill>
                            <a:srgbClr val="20293A"/>
                          </a:solidFill>
                          <a:latin typeface="Malgun Gothic" pitchFamily="34" charset="0"/>
                          <a:ea typeface="Malgun Gothic" pitchFamily="34" charset="-122"/>
                          <a:cs typeface="Malgun Gothic" pitchFamily="34" charset="-120"/>
                        </a:rPr>
                        <a:t>도쿄오카공업</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950" dirty="0">
                          <a:solidFill>
                            <a:srgbClr val="5B6B7F"/>
                          </a:solidFill>
                          <a:latin typeface="Malgun Gothic" pitchFamily="34" charset="0"/>
                          <a:ea typeface="Malgun Gothic" pitchFamily="34" charset="-122"/>
                          <a:cs typeface="Malgun Gothic" pitchFamily="34" charset="-120"/>
                        </a:rPr>
                        <a:t>포토레지스트 세계 1위</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b="1" dirty="0">
                          <a:solidFill>
                            <a:srgbClr val="A55D2B"/>
                          </a:solidFill>
                          <a:latin typeface="Malgun Gothic" pitchFamily="34" charset="0"/>
                          <a:ea typeface="Malgun Gothic" pitchFamily="34" charset="-122"/>
                          <a:cs typeface="Malgun Gothic" pitchFamily="34" charset="-120"/>
                        </a:rPr>
                        <a:t>규슈</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dirty="0">
                          <a:solidFill>
                            <a:srgbClr val="C0713A"/>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C2B4A"/>
                          </a:solidFill>
                          <a:latin typeface="Malgun Gothic" pitchFamily="34" charset="0"/>
                          <a:ea typeface="Malgun Gothic" pitchFamily="34" charset="-122"/>
                          <a:cs typeface="Malgun Gothic" pitchFamily="34" charset="-120"/>
                        </a:rPr>
                        <a:t>5.2%</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r>
              <a:tr h="274320">
                <a:tc>
                  <a:txBody>
                    <a:bodyPr/>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6323</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1000" b="1" dirty="0">
                          <a:solidFill>
                            <a:srgbClr val="20293A"/>
                          </a:solidFill>
                          <a:latin typeface="Malgun Gothic" pitchFamily="34" charset="0"/>
                          <a:ea typeface="Malgun Gothic" pitchFamily="34" charset="-122"/>
                          <a:cs typeface="Malgun Gothic" pitchFamily="34" charset="-120"/>
                        </a:rPr>
                        <a:t>로체</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950" dirty="0">
                          <a:solidFill>
                            <a:srgbClr val="5B6B7F"/>
                          </a:solidFill>
                          <a:latin typeface="Malgun Gothic" pitchFamily="34" charset="0"/>
                          <a:ea typeface="Malgun Gothic" pitchFamily="34" charset="-122"/>
                          <a:cs typeface="Malgun Gothic" pitchFamily="34" charset="-120"/>
                        </a:rPr>
                        <a:t>EFEM 세계 톱급(25~35%)</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55D2B"/>
                          </a:solidFill>
                          <a:latin typeface="Malgun Gothic" pitchFamily="34" charset="0"/>
                          <a:ea typeface="Malgun Gothic" pitchFamily="34" charset="-122"/>
                          <a:cs typeface="Malgun Gothic" pitchFamily="34" charset="-120"/>
                        </a:rPr>
                        <a:t>규슈</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713A"/>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C2B4A"/>
                          </a:solidFill>
                          <a:latin typeface="Malgun Gothic" pitchFamily="34" charset="0"/>
                          <a:ea typeface="Malgun Gothic" pitchFamily="34" charset="-122"/>
                          <a:cs typeface="Malgun Gothic" pitchFamily="34" charset="-120"/>
                        </a:rPr>
                        <a:t>4.6%</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6590</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1000" b="1" dirty="0">
                          <a:solidFill>
                            <a:srgbClr val="20293A"/>
                          </a:solidFill>
                          <a:latin typeface="Malgun Gothic" pitchFamily="34" charset="0"/>
                          <a:ea typeface="Malgun Gothic" pitchFamily="34" charset="-122"/>
                          <a:cs typeface="Malgun Gothic" pitchFamily="34" charset="-120"/>
                        </a:rPr>
                        <a:t>시바우라 메카트로닉스</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indent="0" marL="0">
                        <a:buNone/>
                      </a:pPr>
                      <a:r>
                        <a:rPr lang="en-US" sz="950" dirty="0">
                          <a:solidFill>
                            <a:srgbClr val="5B6B7F"/>
                          </a:solidFill>
                          <a:latin typeface="Malgun Gothic" pitchFamily="34" charset="0"/>
                          <a:ea typeface="Malgun Gothic" pitchFamily="34" charset="-122"/>
                          <a:cs typeface="Malgun Gothic" pitchFamily="34" charset="-120"/>
                        </a:rPr>
                        <a:t>플립칩 본더·매엽 세정 고점유율</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b="1" dirty="0">
                          <a:solidFill>
                            <a:srgbClr val="A55D2B"/>
                          </a:solidFill>
                          <a:latin typeface="Malgun Gothic" pitchFamily="34" charset="0"/>
                          <a:ea typeface="Malgun Gothic" pitchFamily="34" charset="-122"/>
                          <a:cs typeface="Malgun Gothic" pitchFamily="34" charset="-120"/>
                        </a:rPr>
                        <a:t>규슈</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ctr" indent="0" marL="0">
                        <a:buNone/>
                      </a:pPr>
                      <a:r>
                        <a:rPr lang="en-US" sz="950" dirty="0">
                          <a:solidFill>
                            <a:srgbClr val="C0713A"/>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C2B4A"/>
                          </a:solidFill>
                          <a:latin typeface="Malgun Gothic" pitchFamily="34" charset="0"/>
                          <a:ea typeface="Malgun Gothic" pitchFamily="34" charset="-122"/>
                          <a:cs typeface="Malgun Gothic" pitchFamily="34" charset="-120"/>
                        </a:rPr>
                        <a:t>4.5%</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3F6FA"/>
                    </a:solidFill>
                  </a:tcPr>
                </a:tc>
              </a:tr>
              <a:tr h="274320">
                <a:tc>
                  <a:txBody>
                    <a:bodyPr/>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3110</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1000" b="1" dirty="0">
                          <a:solidFill>
                            <a:srgbClr val="20293A"/>
                          </a:solidFill>
                          <a:latin typeface="Malgun Gothic" pitchFamily="34" charset="0"/>
                          <a:ea typeface="Malgun Gothic" pitchFamily="34" charset="-122"/>
                          <a:cs typeface="Malgun Gothic" pitchFamily="34" charset="-120"/>
                        </a:rPr>
                        <a:t>닛토방적</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indent="0" marL="0">
                        <a:buNone/>
                      </a:pPr>
                      <a:r>
                        <a:rPr lang="en-US" sz="950" dirty="0">
                          <a:solidFill>
                            <a:srgbClr val="5B6B7F"/>
                          </a:solidFill>
                          <a:latin typeface="Malgun Gothic" pitchFamily="34" charset="0"/>
                          <a:ea typeface="Malgun Gothic" pitchFamily="34" charset="-122"/>
                          <a:cs typeface="Malgun Gothic" pitchFamily="34" charset="-120"/>
                        </a:rPr>
                        <a:t>T글라스 클로스 세계 톱</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4A6FA5"/>
                          </a:solidFill>
                          <a:latin typeface="Malgun Gothic" pitchFamily="34" charset="0"/>
                          <a:ea typeface="Malgun Gothic" pitchFamily="34" charset="-122"/>
                          <a:cs typeface="Malgun Gothic" pitchFamily="34" charset="-120"/>
                        </a:rPr>
                        <a:t>도호쿠</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713A"/>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C2B4A"/>
                          </a:solidFill>
                          <a:latin typeface="Malgun Gothic" pitchFamily="34" charset="0"/>
                          <a:ea typeface="Malgun Gothic" pitchFamily="34" charset="-122"/>
                          <a:cs typeface="Malgun Gothic" pitchFamily="34" charset="-120"/>
                        </a:rPr>
                        <a:t>4.0%</a:t>
                      </a:r>
                      <a:endParaRPr lang="en-US" sz="1000" dirty="0">
                        <a:latin typeface="Malgun Gothic" charset="0"/>
                        <a:ea typeface="Malgun Gothic" charset="0"/>
                        <a:cs typeface="Malgun Gothic" charset="0"/>
                      </a:endParaRPr>
                    </a:p>
                  </a:txBody>
                  <a:tcPr marL="54864" marR="54864" marT="18288" marB="18288" anchor="ctr">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r>
            </a:tbl>
          </a:graphicData>
        </a:graphic>
      </p:graphicFrame>
      <p:sp>
        <p:nvSpPr>
          <p:cNvPr id="10" name="Text 7"/>
          <p:cNvSpPr/>
          <p:nvPr/>
        </p:nvSpPr>
        <p:spPr>
          <a:xfrm>
            <a:off x="548640" y="5870448"/>
            <a:ext cx="11094415" cy="256032"/>
          </a:xfrm>
          <a:prstGeom prst="rect">
            <a:avLst/>
          </a:prstGeom>
          <a:noFill/>
          <a:ln/>
        </p:spPr>
        <p:txBody>
          <a:bodyPr wrap="square" lIns="0" tIns="0" rIns="0" bIns="0" rtlCol="0" anchor="t"/>
          <a:lstStyle/>
          <a:p>
            <a:pPr indent="0" marL="0">
              <a:buNone/>
            </a:pPr>
            <a:r>
              <a:rPr lang="en-US" sz="900" b="1" dirty="0">
                <a:solidFill>
                  <a:srgbClr val="A55D2B"/>
                </a:solidFill>
                <a:latin typeface="Malgun Gothic" pitchFamily="34" charset="0"/>
                <a:ea typeface="Malgun Gothic" pitchFamily="34" charset="-122"/>
                <a:cs typeface="Malgun Gothic" pitchFamily="34" charset="-120"/>
              </a:rPr>
              <a:t>용어：</a:t>
            </a:r>
            <a:pPr indent="0" marL="0">
              <a:buNone/>
            </a:pPr>
            <a:r>
              <a:rPr lang="en-US" sz="900" dirty="0">
                <a:solidFill>
                  <a:srgbClr val="5B6B7F"/>
                </a:solidFill>
                <a:latin typeface="Malgun Gothic" pitchFamily="34" charset="0"/>
                <a:ea typeface="Malgun Gothic" pitchFamily="34" charset="-122"/>
                <a:cs typeface="Malgun Gothic" pitchFamily="34" charset="-120"/>
              </a:rPr>
              <a:t>프로브카드＝칩 검사용 바늘 기판／봉지재＝칩을 수지로 감싸는 재료／다이싱＝웨이퍼 절단／초순수＝세정용 초고순도 물／EFEM＝웨이퍼 반송기／T글라스＝기판의 심재</a:t>
            </a:r>
            <a:endParaRPr lang="en-US" sz="900" dirty="0"/>
          </a:p>
        </p:txBody>
      </p:sp>
      <p:sp>
        <p:nvSpPr>
          <p:cNvPr id="11" name="Text 8"/>
          <p:cNvSpPr/>
          <p:nvPr/>
        </p:nvSpPr>
        <p:spPr>
          <a:xfrm>
            <a:off x="548640" y="6144768"/>
            <a:ext cx="11094415" cy="256032"/>
          </a:xfrm>
          <a:prstGeom prst="rect">
            <a:avLst/>
          </a:prstGeom>
          <a:noFill/>
          <a:ln/>
        </p:spPr>
        <p:txBody>
          <a:bodyPr wrap="square" lIns="0" tIns="0" rIns="0" bIns="0" rtlCol="0" anchor="t"/>
          <a:lstStyle/>
          <a:p>
            <a:pPr indent="0" marL="0">
              <a:buNone/>
            </a:pPr>
            <a:r>
              <a:rPr lang="en-US" sz="900" dirty="0">
                <a:solidFill>
                  <a:srgbClr val="5B6B7F"/>
                </a:solidFill>
                <a:latin typeface="Malgun Gothic" pitchFamily="34" charset="0"/>
                <a:ea typeface="Malgun Gothic" pitchFamily="34" charset="-122"/>
                <a:cs typeface="Malgun Gothic" pitchFamily="34" charset="-120"/>
              </a:rPr>
              <a:t>증거 강도：★★★＝시계열 인과(앵커 투자 후 증설·수상) 9사 ／ ★★＝주력 거점 입지 확정 6사　｜　재무 1차 검증 15/15사 완료</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algun Gothic" pitchFamily="34" charset="0"/>
                <a:ea typeface="Malgun Gothic" pitchFamily="34" charset="-122"/>
                <a:cs typeface="Malgun Gothic" pitchFamily="34" charset="-120"/>
              </a:rPr>
              <a:t>ALLOCATION</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300" b="1" dirty="0">
                <a:solidFill>
                  <a:srgbClr val="1C2B4A"/>
                </a:solidFill>
                <a:latin typeface="Malgun Gothic" pitchFamily="34" charset="0"/>
                <a:ea typeface="Malgun Gothic" pitchFamily="34" charset="-122"/>
                <a:cs typeface="Malgun Gothic" pitchFamily="34" charset="-120"/>
              </a:rPr>
              <a:t>비중 배분 — '비싸진 종목은 빼지 않고, 가볍게 든다'</a:t>
            </a:r>
            <a:endParaRPr lang="en-US" sz="23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algun Gothic" pitchFamily="34" charset="0"/>
                <a:ea typeface="Malgun Gothic" pitchFamily="34" charset="-122"/>
                <a:cs typeface="Malgun Gothic" pitchFamily="34" charset="-120"/>
              </a:rPr>
              <a:t>닛케이 스톡리그 2026｜후공정 니치 톱 × 지방 클러스터</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algun Gothic" pitchFamily="34" charset="0"/>
                <a:ea typeface="Malgun Gothic" pitchFamily="34" charset="-122"/>
                <a:cs typeface="Malgun Gothic" pitchFamily="34" charset="-120"/>
              </a:rPr>
              <a:t>12</a:t>
            </a:r>
            <a:endParaRPr lang="en-US" sz="900" dirty="0"/>
          </a:p>
        </p:txBody>
      </p:sp>
      <p:graphicFrame>
        <p:nvGraphicFramePr>
          <p:cNvPr id="9" name="Chart 0" descr=""/>
          <p:cNvGraphicFramePr/>
          <p:nvPr/>
        </p:nvGraphicFramePr>
        <p:xfrm>
          <a:off x="548640" y="1280160"/>
          <a:ext cx="6720840" cy="489204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7635240" y="1280160"/>
            <a:ext cx="4005072" cy="3291840"/>
          </a:xfrm>
          <a:prstGeom prst="roundRect">
            <a:avLst>
              <a:gd name="adj" fmla="val 1944"/>
            </a:avLst>
          </a:prstGeom>
          <a:solidFill>
            <a:srgbClr val="F3F6FA"/>
          </a:solidFill>
          <a:ln/>
        </p:spPr>
      </p:sp>
      <p:sp>
        <p:nvSpPr>
          <p:cNvPr id="11" name="Text 8"/>
          <p:cNvSpPr/>
          <p:nvPr/>
        </p:nvSpPr>
        <p:spPr>
          <a:xfrm>
            <a:off x="7891272" y="1481328"/>
            <a:ext cx="3493008" cy="329184"/>
          </a:xfrm>
          <a:prstGeom prst="rect">
            <a:avLst/>
          </a:prstGeom>
          <a:noFill/>
          <a:ln/>
        </p:spPr>
        <p:txBody>
          <a:bodyPr wrap="square" lIns="0" tIns="0" rIns="0" bIns="0" rtlCol="0" anchor="ctr"/>
          <a:lstStyle/>
          <a:p>
            <a:pPr indent="0" marL="0">
              <a:buNone/>
            </a:pPr>
            <a:r>
              <a:rPr lang="en-US" sz="1450" b="1" dirty="0">
                <a:solidFill>
                  <a:srgbClr val="1C2B4A"/>
                </a:solidFill>
                <a:latin typeface="Malgun Gothic" pitchFamily="34" charset="0"/>
                <a:ea typeface="Malgun Gothic" pitchFamily="34" charset="-122"/>
                <a:cs typeface="Malgun Gothic" pitchFamily="34" charset="-120"/>
              </a:rPr>
              <a:t>배분의 설계</a:t>
            </a:r>
            <a:endParaRPr lang="en-US" sz="1450" dirty="0"/>
          </a:p>
        </p:txBody>
      </p:sp>
      <p:sp>
        <p:nvSpPr>
          <p:cNvPr id="12" name="Text 9"/>
          <p:cNvSpPr/>
          <p:nvPr/>
        </p:nvSpPr>
        <p:spPr>
          <a:xfrm>
            <a:off x="7891272" y="1874520"/>
            <a:ext cx="3493008" cy="2606040"/>
          </a:xfrm>
          <a:prstGeom prst="rect">
            <a:avLst/>
          </a:prstGeom>
          <a:noFill/>
          <a:ln/>
        </p:spPr>
        <p:txBody>
          <a:bodyPr wrap="square" lIns="0" tIns="0" rIns="0" bIns="0" rtlCol="0" anchor="t"/>
          <a:lstStyle/>
          <a:p>
            <a:pPr marL="127000" indent="-127000">
              <a:spcAft>
                <a:spcPts val="7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현재가 기준 QARP(qarpNow)에 비례 — 선정(앵커 게이트)과 비중(밸류 규율)의 역할 분리</a:t>
            </a:r>
            <a:endParaRPr lang="en-US" sz="1050" dirty="0"/>
          </a:p>
          <a:p>
            <a:pPr marL="127000" indent="-127000">
              <a:spcAft>
                <a:spcPts val="7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상한 10% — 단일 종목 의존 방지</a:t>
            </a:r>
            <a:endParaRPr lang="en-US" sz="1050" dirty="0"/>
          </a:p>
          <a:p>
            <a:pPr marL="127000" indent="-127000">
              <a:spcAft>
                <a:spcPts val="7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하한 4% — 테마 입증에 필수인 종목(도호쿠 2사 등)이 형식적 편입이 되지 않게 보장</a:t>
            </a:r>
            <a:endParaRPr lang="en-US" sz="1050" dirty="0"/>
          </a:p>
          <a:p>
            <a:pPr marL="127000" indent="-127000">
              <a:spcAft>
                <a:spcPts val="7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리레이팅한 디스코·닛토방적은 '빼지 않고, 가볍게 든다'</a:t>
            </a:r>
            <a:endParaRPr lang="en-US" sz="1050" dirty="0"/>
          </a:p>
        </p:txBody>
      </p:sp>
      <p:sp>
        <p:nvSpPr>
          <p:cNvPr id="13" name="Shape 10"/>
          <p:cNvSpPr/>
          <p:nvPr/>
        </p:nvSpPr>
        <p:spPr>
          <a:xfrm>
            <a:off x="7635240" y="4754880"/>
            <a:ext cx="4005072" cy="1417320"/>
          </a:xfrm>
          <a:prstGeom prst="roundRect">
            <a:avLst>
              <a:gd name="adj" fmla="val 4516"/>
            </a:avLst>
          </a:prstGeom>
          <a:solidFill>
            <a:srgbClr val="1C2B4A"/>
          </a:solidFill>
          <a:ln/>
        </p:spPr>
      </p:sp>
      <p:sp>
        <p:nvSpPr>
          <p:cNvPr id="14" name="Text 11"/>
          <p:cNvSpPr/>
          <p:nvPr/>
        </p:nvSpPr>
        <p:spPr>
          <a:xfrm>
            <a:off x="7891272" y="4937760"/>
            <a:ext cx="3493008" cy="1051560"/>
          </a:xfrm>
          <a:prstGeom prst="rect">
            <a:avLst/>
          </a:prstGeom>
          <a:noFill/>
          <a:ln/>
        </p:spPr>
        <p:txBody>
          <a:bodyPr wrap="square" lIns="0" tIns="0" rIns="0" bIns="0" rtlCol="0" anchor="t"/>
          <a:lstStyle/>
          <a:p>
            <a:pPr indent="0" marL="0">
              <a:spcAft>
                <a:spcPts val="500"/>
              </a:spcAft>
              <a:buNone/>
            </a:pPr>
            <a:r>
              <a:rPr lang="en-US" sz="1150" b="1" dirty="0">
                <a:solidFill>
                  <a:srgbClr val="FFFFFF"/>
                </a:solidFill>
                <a:latin typeface="Malgun Gothic" pitchFamily="34" charset="0"/>
                <a:ea typeface="Malgun Gothic" pitchFamily="34" charset="-122"/>
                <a:cs typeface="Malgun Gothic" pitchFamily="34" charset="-120"/>
              </a:rPr>
              <a:t>500만엔 = 매수 4,945,598엔 + 수수료 54,402엔</a:t>
            </a:r>
            <a:endParaRPr lang="en-US" sz="1150" dirty="0"/>
          </a:p>
          <a:p>
            <a:pPr indent="0" marL="0">
              <a:spcAft>
                <a:spcPts val="500"/>
              </a:spcAft>
              <a:buNone/>
            </a:pPr>
            <a:r>
              <a:rPr lang="en-US" sz="1000" dirty="0">
                <a:solidFill>
                  <a:srgbClr val="DCE6F2"/>
                </a:solidFill>
                <a:latin typeface="Malgun Gothic" pitchFamily="34" charset="0"/>
                <a:ea typeface="Malgun Gothic" pitchFamily="34" charset="-122"/>
                <a:cs typeface="Malgun Gothic" pitchFamily="34" charset="-120"/>
              </a:rPr>
              <a:t>매매수수료 1.1%(1%+소비세)를 예산에서 차감 완료</a:t>
            </a:r>
            <a:endParaRPr lang="en-US" sz="1150" dirty="0"/>
          </a:p>
          <a:p>
            <a:pPr indent="0" marL="0">
              <a:buNone/>
            </a:pPr>
            <a:r>
              <a:rPr lang="en-US" sz="1100" b="1" dirty="0">
                <a:solidFill>
                  <a:srgbClr val="C0713A"/>
                </a:solidFill>
                <a:latin typeface="Malgun Gothic" pitchFamily="34" charset="0"/>
                <a:ea typeface="Malgun Gothic" pitchFamily="34" charset="-122"/>
                <a:cs typeface="Malgun Gothic" pitchFamily="34" charset="-120"/>
              </a:rPr>
              <a:t>규슈 90.7% ／ 도호쿠 9.3%　・　★★★ 9사 = 55.8%</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algun Gothic" pitchFamily="34" charset="0"/>
                <a:ea typeface="Malgun Gothic" pitchFamily="34" charset="-122"/>
                <a:cs typeface="Malgun Gothic" pitchFamily="34" charset="-120"/>
              </a:rPr>
              <a:t>PORTFOLIO DESIGN</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300" b="1" dirty="0">
                <a:solidFill>
                  <a:srgbClr val="1C2B4A"/>
                </a:solidFill>
                <a:latin typeface="Malgun Gothic" pitchFamily="34" charset="0"/>
                <a:ea typeface="Malgun Gothic" pitchFamily="34" charset="-122"/>
                <a:cs typeface="Malgun Gothic" pitchFamily="34" charset="-120"/>
              </a:rPr>
              <a:t>분산투자와 장기보유 — 심사 기준에 정면 대응</a:t>
            </a:r>
            <a:endParaRPr lang="en-US" sz="23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algun Gothic" pitchFamily="34" charset="0"/>
                <a:ea typeface="Malgun Gothic" pitchFamily="34" charset="-122"/>
                <a:cs typeface="Malgun Gothic" pitchFamily="34" charset="-120"/>
              </a:rPr>
              <a:t>닛케이 스톡리그 2026｜후공정 니치 톱 × 지방 클러스터</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algun Gothic" pitchFamily="34" charset="0"/>
                <a:ea typeface="Malgun Gothic" pitchFamily="34" charset="-122"/>
                <a:cs typeface="Malgun Gothic" pitchFamily="34" charset="-120"/>
              </a:rPr>
              <a:t>13</a:t>
            </a:r>
            <a:endParaRPr lang="en-US" sz="900" dirty="0"/>
          </a:p>
        </p:txBody>
      </p:sp>
      <p:sp>
        <p:nvSpPr>
          <p:cNvPr id="9" name="Shape 7"/>
          <p:cNvSpPr/>
          <p:nvPr/>
        </p:nvSpPr>
        <p:spPr>
          <a:xfrm>
            <a:off x="548640" y="1325880"/>
            <a:ext cx="5413248" cy="4160520"/>
          </a:xfrm>
          <a:prstGeom prst="roundRect">
            <a:avLst>
              <a:gd name="adj" fmla="val 1538"/>
            </a:avLst>
          </a:prstGeom>
          <a:solidFill>
            <a:srgbClr val="F3F6FA"/>
          </a:solidFill>
          <a:ln/>
        </p:spPr>
      </p:sp>
      <p:sp>
        <p:nvSpPr>
          <p:cNvPr id="10" name="Text 8"/>
          <p:cNvSpPr/>
          <p:nvPr/>
        </p:nvSpPr>
        <p:spPr>
          <a:xfrm>
            <a:off x="822960" y="1527048"/>
            <a:ext cx="4864608" cy="365760"/>
          </a:xfrm>
          <a:prstGeom prst="rect">
            <a:avLst/>
          </a:prstGeom>
          <a:noFill/>
          <a:ln/>
        </p:spPr>
        <p:txBody>
          <a:bodyPr wrap="square" lIns="0" tIns="0" rIns="0" bIns="0" rtlCol="0" anchor="ctr"/>
          <a:lstStyle/>
          <a:p>
            <a:pPr indent="0" marL="0">
              <a:buNone/>
            </a:pPr>
            <a:r>
              <a:rPr lang="en-US" sz="1550" b="1" dirty="0">
                <a:solidFill>
                  <a:srgbClr val="1C2B4A"/>
                </a:solidFill>
                <a:latin typeface="Malgun Gothic" pitchFamily="34" charset="0"/>
                <a:ea typeface="Malgun Gothic" pitchFamily="34" charset="-122"/>
                <a:cs typeface="Malgun Gothic" pitchFamily="34" charset="-120"/>
              </a:rPr>
              <a:t>테마 내 분산의 3가지 축</a:t>
            </a:r>
            <a:endParaRPr lang="en-US" sz="1550" dirty="0"/>
          </a:p>
        </p:txBody>
      </p:sp>
      <p:sp>
        <p:nvSpPr>
          <p:cNvPr id="11" name="Text 9"/>
          <p:cNvSpPr/>
          <p:nvPr/>
        </p:nvSpPr>
        <p:spPr>
          <a:xfrm>
            <a:off x="822960" y="2057400"/>
            <a:ext cx="365760" cy="365760"/>
          </a:xfrm>
          <a:prstGeom prst="ellipse">
            <a:avLst/>
          </a:prstGeom>
          <a:solidFill>
            <a:srgbClr val="1C2B4A"/>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12" name="Text 10"/>
          <p:cNvSpPr/>
          <p:nvPr/>
        </p:nvSpPr>
        <p:spPr>
          <a:xfrm>
            <a:off x="1353312" y="2039112"/>
            <a:ext cx="4315968" cy="896112"/>
          </a:xfrm>
          <a:prstGeom prst="rect">
            <a:avLst/>
          </a:prstGeom>
          <a:noFill/>
          <a:ln/>
        </p:spPr>
        <p:txBody>
          <a:bodyPr wrap="square" lIns="0" tIns="0" rIns="0" bIns="0" rtlCol="0" anchor="t"/>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밸류체인 단계</a:t>
            </a:r>
            <a:endParaRPr lang="en-US" sz="1200" dirty="0"/>
          </a:p>
          <a:p>
            <a:pPr indent="0" marL="0">
              <a:buNone/>
            </a:pPr>
            <a:r>
              <a:rPr lang="en-US" sz="1050" dirty="0">
                <a:solidFill>
                  <a:srgbClr val="5B6B7F"/>
                </a:solidFill>
                <a:latin typeface="Malgun Gothic" pitchFamily="34" charset="0"/>
                <a:ea typeface="Malgun Gothic" pitchFamily="34" charset="-122"/>
                <a:cs typeface="Malgun Gothic" pitchFamily="34" charset="-120"/>
              </a:rPr>
              <a:t>소모품·장비·소재·검사·인프라 — 사이클 민감도가 다른 단계를 커버(직결8/공통6/병행1)</a:t>
            </a:r>
            <a:endParaRPr lang="en-US" sz="1200" dirty="0"/>
          </a:p>
        </p:txBody>
      </p:sp>
      <p:sp>
        <p:nvSpPr>
          <p:cNvPr id="13" name="Text 11"/>
          <p:cNvSpPr/>
          <p:nvPr/>
        </p:nvSpPr>
        <p:spPr>
          <a:xfrm>
            <a:off x="822960" y="2990088"/>
            <a:ext cx="365760" cy="365760"/>
          </a:xfrm>
          <a:prstGeom prst="ellipse">
            <a:avLst/>
          </a:prstGeom>
          <a:solidFill>
            <a:srgbClr val="1C2B4A"/>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4" name="Text 12"/>
          <p:cNvSpPr/>
          <p:nvPr/>
        </p:nvSpPr>
        <p:spPr>
          <a:xfrm>
            <a:off x="1353312" y="2971800"/>
            <a:ext cx="4315968" cy="896112"/>
          </a:xfrm>
          <a:prstGeom prst="rect">
            <a:avLst/>
          </a:prstGeom>
          <a:noFill/>
          <a:ln/>
        </p:spPr>
        <p:txBody>
          <a:bodyPr wrap="square" lIns="0" tIns="0" rIns="0" bIns="0" rtlCol="0" anchor="t"/>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지역·앵커</a:t>
            </a:r>
            <a:endParaRPr lang="en-US" sz="1200" dirty="0"/>
          </a:p>
          <a:p>
            <a:pPr indent="0" marL="0">
              <a:buNone/>
            </a:pPr>
            <a:r>
              <a:rPr lang="en-US" sz="1050" dirty="0">
                <a:solidFill>
                  <a:srgbClr val="5B6B7F"/>
                </a:solidFill>
                <a:latin typeface="Malgun Gothic" pitchFamily="34" charset="0"/>
                <a:ea typeface="Malgun Gothic" pitchFamily="34" charset="-122"/>
                <a:cs typeface="Malgun Gothic" pitchFamily="34" charset="-120"/>
              </a:rPr>
              <a:t>규슈13 + 도호쿠2. 앵커도 TSMC·소니·미쓰비시전기·키옥시아로 다층 — 단일 팹 의존 없음</a:t>
            </a:r>
            <a:endParaRPr lang="en-US" sz="1200" dirty="0"/>
          </a:p>
        </p:txBody>
      </p:sp>
      <p:sp>
        <p:nvSpPr>
          <p:cNvPr id="15" name="Text 13"/>
          <p:cNvSpPr/>
          <p:nvPr/>
        </p:nvSpPr>
        <p:spPr>
          <a:xfrm>
            <a:off x="822960" y="3922776"/>
            <a:ext cx="365760" cy="365760"/>
          </a:xfrm>
          <a:prstGeom prst="ellipse">
            <a:avLst/>
          </a:prstGeom>
          <a:solidFill>
            <a:srgbClr val="1C2B4A"/>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16" name="Text 14"/>
          <p:cNvSpPr/>
          <p:nvPr/>
        </p:nvSpPr>
        <p:spPr>
          <a:xfrm>
            <a:off x="1353312" y="3904488"/>
            <a:ext cx="4315968" cy="896112"/>
          </a:xfrm>
          <a:prstGeom prst="rect">
            <a:avLst/>
          </a:prstGeom>
          <a:noFill/>
          <a:ln/>
        </p:spPr>
        <p:txBody>
          <a:bodyPr wrap="square" lIns="0" tIns="0" rIns="0" bIns="0" rtlCol="0" anchor="t"/>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고객</a:t>
            </a:r>
            <a:endParaRPr lang="en-US" sz="1200" dirty="0"/>
          </a:p>
          <a:p>
            <a:pPr indent="0" marL="0">
              <a:buNone/>
            </a:pPr>
            <a:r>
              <a:rPr lang="en-US" sz="1050" dirty="0">
                <a:solidFill>
                  <a:srgbClr val="5B6B7F"/>
                </a:solidFill>
                <a:latin typeface="Malgun Gothic" pitchFamily="34" charset="0"/>
                <a:ea typeface="Malgun Gothic" pitchFamily="34" charset="-122"/>
                <a:cs typeface="Malgun Gothic" pitchFamily="34" charset="-120"/>
              </a:rPr>
              <a:t>전 종목 매출이 글로벌 분산 — 특정 앵커향 매출은 작고, 클러스터 인과는 '성장 옵션'</a:t>
            </a:r>
            <a:endParaRPr lang="en-US" sz="1200" dirty="0"/>
          </a:p>
        </p:txBody>
      </p:sp>
      <p:sp>
        <p:nvSpPr>
          <p:cNvPr id="17" name="Text 15"/>
          <p:cNvSpPr/>
          <p:nvPr/>
        </p:nvSpPr>
        <p:spPr>
          <a:xfrm>
            <a:off x="822960" y="5029200"/>
            <a:ext cx="4864608" cy="320040"/>
          </a:xfrm>
          <a:prstGeom prst="rect">
            <a:avLst/>
          </a:prstGeom>
          <a:noFill/>
          <a:ln/>
        </p:spPr>
        <p:txBody>
          <a:bodyPr wrap="square" lIns="0" tIns="0" rIns="0" bIns="0" rtlCol="0" anchor="ctr"/>
          <a:lstStyle/>
          <a:p>
            <a:pPr indent="0" marL="0">
              <a:buNone/>
            </a:pPr>
            <a:r>
              <a:rPr lang="en-US" sz="950" i="1" dirty="0">
                <a:solidFill>
                  <a:srgbClr val="5B6B7F"/>
                </a:solidFill>
                <a:latin typeface="Malgun Gothic" pitchFamily="34" charset="0"/>
                <a:ea typeface="Malgun Gothic" pitchFamily="34" charset="-122"/>
                <a:cs typeface="Malgun Gothic" pitchFamily="34" charset="-120"/>
              </a:rPr>
              <a:t>※ 반도체 단일 테마라는 한계를 명시한 위에, 테마 내 분산을 설계 원리로 삼는다.</a:t>
            </a:r>
            <a:endParaRPr lang="en-US" sz="950" dirty="0"/>
          </a:p>
        </p:txBody>
      </p:sp>
      <p:sp>
        <p:nvSpPr>
          <p:cNvPr id="18" name="Shape 16"/>
          <p:cNvSpPr/>
          <p:nvPr/>
        </p:nvSpPr>
        <p:spPr>
          <a:xfrm>
            <a:off x="6227064" y="1325880"/>
            <a:ext cx="5413248" cy="4160520"/>
          </a:xfrm>
          <a:prstGeom prst="roundRect">
            <a:avLst>
              <a:gd name="adj" fmla="val 1538"/>
            </a:avLst>
          </a:prstGeom>
          <a:solidFill>
            <a:srgbClr val="F3F6FA"/>
          </a:solidFill>
          <a:ln/>
        </p:spPr>
      </p:sp>
      <p:sp>
        <p:nvSpPr>
          <p:cNvPr id="19" name="Text 17"/>
          <p:cNvSpPr/>
          <p:nvPr/>
        </p:nvSpPr>
        <p:spPr>
          <a:xfrm>
            <a:off x="6501384" y="1527048"/>
            <a:ext cx="4864608" cy="365760"/>
          </a:xfrm>
          <a:prstGeom prst="rect">
            <a:avLst/>
          </a:prstGeom>
          <a:noFill/>
          <a:ln/>
        </p:spPr>
        <p:txBody>
          <a:bodyPr wrap="square" lIns="0" tIns="0" rIns="0" bIns="0" rtlCol="0" anchor="ctr"/>
          <a:lstStyle/>
          <a:p>
            <a:pPr indent="0" marL="0">
              <a:buNone/>
            </a:pPr>
            <a:r>
              <a:rPr lang="en-US" sz="1550" b="1" dirty="0">
                <a:solidFill>
                  <a:srgbClr val="1C2B4A"/>
                </a:solidFill>
                <a:latin typeface="Malgun Gothic" pitchFamily="34" charset="0"/>
                <a:ea typeface="Malgun Gothic" pitchFamily="34" charset="-122"/>
                <a:cs typeface="Malgun Gothic" pitchFamily="34" charset="-120"/>
              </a:rPr>
              <a:t>장기보유의 논리</a:t>
            </a:r>
            <a:endParaRPr lang="en-US" sz="1550" dirty="0"/>
          </a:p>
        </p:txBody>
      </p:sp>
      <p:sp>
        <p:nvSpPr>
          <p:cNvPr id="20" name="Shape 18"/>
          <p:cNvSpPr/>
          <p:nvPr/>
        </p:nvSpPr>
        <p:spPr>
          <a:xfrm>
            <a:off x="6519672" y="2112264"/>
            <a:ext cx="118872" cy="118872"/>
          </a:xfrm>
          <a:prstGeom prst="ellipse">
            <a:avLst/>
          </a:prstGeom>
          <a:solidFill>
            <a:srgbClr val="C0713A"/>
          </a:solidFill>
          <a:ln/>
        </p:spPr>
      </p:sp>
      <p:sp>
        <p:nvSpPr>
          <p:cNvPr id="21" name="Text 19"/>
          <p:cNvSpPr/>
          <p:nvPr/>
        </p:nvSpPr>
        <p:spPr>
          <a:xfrm>
            <a:off x="6793992" y="2039112"/>
            <a:ext cx="4544568" cy="777240"/>
          </a:xfrm>
          <a:prstGeom prst="rect">
            <a:avLst/>
          </a:prstGeom>
          <a:noFill/>
          <a:ln/>
        </p:spPr>
        <p:txBody>
          <a:bodyPr wrap="square" lIns="0" tIns="0" rIns="0" bIns="0" rtlCol="0" anchor="t"/>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가설이 장기보유를 요구한다　</a:t>
            </a:r>
            <a:pPr indent="0" marL="0">
              <a:buNone/>
            </a:pPr>
            <a:r>
              <a:rPr lang="en-US" sz="1050" dirty="0">
                <a:solidFill>
                  <a:srgbClr val="5B6B7F"/>
                </a:solidFill>
                <a:latin typeface="Malgun Gothic" pitchFamily="34" charset="0"/>
                <a:ea typeface="Malgun Gothic" pitchFamily="34" charset="-122"/>
                <a:cs typeface="Malgun Gothic" pitchFamily="34" charset="-120"/>
              </a:rPr>
              <a:t>클러스터 형성은 수년 단위의 구조 변화 — 단기로는 검증할 수 없음</a:t>
            </a:r>
            <a:endParaRPr lang="en-US" sz="1200" dirty="0"/>
          </a:p>
        </p:txBody>
      </p:sp>
      <p:sp>
        <p:nvSpPr>
          <p:cNvPr id="22" name="Shape 20"/>
          <p:cNvSpPr/>
          <p:nvPr/>
        </p:nvSpPr>
        <p:spPr>
          <a:xfrm>
            <a:off x="6519672" y="2916936"/>
            <a:ext cx="118872" cy="118872"/>
          </a:xfrm>
          <a:prstGeom prst="ellipse">
            <a:avLst/>
          </a:prstGeom>
          <a:solidFill>
            <a:srgbClr val="C0713A"/>
          </a:solidFill>
          <a:ln/>
        </p:spPr>
      </p:sp>
      <p:sp>
        <p:nvSpPr>
          <p:cNvPr id="23" name="Text 21"/>
          <p:cNvSpPr/>
          <p:nvPr/>
        </p:nvSpPr>
        <p:spPr>
          <a:xfrm>
            <a:off x="6793992" y="2843784"/>
            <a:ext cx="4544568" cy="777240"/>
          </a:xfrm>
          <a:prstGeom prst="rect">
            <a:avLst/>
          </a:prstGeom>
          <a:noFill/>
          <a:ln/>
        </p:spPr>
        <p:txBody>
          <a:bodyPr wrap="square" lIns="0" tIns="0" rIns="0" bIns="0" rtlCol="0" anchor="t"/>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비용면에서도 buy &amp; hold　</a:t>
            </a:r>
            <a:pPr indent="0" marL="0">
              <a:buNone/>
            </a:pPr>
            <a:r>
              <a:rPr lang="en-US" sz="1050" dirty="0">
                <a:solidFill>
                  <a:srgbClr val="5B6B7F"/>
                </a:solidFill>
                <a:latin typeface="Malgun Gothic" pitchFamily="34" charset="0"/>
                <a:ea typeface="Malgun Gothic" pitchFamily="34" charset="-122"/>
                <a:cs typeface="Malgun Gothic" pitchFamily="34" charset="-120"/>
              </a:rPr>
              <a:t>매매수수료 1%+소비세 — 회전매매에 구조적으로 불리</a:t>
            </a:r>
            <a:endParaRPr lang="en-US" sz="1200" dirty="0"/>
          </a:p>
        </p:txBody>
      </p:sp>
      <p:sp>
        <p:nvSpPr>
          <p:cNvPr id="24" name="Shape 22"/>
          <p:cNvSpPr/>
          <p:nvPr/>
        </p:nvSpPr>
        <p:spPr>
          <a:xfrm>
            <a:off x="6519672" y="3721608"/>
            <a:ext cx="118872" cy="118872"/>
          </a:xfrm>
          <a:prstGeom prst="ellipse">
            <a:avLst/>
          </a:prstGeom>
          <a:solidFill>
            <a:srgbClr val="C0713A"/>
          </a:solidFill>
          <a:ln/>
        </p:spPr>
      </p:sp>
      <p:sp>
        <p:nvSpPr>
          <p:cNvPr id="25" name="Text 23"/>
          <p:cNvSpPr/>
          <p:nvPr/>
        </p:nvSpPr>
        <p:spPr>
          <a:xfrm>
            <a:off x="6793992" y="3648456"/>
            <a:ext cx="4544568" cy="777240"/>
          </a:xfrm>
          <a:prstGeom prst="rect">
            <a:avLst/>
          </a:prstGeom>
          <a:noFill/>
          <a:ln/>
        </p:spPr>
        <p:txBody>
          <a:bodyPr wrap="square" lIns="0" tIns="0" rIns="0" bIns="0" rtlCol="0" anchor="t"/>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전 15종목이 배당 실시　</a:t>
            </a:r>
            <a:pPr indent="0" marL="0">
              <a:buNone/>
            </a:pPr>
            <a:r>
              <a:rPr lang="en-US" sz="1050" dirty="0">
                <a:solidFill>
                  <a:srgbClr val="5B6B7F"/>
                </a:solidFill>
                <a:latin typeface="Malgun Gothic" pitchFamily="34" charset="0"/>
                <a:ea typeface="Malgun Gothic" pitchFamily="34" charset="-122"/>
                <a:cs typeface="Malgun Gothic" pitchFamily="34" charset="-120"/>
              </a:rPr>
              <a:t>평균 예상 이율 약 1.2% — 보조 논거로 명기(무배당 제로)</a:t>
            </a:r>
            <a:endParaRPr lang="en-US" sz="1200" dirty="0"/>
          </a:p>
        </p:txBody>
      </p:sp>
      <p:sp>
        <p:nvSpPr>
          <p:cNvPr id="26" name="Shape 24"/>
          <p:cNvSpPr/>
          <p:nvPr/>
        </p:nvSpPr>
        <p:spPr>
          <a:xfrm>
            <a:off x="6519672" y="4526280"/>
            <a:ext cx="118872" cy="118872"/>
          </a:xfrm>
          <a:prstGeom prst="ellipse">
            <a:avLst/>
          </a:prstGeom>
          <a:solidFill>
            <a:srgbClr val="C0713A"/>
          </a:solidFill>
          <a:ln/>
        </p:spPr>
      </p:sp>
      <p:sp>
        <p:nvSpPr>
          <p:cNvPr id="27" name="Text 25"/>
          <p:cNvSpPr/>
          <p:nvPr/>
        </p:nvSpPr>
        <p:spPr>
          <a:xfrm>
            <a:off x="6793992" y="4453128"/>
            <a:ext cx="4544568" cy="777240"/>
          </a:xfrm>
          <a:prstGeom prst="rect">
            <a:avLst/>
          </a:prstGeom>
          <a:noFill/>
          <a:ln/>
        </p:spPr>
        <p:txBody>
          <a:bodyPr wrap="square" lIns="0" tIns="0" rIns="0" bIns="0" rtlCol="0" anchor="t"/>
          <a:lstStyle/>
          <a:p>
            <a:pPr indent="0" marL="0">
              <a:buNone/>
            </a:pPr>
            <a:r>
              <a:rPr lang="en-US" sz="1200" b="1" dirty="0">
                <a:solidFill>
                  <a:srgbClr val="1C2B4A"/>
                </a:solidFill>
                <a:latin typeface="Malgun Gothic" pitchFamily="34" charset="0"/>
                <a:ea typeface="Malgun Gothic" pitchFamily="34" charset="-122"/>
                <a:cs typeface="Malgun Gothic" pitchFamily="34" charset="-120"/>
              </a:rPr>
              <a:t>리셋(2회 가능)은 원칙적으로 미사용　</a:t>
            </a:r>
            <a:pPr indent="0" marL="0">
              <a:buNone/>
            </a:pPr>
            <a:r>
              <a:rPr lang="en-US" sz="1050" dirty="0">
                <a:solidFill>
                  <a:srgbClr val="5B6B7F"/>
                </a:solidFill>
                <a:latin typeface="Malgun Gothic" pitchFamily="34" charset="0"/>
                <a:ea typeface="Malgun Gothic" pitchFamily="34" charset="-122"/>
                <a:cs typeface="Malgun Gothic" pitchFamily="34" charset="-120"/>
              </a:rPr>
              <a:t>가격 하락만으로는 팔지 않음 — '왜 계속 보유했는가'가 이야기가 된다</a:t>
            </a:r>
            <a:endParaRPr lang="en-US" sz="1200" dirty="0"/>
          </a:p>
        </p:txBody>
      </p:sp>
      <p:sp>
        <p:nvSpPr>
          <p:cNvPr id="28" name="Shape 26"/>
          <p:cNvSpPr/>
          <p:nvPr/>
        </p:nvSpPr>
        <p:spPr>
          <a:xfrm>
            <a:off x="548640" y="5669280"/>
            <a:ext cx="11094415" cy="566928"/>
          </a:xfrm>
          <a:prstGeom prst="roundRect">
            <a:avLst>
              <a:gd name="adj" fmla="val 11290"/>
            </a:avLst>
          </a:prstGeom>
          <a:solidFill>
            <a:srgbClr val="F3F6FA"/>
          </a:solidFill>
          <a:ln/>
        </p:spPr>
      </p:sp>
      <p:sp>
        <p:nvSpPr>
          <p:cNvPr id="29" name="Text 27"/>
          <p:cNvSpPr/>
          <p:nvPr/>
        </p:nvSpPr>
        <p:spPr>
          <a:xfrm>
            <a:off x="822960" y="5669280"/>
            <a:ext cx="10545775" cy="566928"/>
          </a:xfrm>
          <a:prstGeom prst="rect">
            <a:avLst/>
          </a:prstGeom>
          <a:noFill/>
          <a:ln/>
        </p:spPr>
        <p:txBody>
          <a:bodyPr wrap="square" lIns="0" tIns="0" rIns="0" bIns="0" rtlCol="0" anchor="ctr"/>
          <a:lstStyle/>
          <a:p>
            <a:pPr algn="ctr" indent="0" marL="0">
              <a:buNone/>
            </a:pPr>
            <a:r>
              <a:rPr lang="en-US" sz="1250" b="1" dirty="0">
                <a:solidFill>
                  <a:srgbClr val="1C2B4A"/>
                </a:solidFill>
                <a:latin typeface="Malgun Gothic" pitchFamily="34" charset="0"/>
                <a:ea typeface="Malgun Gothic" pitchFamily="34" charset="-122"/>
                <a:cs typeface="Malgun Gothic" pitchFamily="34" charset="-120"/>
              </a:rPr>
              <a:t>심사는 평가액이 아니라 리포트를 본다 — '분산투자·장기보유의 이해'에, 설계 그 자체로 답한다.</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algun Gothic" pitchFamily="34" charset="0"/>
                <a:ea typeface="Malgun Gothic" pitchFamily="34" charset="-122"/>
                <a:cs typeface="Malgun Gothic" pitchFamily="34" charset="-120"/>
              </a:rPr>
              <a:t>RISK SCENARIOS</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300" b="1" dirty="0">
                <a:solidFill>
                  <a:srgbClr val="1C2B4A"/>
                </a:solidFill>
                <a:latin typeface="Malgun Gothic" pitchFamily="34" charset="0"/>
                <a:ea typeface="Malgun Gothic" pitchFamily="34" charset="-122"/>
                <a:cs typeface="Malgun Gothic" pitchFamily="34" charset="-120"/>
              </a:rPr>
              <a:t>리스크 시나리오 — 정면으로 답한다</a:t>
            </a:r>
            <a:endParaRPr lang="en-US" sz="23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algun Gothic" pitchFamily="34" charset="0"/>
                <a:ea typeface="Malgun Gothic" pitchFamily="34" charset="-122"/>
                <a:cs typeface="Malgun Gothic" pitchFamily="34" charset="-120"/>
              </a:rPr>
              <a:t>닛케이 스톡리그 2026｜후공정 니치 톱 × 지방 클러스터</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algun Gothic" pitchFamily="34" charset="0"/>
                <a:ea typeface="Malgun Gothic" pitchFamily="34" charset="-122"/>
                <a:cs typeface="Malgun Gothic" pitchFamily="34" charset="-120"/>
              </a:rPr>
              <a:t>14</a:t>
            </a:r>
            <a:endParaRPr lang="en-US" sz="900" dirty="0"/>
          </a:p>
        </p:txBody>
      </p:sp>
      <p:sp>
        <p:nvSpPr>
          <p:cNvPr id="9" name="Shape 7"/>
          <p:cNvSpPr/>
          <p:nvPr/>
        </p:nvSpPr>
        <p:spPr>
          <a:xfrm>
            <a:off x="548640" y="1371600"/>
            <a:ext cx="3520440" cy="3931920"/>
          </a:xfrm>
          <a:prstGeom prst="roundRect">
            <a:avLst>
              <a:gd name="adj" fmla="val 1818"/>
            </a:avLst>
          </a:prstGeom>
          <a:solidFill>
            <a:srgbClr val="F3F6FA"/>
          </a:solidFill>
          <a:ln/>
        </p:spPr>
      </p:sp>
      <p:sp>
        <p:nvSpPr>
          <p:cNvPr id="10" name="Text 8"/>
          <p:cNvSpPr/>
          <p:nvPr/>
        </p:nvSpPr>
        <p:spPr>
          <a:xfrm>
            <a:off x="804672" y="1627632"/>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11" name="Text 9"/>
          <p:cNvSpPr/>
          <p:nvPr/>
        </p:nvSpPr>
        <p:spPr>
          <a:xfrm>
            <a:off x="804672" y="2240280"/>
            <a:ext cx="3008376" cy="685800"/>
          </a:xfrm>
          <a:prstGeom prst="rect">
            <a:avLst/>
          </a:prstGeom>
          <a:noFill/>
          <a:ln/>
        </p:spPr>
        <p:txBody>
          <a:bodyPr wrap="square" lIns="0" tIns="0" rIns="0" bIns="0" rtlCol="0" anchor="t"/>
          <a:lstStyle/>
          <a:p>
            <a:pPr indent="0" marL="0">
              <a:buNone/>
            </a:pPr>
            <a:r>
              <a:rPr lang="en-US" sz="1500" b="1" dirty="0">
                <a:solidFill>
                  <a:srgbClr val="1C2B4A"/>
                </a:solidFill>
                <a:latin typeface="Malgun Gothic" pitchFamily="34" charset="0"/>
                <a:ea typeface="Malgun Gothic" pitchFamily="34" charset="-122"/>
                <a:cs typeface="Malgun Gothic" pitchFamily="34" charset="-120"/>
              </a:rPr>
              <a:t>JASM 2공장의 지연·축소</a:t>
            </a:r>
            <a:endParaRPr lang="en-US" sz="1500" dirty="0"/>
          </a:p>
        </p:txBody>
      </p:sp>
      <p:sp>
        <p:nvSpPr>
          <p:cNvPr id="12" name="Text 10"/>
          <p:cNvSpPr/>
          <p:nvPr/>
        </p:nvSpPr>
        <p:spPr>
          <a:xfrm>
            <a:off x="804672" y="2971800"/>
            <a:ext cx="3008376" cy="2103120"/>
          </a:xfrm>
          <a:prstGeom prst="rect">
            <a:avLst/>
          </a:prstGeom>
          <a:noFill/>
          <a:ln/>
        </p:spPr>
        <p:txBody>
          <a:bodyPr wrap="square" lIns="0" tIns="0" rIns="0" bIns="0" rtlCol="0" anchor="t"/>
          <a:lstStyle/>
          <a:p>
            <a:pPr marL="127000" indent="-127000">
              <a:spcAft>
                <a:spcPts val="8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구마모토 앵커는 다층 — 소니·미쓰비시전기·TEL규슈가 나란히 존재, 단일 프로젝트 의존이 아님</a:t>
            </a:r>
            <a:endParaRPr lang="en-US" sz="1050" dirty="0"/>
          </a:p>
          <a:p>
            <a:pPr marL="127000" indent="-127000">
              <a:spcAft>
                <a:spcPts val="8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각사의 매출은 글로벌 분산 — TSMC 구마모토향은 작고, 클러스터 인과는 '성장 옵션'이지 손익의 전부가 아님</a:t>
            </a:r>
            <a:endParaRPr lang="en-US" sz="1050" dirty="0"/>
          </a:p>
        </p:txBody>
      </p:sp>
      <p:sp>
        <p:nvSpPr>
          <p:cNvPr id="13" name="Shape 11"/>
          <p:cNvSpPr/>
          <p:nvPr/>
        </p:nvSpPr>
        <p:spPr>
          <a:xfrm>
            <a:off x="4334256" y="1371600"/>
            <a:ext cx="3520440" cy="3931920"/>
          </a:xfrm>
          <a:prstGeom prst="roundRect">
            <a:avLst>
              <a:gd name="adj" fmla="val 1818"/>
            </a:avLst>
          </a:prstGeom>
          <a:solidFill>
            <a:srgbClr val="F3F6FA"/>
          </a:solidFill>
          <a:ln/>
        </p:spPr>
      </p:sp>
      <p:sp>
        <p:nvSpPr>
          <p:cNvPr id="14" name="Text 12"/>
          <p:cNvSpPr/>
          <p:nvPr/>
        </p:nvSpPr>
        <p:spPr>
          <a:xfrm>
            <a:off x="4590288" y="1627632"/>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15" name="Text 13"/>
          <p:cNvSpPr/>
          <p:nvPr/>
        </p:nvSpPr>
        <p:spPr>
          <a:xfrm>
            <a:off x="4590288" y="2240280"/>
            <a:ext cx="3008376" cy="685800"/>
          </a:xfrm>
          <a:prstGeom prst="rect">
            <a:avLst/>
          </a:prstGeom>
          <a:noFill/>
          <a:ln/>
        </p:spPr>
        <p:txBody>
          <a:bodyPr wrap="square" lIns="0" tIns="0" rIns="0" bIns="0" rtlCol="0" anchor="t"/>
          <a:lstStyle/>
          <a:p>
            <a:pPr indent="0" marL="0">
              <a:buNone/>
            </a:pPr>
            <a:r>
              <a:rPr lang="en-US" sz="1500" b="1" dirty="0">
                <a:solidFill>
                  <a:srgbClr val="1C2B4A"/>
                </a:solidFill>
                <a:latin typeface="Malgun Gothic" pitchFamily="34" charset="0"/>
                <a:ea typeface="Malgun Gothic" pitchFamily="34" charset="-122"/>
                <a:cs typeface="Malgun Gothic" pitchFamily="34" charset="-120"/>
              </a:rPr>
              <a:t>대만 지정학 리스크</a:t>
            </a:r>
            <a:endParaRPr lang="en-US" sz="1500" dirty="0"/>
          </a:p>
        </p:txBody>
      </p:sp>
      <p:sp>
        <p:nvSpPr>
          <p:cNvPr id="16" name="Text 14"/>
          <p:cNvSpPr/>
          <p:nvPr/>
        </p:nvSpPr>
        <p:spPr>
          <a:xfrm>
            <a:off x="4590288" y="2971800"/>
            <a:ext cx="3008376" cy="2103120"/>
          </a:xfrm>
          <a:prstGeom prst="rect">
            <a:avLst/>
          </a:prstGeom>
          <a:noFill/>
          <a:ln/>
        </p:spPr>
        <p:txBody>
          <a:bodyPr wrap="square" lIns="0" tIns="0" rIns="0" bIns="0" rtlCol="0" anchor="t"/>
          <a:lstStyle/>
          <a:p>
            <a:pPr marL="127000" indent="-127000">
              <a:spcAft>
                <a:spcPts val="8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TSMC 본체의 유사시는 세계 반도체 전체의 리스크</a:t>
            </a:r>
            <a:endParaRPr lang="en-US" sz="1050" dirty="0"/>
          </a:p>
          <a:p>
            <a:pPr marL="127000" indent="-127000">
              <a:spcAft>
                <a:spcPts val="8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동시에, 공급망의 일본 이전을 '가속'하는 요인이기도 함 — JASM 유치 자체가 그 산물. 양면을 서술</a:t>
            </a:r>
            <a:endParaRPr lang="en-US" sz="1050" dirty="0"/>
          </a:p>
        </p:txBody>
      </p:sp>
      <p:sp>
        <p:nvSpPr>
          <p:cNvPr id="17" name="Shape 15"/>
          <p:cNvSpPr/>
          <p:nvPr/>
        </p:nvSpPr>
        <p:spPr>
          <a:xfrm>
            <a:off x="8119872" y="1371600"/>
            <a:ext cx="3520440" cy="3931920"/>
          </a:xfrm>
          <a:prstGeom prst="roundRect">
            <a:avLst>
              <a:gd name="adj" fmla="val 1818"/>
            </a:avLst>
          </a:prstGeom>
          <a:solidFill>
            <a:srgbClr val="F3F6FA"/>
          </a:solidFill>
          <a:ln/>
        </p:spPr>
      </p:sp>
      <p:sp>
        <p:nvSpPr>
          <p:cNvPr id="18" name="Text 16"/>
          <p:cNvSpPr/>
          <p:nvPr/>
        </p:nvSpPr>
        <p:spPr>
          <a:xfrm>
            <a:off x="8375904" y="1627632"/>
            <a:ext cx="457200" cy="457200"/>
          </a:xfrm>
          <a:prstGeom prst="ellipse">
            <a:avLst/>
          </a:prstGeom>
          <a:solidFill>
            <a:srgbClr val="1C2B4A"/>
          </a:solid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19" name="Text 17"/>
          <p:cNvSpPr/>
          <p:nvPr/>
        </p:nvSpPr>
        <p:spPr>
          <a:xfrm>
            <a:off x="8375904" y="2240280"/>
            <a:ext cx="3008376" cy="685800"/>
          </a:xfrm>
          <a:prstGeom prst="rect">
            <a:avLst/>
          </a:prstGeom>
          <a:noFill/>
          <a:ln/>
        </p:spPr>
        <p:txBody>
          <a:bodyPr wrap="square" lIns="0" tIns="0" rIns="0" bIns="0" rtlCol="0" anchor="t"/>
          <a:lstStyle/>
          <a:p>
            <a:pPr indent="0" marL="0">
              <a:buNone/>
            </a:pPr>
            <a:r>
              <a:rPr lang="en-US" sz="1500" b="1" dirty="0">
                <a:solidFill>
                  <a:srgbClr val="1C2B4A"/>
                </a:solidFill>
                <a:latin typeface="Malgun Gothic" pitchFamily="34" charset="0"/>
                <a:ea typeface="Malgun Gothic" pitchFamily="34" charset="-122"/>
                <a:cs typeface="Malgun Gothic" pitchFamily="34" charset="-120"/>
              </a:rPr>
              <a:t>반도체 사이클 하강</a:t>
            </a:r>
            <a:endParaRPr lang="en-US" sz="1500" dirty="0"/>
          </a:p>
        </p:txBody>
      </p:sp>
      <p:sp>
        <p:nvSpPr>
          <p:cNvPr id="20" name="Text 18"/>
          <p:cNvSpPr/>
          <p:nvPr/>
        </p:nvSpPr>
        <p:spPr>
          <a:xfrm>
            <a:off x="8375904" y="2971800"/>
            <a:ext cx="3008376" cy="2103120"/>
          </a:xfrm>
          <a:prstGeom prst="rect">
            <a:avLst/>
          </a:prstGeom>
          <a:noFill/>
          <a:ln/>
        </p:spPr>
        <p:txBody>
          <a:bodyPr wrap="square" lIns="0" tIns="0" rIns="0" bIns="0" rtlCol="0" anchor="t"/>
          <a:lstStyle/>
          <a:p>
            <a:pPr marL="127000" indent="-127000">
              <a:spcAft>
                <a:spcPts val="8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후공정 소모품·테스트는 팹 가동률에 민감</a:t>
            </a:r>
            <a:endParaRPr lang="en-US" sz="1050" dirty="0"/>
          </a:p>
          <a:p>
            <a:pPr marL="127000" indent="-127000">
              <a:spcAft>
                <a:spcPts val="800"/>
              </a:spcAft>
              <a:buSzPct val="100000"/>
              <a:buChar char="•"/>
            </a:pPr>
            <a:r>
              <a:rPr lang="en-US" sz="1050" dirty="0">
                <a:solidFill>
                  <a:srgbClr val="5B6B7F"/>
                </a:solidFill>
                <a:latin typeface="Malgun Gothic" pitchFamily="34" charset="0"/>
                <a:ea typeface="Malgun Gothic" pitchFamily="34" charset="-122"/>
                <a:cs typeface="Malgun Gothic" pitchFamily="34" charset="-120"/>
              </a:rPr>
              <a:t>완충：AI/HBM의 구조적 수요 + QARP 밸류 규율로 고평가 종목을 애초에 억제(예외는 디스코뿐임을 명시)</a:t>
            </a:r>
            <a:endParaRPr lang="en-US" sz="1050" dirty="0"/>
          </a:p>
        </p:txBody>
      </p:sp>
      <p:sp>
        <p:nvSpPr>
          <p:cNvPr id="21" name="Text 19"/>
          <p:cNvSpPr/>
          <p:nvPr/>
        </p:nvSpPr>
        <p:spPr>
          <a:xfrm>
            <a:off x="548640" y="5577840"/>
            <a:ext cx="11094415" cy="365760"/>
          </a:xfrm>
          <a:prstGeom prst="rect">
            <a:avLst/>
          </a:prstGeom>
          <a:noFill/>
          <a:ln/>
        </p:spPr>
        <p:txBody>
          <a:bodyPr wrap="square" lIns="0" tIns="0" rIns="0" bIns="0" rtlCol="0" anchor="ctr"/>
          <a:lstStyle/>
          <a:p>
            <a:pPr algn="ctr" indent="0" marL="0">
              <a:buNone/>
            </a:pPr>
            <a:r>
              <a:rPr lang="en-US" sz="1100" dirty="0">
                <a:solidFill>
                  <a:srgbClr val="5B6B7F"/>
                </a:solidFill>
                <a:latin typeface="Malgun Gothic" pitchFamily="34" charset="0"/>
                <a:ea typeface="Malgun Gothic" pitchFamily="34" charset="-122"/>
                <a:cs typeface="Malgun Gothic" pitchFamily="34" charset="-120"/>
              </a:rPr>
              <a:t>보충：주가 하락으로 밸류 점수가 오른 종목은 '밸류트랩'일 가능성 — 점수 단독으로는 해석하지 않는다고 스스로 주기.</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algun Gothic" pitchFamily="34" charset="0"/>
                <a:ea typeface="Malgun Gothic" pitchFamily="34" charset="-122"/>
                <a:cs typeface="Malgun Gothic" pitchFamily="34" charset="-120"/>
              </a:rPr>
              <a:t>LEARNING PROCESS</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300" b="1" dirty="0">
                <a:solidFill>
                  <a:srgbClr val="1C2B4A"/>
                </a:solidFill>
                <a:latin typeface="Malgun Gothic" pitchFamily="34" charset="0"/>
                <a:ea typeface="Malgun Gothic" pitchFamily="34" charset="-122"/>
                <a:cs typeface="Malgun Gothic" pitchFamily="34" charset="-120"/>
              </a:rPr>
              <a:t>학습 프로세스 — 실패도, 그대로 기록한다</a:t>
            </a:r>
            <a:endParaRPr lang="en-US" sz="23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algun Gothic" pitchFamily="34" charset="0"/>
                <a:ea typeface="Malgun Gothic" pitchFamily="34" charset="-122"/>
                <a:cs typeface="Malgun Gothic" pitchFamily="34" charset="-120"/>
              </a:rPr>
              <a:t>닛케이 스톡리그 2026｜후공정 니치 톱 × 지방 클러스터</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algun Gothic" pitchFamily="34" charset="0"/>
                <a:ea typeface="Malgun Gothic" pitchFamily="34" charset="-122"/>
                <a:cs typeface="Malgun Gothic" pitchFamily="34" charset="-120"/>
              </a:rPr>
              <a:t>15</a:t>
            </a:r>
            <a:endParaRPr lang="en-US" sz="900" dirty="0"/>
          </a:p>
        </p:txBody>
      </p:sp>
      <p:sp>
        <p:nvSpPr>
          <p:cNvPr id="9" name="Shape 7"/>
          <p:cNvSpPr/>
          <p:nvPr/>
        </p:nvSpPr>
        <p:spPr>
          <a:xfrm>
            <a:off x="548640" y="1371600"/>
            <a:ext cx="11094415" cy="1033272"/>
          </a:xfrm>
          <a:prstGeom prst="roundRect">
            <a:avLst>
              <a:gd name="adj" fmla="val 6195"/>
            </a:avLst>
          </a:prstGeom>
          <a:solidFill>
            <a:srgbClr val="F3F6FA"/>
          </a:solidFill>
          <a:ln/>
        </p:spPr>
      </p:sp>
      <p:sp>
        <p:nvSpPr>
          <p:cNvPr id="10" name="Text 8"/>
          <p:cNvSpPr/>
          <p:nvPr/>
        </p:nvSpPr>
        <p:spPr>
          <a:xfrm>
            <a:off x="768096" y="1627632"/>
            <a:ext cx="512064" cy="512064"/>
          </a:xfrm>
          <a:prstGeom prst="ellipse">
            <a:avLst/>
          </a:prstGeom>
          <a:solidFill>
            <a:srgbClr val="C0713A"/>
          </a:solid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11" name="Text 9"/>
          <p:cNvSpPr/>
          <p:nvPr/>
        </p:nvSpPr>
        <p:spPr>
          <a:xfrm>
            <a:off x="1508760" y="1490472"/>
            <a:ext cx="4480560" cy="822960"/>
          </a:xfrm>
          <a:prstGeom prst="rect">
            <a:avLst/>
          </a:prstGeom>
          <a:noFill/>
          <a:ln/>
        </p:spPr>
        <p:txBody>
          <a:bodyPr wrap="square" lIns="0" tIns="0" rIns="0" bIns="0" rtlCol="0" anchor="ctr"/>
          <a:lstStyle/>
          <a:p>
            <a:pPr indent="0" marL="0">
              <a:buNone/>
            </a:pPr>
            <a:r>
              <a:rPr lang="en-US" sz="1300" b="1" dirty="0">
                <a:solidFill>
                  <a:srgbClr val="1C2B4A"/>
                </a:solidFill>
                <a:latin typeface="Malgun Gothic" pitchFamily="34" charset="0"/>
                <a:ea typeface="Malgun Gothic" pitchFamily="34" charset="-122"/>
                <a:cs typeface="Malgun Gothic" pitchFamily="34" charset="-120"/>
              </a:rPr>
              <a:t>시가총액을 15배로 오독한 사고</a:t>
            </a:r>
            <a:endParaRPr lang="en-US" sz="1300" dirty="0"/>
          </a:p>
        </p:txBody>
      </p:sp>
      <p:sp>
        <p:nvSpPr>
          <p:cNvPr id="12" name="Text 10"/>
          <p:cNvSpPr/>
          <p:nvPr/>
        </p:nvSpPr>
        <p:spPr>
          <a:xfrm>
            <a:off x="6126480" y="1490472"/>
            <a:ext cx="5349240" cy="822960"/>
          </a:xfrm>
          <a:prstGeom prst="rect">
            <a:avLst/>
          </a:prstGeom>
          <a:noFill/>
          <a:ln/>
        </p:spPr>
        <p:txBody>
          <a:bodyPr wrap="square" lIns="0" tIns="0" rIns="0" bIns="0" rtlCol="0" anchor="ctr"/>
          <a:lstStyle/>
          <a:p>
            <a:pPr indent="0" marL="0">
              <a:buNone/>
            </a:pPr>
            <a:r>
              <a:rPr lang="en-US" sz="1050" dirty="0">
                <a:solidFill>
                  <a:srgbClr val="5B6B7F"/>
                </a:solidFill>
                <a:latin typeface="Malgun Gothic" pitchFamily="34" charset="0"/>
                <a:ea typeface="Malgun Gothic" pitchFamily="34" charset="-122"/>
                <a:cs typeface="Malgun Gothic" pitchFamily="34" charset="-120"/>
              </a:rPr>
              <a:t>자동 재취득 스크립트의 단위 오류. 시스템째로 폐기하고, '공표 표시값 인용 + 주가×주식수 정합 체크 + 스크립트 검증'의 삼중 프로세스로 재설계했다.</a:t>
            </a:r>
            <a:endParaRPr lang="en-US" sz="1050" dirty="0"/>
          </a:p>
        </p:txBody>
      </p:sp>
      <p:sp>
        <p:nvSpPr>
          <p:cNvPr id="13" name="Shape 11"/>
          <p:cNvSpPr/>
          <p:nvPr/>
        </p:nvSpPr>
        <p:spPr>
          <a:xfrm>
            <a:off x="548640" y="2532888"/>
            <a:ext cx="11094415" cy="1033272"/>
          </a:xfrm>
          <a:prstGeom prst="roundRect">
            <a:avLst>
              <a:gd name="adj" fmla="val 6195"/>
            </a:avLst>
          </a:prstGeom>
          <a:solidFill>
            <a:srgbClr val="F3F6FA"/>
          </a:solidFill>
          <a:ln/>
        </p:spPr>
      </p:sp>
      <p:sp>
        <p:nvSpPr>
          <p:cNvPr id="14" name="Text 12"/>
          <p:cNvSpPr/>
          <p:nvPr/>
        </p:nvSpPr>
        <p:spPr>
          <a:xfrm>
            <a:off x="768096" y="2788920"/>
            <a:ext cx="512064" cy="512064"/>
          </a:xfrm>
          <a:prstGeom prst="ellipse">
            <a:avLst/>
          </a:prstGeom>
          <a:solidFill>
            <a:srgbClr val="1C2B4A"/>
          </a:solid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15" name="Text 13"/>
          <p:cNvSpPr/>
          <p:nvPr/>
        </p:nvSpPr>
        <p:spPr>
          <a:xfrm>
            <a:off x="1508760" y="2651760"/>
            <a:ext cx="4480560" cy="822960"/>
          </a:xfrm>
          <a:prstGeom prst="rect">
            <a:avLst/>
          </a:prstGeom>
          <a:noFill/>
          <a:ln/>
        </p:spPr>
        <p:txBody>
          <a:bodyPr wrap="square" lIns="0" tIns="0" rIns="0" bIns="0" rtlCol="0" anchor="ctr"/>
          <a:lstStyle/>
          <a:p>
            <a:pPr indent="0" marL="0">
              <a:buNone/>
            </a:pPr>
            <a:r>
              <a:rPr lang="en-US" sz="1300" b="1" dirty="0">
                <a:solidFill>
                  <a:srgbClr val="1C2B4A"/>
                </a:solidFill>
                <a:latin typeface="Malgun Gothic" pitchFamily="34" charset="0"/>
                <a:ea typeface="Malgun Gothic" pitchFamily="34" charset="-122"/>
                <a:cs typeface="Malgun Gothic" pitchFamily="34" charset="-120"/>
              </a:rPr>
              <a:t>1년 전 기사로 오판할 뻔했다</a:t>
            </a:r>
            <a:endParaRPr lang="en-US" sz="1300" dirty="0"/>
          </a:p>
        </p:txBody>
      </p:sp>
      <p:sp>
        <p:nvSpPr>
          <p:cNvPr id="16" name="Text 14"/>
          <p:cNvSpPr/>
          <p:nvPr/>
        </p:nvSpPr>
        <p:spPr>
          <a:xfrm>
            <a:off x="6126480" y="2651760"/>
            <a:ext cx="5349240" cy="822960"/>
          </a:xfrm>
          <a:prstGeom prst="rect">
            <a:avLst/>
          </a:prstGeom>
          <a:noFill/>
          <a:ln/>
        </p:spPr>
        <p:txBody>
          <a:bodyPr wrap="square" lIns="0" tIns="0" rIns="0" bIns="0" rtlCol="0" anchor="ctr"/>
          <a:lstStyle/>
          <a:p>
            <a:pPr indent="0" marL="0">
              <a:buNone/>
            </a:pPr>
            <a:r>
              <a:rPr lang="en-US" sz="1050" dirty="0">
                <a:solidFill>
                  <a:srgbClr val="5B6B7F"/>
                </a:solidFill>
                <a:latin typeface="Malgun Gothic" pitchFamily="34" charset="0"/>
                <a:ea typeface="Malgun Gothic" pitchFamily="34" charset="-122"/>
                <a:cs typeface="Malgun Gothic" pitchFamily="34" charset="-120"/>
              </a:rPr>
              <a:t>간토전화를 오래된 기사에 근거해 제외할 뻔했다가, 최신 결산 확인으로 복귀 — '숫자에는 신선도가 있다'. 이후 전 종목을 최신 통기 실적으로 대조하는 규칙으로.</a:t>
            </a:r>
            <a:endParaRPr lang="en-US" sz="1050" dirty="0"/>
          </a:p>
        </p:txBody>
      </p:sp>
      <p:sp>
        <p:nvSpPr>
          <p:cNvPr id="17" name="Shape 15"/>
          <p:cNvSpPr/>
          <p:nvPr/>
        </p:nvSpPr>
        <p:spPr>
          <a:xfrm>
            <a:off x="548640" y="3694176"/>
            <a:ext cx="11094415" cy="1033272"/>
          </a:xfrm>
          <a:prstGeom prst="roundRect">
            <a:avLst>
              <a:gd name="adj" fmla="val 6195"/>
            </a:avLst>
          </a:prstGeom>
          <a:solidFill>
            <a:srgbClr val="F3F6FA"/>
          </a:solidFill>
          <a:ln/>
        </p:spPr>
      </p:sp>
      <p:sp>
        <p:nvSpPr>
          <p:cNvPr id="18" name="Text 16"/>
          <p:cNvSpPr/>
          <p:nvPr/>
        </p:nvSpPr>
        <p:spPr>
          <a:xfrm>
            <a:off x="768096" y="3950208"/>
            <a:ext cx="512064" cy="512064"/>
          </a:xfrm>
          <a:prstGeom prst="ellipse">
            <a:avLst/>
          </a:prstGeom>
          <a:solidFill>
            <a:srgbClr val="C0713A"/>
          </a:solid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19" name="Text 17"/>
          <p:cNvSpPr/>
          <p:nvPr/>
        </p:nvSpPr>
        <p:spPr>
          <a:xfrm>
            <a:off x="1508760" y="3813048"/>
            <a:ext cx="4480560" cy="822960"/>
          </a:xfrm>
          <a:prstGeom prst="rect">
            <a:avLst/>
          </a:prstGeom>
          <a:noFill/>
          <a:ln/>
        </p:spPr>
        <p:txBody>
          <a:bodyPr wrap="square" lIns="0" tIns="0" rIns="0" bIns="0" rtlCol="0" anchor="ctr"/>
          <a:lstStyle/>
          <a:p>
            <a:pPr indent="0" marL="0">
              <a:buNone/>
            </a:pPr>
            <a:r>
              <a:rPr lang="en-US" sz="1300" b="1" dirty="0">
                <a:solidFill>
                  <a:srgbClr val="1C2B4A"/>
                </a:solidFill>
                <a:latin typeface="Malgun Gothic" pitchFamily="34" charset="0"/>
                <a:ea typeface="Malgun Gothic" pitchFamily="34" charset="-122"/>
                <a:cs typeface="Malgun Gothic" pitchFamily="34" charset="-120"/>
              </a:rPr>
              <a:t>태그≠검증 — 가설 태그의 대량 반증</a:t>
            </a:r>
            <a:endParaRPr lang="en-US" sz="1300" dirty="0"/>
          </a:p>
        </p:txBody>
      </p:sp>
      <p:sp>
        <p:nvSpPr>
          <p:cNvPr id="20" name="Text 18"/>
          <p:cNvSpPr/>
          <p:nvPr/>
        </p:nvSpPr>
        <p:spPr>
          <a:xfrm>
            <a:off x="6126480" y="3813048"/>
            <a:ext cx="5349240" cy="822960"/>
          </a:xfrm>
          <a:prstGeom prst="rect">
            <a:avLst/>
          </a:prstGeom>
          <a:noFill/>
          <a:ln/>
        </p:spPr>
        <p:txBody>
          <a:bodyPr wrap="square" lIns="0" tIns="0" rIns="0" bIns="0" rtlCol="0" anchor="ctr"/>
          <a:lstStyle/>
          <a:p>
            <a:pPr indent="0" marL="0">
              <a:buNone/>
            </a:pPr>
            <a:r>
              <a:rPr lang="en-US" sz="1050" dirty="0">
                <a:solidFill>
                  <a:srgbClr val="5B6B7F"/>
                </a:solidFill>
                <a:latin typeface="Malgun Gothic" pitchFamily="34" charset="0"/>
                <a:ea typeface="Malgun Gothic" pitchFamily="34" charset="-122"/>
                <a:cs typeface="Malgun Gothic" pitchFamily="34" charset="-120"/>
              </a:rPr>
              <a:t>초기 클러스터 태그는 오류투성이였다(도치기를 도호쿠로, 오사카를 홋카이도로 취급 등). 1차 정보 전수 검증으로 전환해, 선정의 토대를 다시 세웠다.</a:t>
            </a:r>
            <a:endParaRPr lang="en-US" sz="1050" dirty="0"/>
          </a:p>
        </p:txBody>
      </p:sp>
      <p:sp>
        <p:nvSpPr>
          <p:cNvPr id="21" name="Shape 19"/>
          <p:cNvSpPr/>
          <p:nvPr/>
        </p:nvSpPr>
        <p:spPr>
          <a:xfrm>
            <a:off x="548640" y="4855464"/>
            <a:ext cx="11094415" cy="1033272"/>
          </a:xfrm>
          <a:prstGeom prst="roundRect">
            <a:avLst>
              <a:gd name="adj" fmla="val 6195"/>
            </a:avLst>
          </a:prstGeom>
          <a:solidFill>
            <a:srgbClr val="F3F6FA"/>
          </a:solidFill>
          <a:ln/>
        </p:spPr>
      </p:sp>
      <p:sp>
        <p:nvSpPr>
          <p:cNvPr id="22" name="Text 20"/>
          <p:cNvSpPr/>
          <p:nvPr/>
        </p:nvSpPr>
        <p:spPr>
          <a:xfrm>
            <a:off x="768096" y="5111496"/>
            <a:ext cx="512064" cy="512064"/>
          </a:xfrm>
          <a:prstGeom prst="ellipse">
            <a:avLst/>
          </a:prstGeom>
          <a:solidFill>
            <a:srgbClr val="1C2B4A"/>
          </a:solid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4</a:t>
            </a:r>
            <a:endParaRPr lang="en-US" sz="1800" dirty="0"/>
          </a:p>
        </p:txBody>
      </p:sp>
      <p:sp>
        <p:nvSpPr>
          <p:cNvPr id="23" name="Text 21"/>
          <p:cNvSpPr/>
          <p:nvPr/>
        </p:nvSpPr>
        <p:spPr>
          <a:xfrm>
            <a:off x="1508760" y="4974336"/>
            <a:ext cx="4480560" cy="822960"/>
          </a:xfrm>
          <a:prstGeom prst="rect">
            <a:avLst/>
          </a:prstGeom>
          <a:noFill/>
          <a:ln/>
        </p:spPr>
        <p:txBody>
          <a:bodyPr wrap="square" lIns="0" tIns="0" rIns="0" bIns="0" rtlCol="0" anchor="ctr"/>
          <a:lstStyle/>
          <a:p>
            <a:pPr indent="0" marL="0">
              <a:buNone/>
            </a:pPr>
            <a:r>
              <a:rPr lang="en-US" sz="1300" b="1" dirty="0">
                <a:solidFill>
                  <a:srgbClr val="1C2B4A"/>
                </a:solidFill>
                <a:latin typeface="Malgun Gothic" pitchFamily="34" charset="0"/>
                <a:ea typeface="Malgun Gothic" pitchFamily="34" charset="-122"/>
                <a:cs typeface="Malgun Gothic" pitchFamily="34" charset="-120"/>
              </a:rPr>
              <a:t>'왜 그 기준인가'에 실측으로 답한다</a:t>
            </a:r>
            <a:endParaRPr lang="en-US" sz="1300" dirty="0"/>
          </a:p>
        </p:txBody>
      </p:sp>
      <p:sp>
        <p:nvSpPr>
          <p:cNvPr id="24" name="Text 22"/>
          <p:cNvSpPr/>
          <p:nvPr/>
        </p:nvSpPr>
        <p:spPr>
          <a:xfrm>
            <a:off x="6126480" y="4974336"/>
            <a:ext cx="5349240" cy="822960"/>
          </a:xfrm>
          <a:prstGeom prst="rect">
            <a:avLst/>
          </a:prstGeom>
          <a:noFill/>
          <a:ln/>
        </p:spPr>
        <p:txBody>
          <a:bodyPr wrap="square" lIns="0" tIns="0" rIns="0" bIns="0" rtlCol="0" anchor="ctr"/>
          <a:lstStyle/>
          <a:p>
            <a:pPr indent="0" marL="0">
              <a:buNone/>
            </a:pPr>
            <a:r>
              <a:rPr lang="en-US" sz="1050" dirty="0">
                <a:solidFill>
                  <a:srgbClr val="5B6B7F"/>
                </a:solidFill>
                <a:latin typeface="Malgun Gothic" pitchFamily="34" charset="0"/>
                <a:ea typeface="Malgun Gothic" pitchFamily="34" charset="-122"/>
                <a:cs typeface="Malgun Gothic" pitchFamily="34" charset="-120"/>
              </a:rPr>
              <a:t>게이트 기준 750가지 조합의 민감도 분석으로 결론의 견고성을 스스로 공격. 모집단도 도쿄증시 4,438사부터 재정의(→106사)하고 순도 기준을 완화해도 최종 15사가 흔들리지 않음을 확인했다.</a:t>
            </a:r>
            <a:endParaRPr lang="en-US" sz="1050" dirty="0"/>
          </a:p>
        </p:txBody>
      </p:sp>
      <p:sp>
        <p:nvSpPr>
          <p:cNvPr id="25" name="Text 23"/>
          <p:cNvSpPr/>
          <p:nvPr/>
        </p:nvSpPr>
        <p:spPr>
          <a:xfrm>
            <a:off x="548640" y="6035040"/>
            <a:ext cx="11094415" cy="347472"/>
          </a:xfrm>
          <a:prstGeom prst="rect">
            <a:avLst/>
          </a:prstGeom>
          <a:noFill/>
          <a:ln/>
        </p:spPr>
        <p:txBody>
          <a:bodyPr wrap="square" lIns="0" tIns="0" rIns="0" bIns="0" rtlCol="0" anchor="ctr"/>
          <a:lstStyle/>
          <a:p>
            <a:pPr algn="ctr" indent="0" marL="0">
              <a:buNone/>
            </a:pPr>
            <a:r>
              <a:rPr lang="en-US" sz="1250" b="1" dirty="0">
                <a:solidFill>
                  <a:srgbClr val="1C2B4A"/>
                </a:solidFill>
                <a:latin typeface="Malgun Gothic" pitchFamily="34" charset="0"/>
                <a:ea typeface="Malgun Gothic" pitchFamily="34" charset="-122"/>
                <a:cs typeface="Malgun Gothic" pitchFamily="34" charset="-120"/>
              </a:rPr>
              <a:t>심사 기준 '학습 과정'에 대해 — 성공만이 아니라, 시행착오의 기록을 그대로 제출한다.</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100" b="1" spc="200" kern="0" dirty="0">
                <a:solidFill>
                  <a:srgbClr val="C0713A"/>
                </a:solidFill>
                <a:latin typeface="Malgun Gothic" pitchFamily="34" charset="0"/>
                <a:ea typeface="Malgun Gothic" pitchFamily="34" charset="-122"/>
                <a:cs typeface="Malgun Gothic" pitchFamily="34" charset="-120"/>
              </a:rPr>
              <a:t>NEXT — PHASE 3</a:t>
            </a:r>
            <a:endParaRPr lang="en-US" sz="1100" dirty="0"/>
          </a:p>
        </p:txBody>
      </p:sp>
      <p:sp>
        <p:nvSpPr>
          <p:cNvPr id="3" name="Text 1"/>
          <p:cNvSpPr/>
          <p:nvPr/>
        </p:nvSpPr>
        <p:spPr>
          <a:xfrm>
            <a:off x="548640" y="548640"/>
            <a:ext cx="10058400" cy="566928"/>
          </a:xfrm>
          <a:prstGeom prst="rect">
            <a:avLst/>
          </a:prstGeom>
          <a:noFill/>
          <a:ln/>
        </p:spPr>
        <p:txBody>
          <a:bodyPr wrap="square" lIns="0" tIns="0" rIns="0" bIns="0" rtlCol="0" anchor="ctr"/>
          <a:lstStyle/>
          <a:p>
            <a:pPr indent="0" marL="0">
              <a:buNone/>
            </a:pPr>
            <a:r>
              <a:rPr lang="en-US" sz="2300" b="1" dirty="0">
                <a:solidFill>
                  <a:srgbClr val="1C2B4A"/>
                </a:solidFill>
                <a:latin typeface="Malgun Gothic" pitchFamily="34" charset="0"/>
                <a:ea typeface="Malgun Gothic" pitchFamily="34" charset="-122"/>
                <a:cs typeface="Malgun Gothic" pitchFamily="34" charset="-120"/>
              </a:rPr>
              <a:t>앞으로의 계획 — 매수·필드워크·리포트</a:t>
            </a:r>
            <a:endParaRPr lang="en-US" sz="2300" dirty="0"/>
          </a:p>
        </p:txBody>
      </p:sp>
      <p:sp>
        <p:nvSpPr>
          <p:cNvPr id="4" name="Shape 2"/>
          <p:cNvSpPr/>
          <p:nvPr/>
        </p:nvSpPr>
        <p:spPr>
          <a:xfrm>
            <a:off x="11192256" y="374904"/>
            <a:ext cx="566928" cy="566928"/>
          </a:xfrm>
          <a:prstGeom prst="ellipse">
            <a:avLst/>
          </a:prstGeom>
          <a:ln w="12700">
            <a:solidFill>
              <a:srgbClr val="DCE6F2"/>
            </a:solidFill>
            <a:prstDash val="solid"/>
          </a:ln>
        </p:spPr>
      </p:sp>
      <p:sp>
        <p:nvSpPr>
          <p:cNvPr id="5" name="Shape 3"/>
          <p:cNvSpPr/>
          <p:nvPr/>
        </p:nvSpPr>
        <p:spPr>
          <a:xfrm>
            <a:off x="11288634" y="471282"/>
            <a:ext cx="374172" cy="374172"/>
          </a:xfrm>
          <a:prstGeom prst="ellipse">
            <a:avLst/>
          </a:prstGeom>
          <a:ln w="12700">
            <a:solidFill>
              <a:srgbClr val="C0713A"/>
            </a:solidFill>
            <a:prstDash val="solid"/>
          </a:ln>
        </p:spPr>
      </p:sp>
      <p:sp>
        <p:nvSpPr>
          <p:cNvPr id="6" name="Shape 4"/>
          <p:cNvSpPr/>
          <p:nvPr/>
        </p:nvSpPr>
        <p:spPr>
          <a:xfrm>
            <a:off x="11385012" y="567660"/>
            <a:ext cx="181417" cy="181417"/>
          </a:xfrm>
          <a:prstGeom prst="ellipse">
            <a:avLst/>
          </a:prstGeom>
          <a:ln w="12700">
            <a:solidFill>
              <a:srgbClr val="DCE6F2"/>
            </a:solidFill>
            <a:prstDash val="solid"/>
          </a:ln>
        </p:spPr>
      </p:sp>
      <p:sp>
        <p:nvSpPr>
          <p:cNvPr id="7" name="Text 5"/>
          <p:cNvSpPr/>
          <p:nvPr/>
        </p:nvSpPr>
        <p:spPr>
          <a:xfrm>
            <a:off x="548640" y="6473952"/>
            <a:ext cx="7315200" cy="237744"/>
          </a:xfrm>
          <a:prstGeom prst="rect">
            <a:avLst/>
          </a:prstGeom>
          <a:noFill/>
          <a:ln/>
        </p:spPr>
        <p:txBody>
          <a:bodyPr wrap="square" lIns="0" tIns="0" rIns="0" bIns="0" rtlCol="0" anchor="ctr"/>
          <a:lstStyle/>
          <a:p>
            <a:pPr indent="0" marL="0">
              <a:buNone/>
            </a:pPr>
            <a:r>
              <a:rPr lang="en-US" sz="850" dirty="0">
                <a:solidFill>
                  <a:srgbClr val="5B6B7F"/>
                </a:solidFill>
                <a:latin typeface="Malgun Gothic" pitchFamily="34" charset="0"/>
                <a:ea typeface="Malgun Gothic" pitchFamily="34" charset="-122"/>
                <a:cs typeface="Malgun Gothic" pitchFamily="34" charset="-120"/>
              </a:rPr>
              <a:t>닛케이 스톡리그 2026｜후공정 니치 톱 × 지방 클러스터</a:t>
            </a:r>
            <a:endParaRPr lang="en-US" sz="850" dirty="0"/>
          </a:p>
        </p:txBody>
      </p:sp>
      <p:sp>
        <p:nvSpPr>
          <p:cNvPr id="8" name="Text 6"/>
          <p:cNvSpPr/>
          <p:nvPr/>
        </p:nvSpPr>
        <p:spPr>
          <a:xfrm>
            <a:off x="11430000" y="6473952"/>
            <a:ext cx="365760" cy="237744"/>
          </a:xfrm>
          <a:prstGeom prst="rect">
            <a:avLst/>
          </a:prstGeom>
          <a:noFill/>
          <a:ln/>
        </p:spPr>
        <p:txBody>
          <a:bodyPr wrap="square" lIns="0" tIns="0" rIns="0" bIns="0" rtlCol="0" anchor="ctr"/>
          <a:lstStyle/>
          <a:p>
            <a:pPr algn="r" indent="0" marL="0">
              <a:buNone/>
            </a:pPr>
            <a:r>
              <a:rPr lang="en-US" sz="900" dirty="0">
                <a:solidFill>
                  <a:srgbClr val="5B6B7F"/>
                </a:solidFill>
                <a:latin typeface="Malgun Gothic" pitchFamily="34" charset="0"/>
                <a:ea typeface="Malgun Gothic" pitchFamily="34" charset="-122"/>
                <a:cs typeface="Malgun Gothic" pitchFamily="34" charset="-120"/>
              </a:rPr>
              <a:t>16</a:t>
            </a:r>
            <a:endParaRPr lang="en-US" sz="900" dirty="0"/>
          </a:p>
        </p:txBody>
      </p:sp>
      <p:sp>
        <p:nvSpPr>
          <p:cNvPr id="9" name="Text 7"/>
          <p:cNvSpPr/>
          <p:nvPr/>
        </p:nvSpPr>
        <p:spPr>
          <a:xfrm>
            <a:off x="548640" y="1170432"/>
            <a:ext cx="2606040" cy="310896"/>
          </a:xfrm>
          <a:prstGeom prst="rect">
            <a:avLst/>
          </a:prstGeom>
          <a:noFill/>
          <a:ln/>
        </p:spPr>
        <p:txBody>
          <a:bodyPr wrap="square" lIns="0" tIns="0" rIns="0" bIns="0" rtlCol="0" anchor="ctr"/>
          <a:lstStyle/>
          <a:p>
            <a:pPr indent="0" marL="0">
              <a:buNone/>
            </a:pPr>
            <a:r>
              <a:rPr lang="en-US" sz="1150" b="1" dirty="0">
                <a:solidFill>
                  <a:srgbClr val="A55D2B"/>
                </a:solidFill>
                <a:latin typeface="Malgun Gothic" pitchFamily="34" charset="0"/>
                <a:ea typeface="Malgun Gothic" pitchFamily="34" charset="-122"/>
                <a:cs typeface="Malgun Gothic" pitchFamily="34" charset="-120"/>
              </a:rPr>
              <a:t>7월 하순~8월 중순</a:t>
            </a:r>
            <a:endParaRPr lang="en-US" sz="1150" dirty="0"/>
          </a:p>
        </p:txBody>
      </p:sp>
      <p:sp>
        <p:nvSpPr>
          <p:cNvPr id="10" name="Shape 8"/>
          <p:cNvSpPr/>
          <p:nvPr/>
        </p:nvSpPr>
        <p:spPr>
          <a:xfrm>
            <a:off x="548640" y="1554480"/>
            <a:ext cx="2606040" cy="3200400"/>
          </a:xfrm>
          <a:prstGeom prst="roundRect">
            <a:avLst>
              <a:gd name="adj" fmla="val 2456"/>
            </a:avLst>
          </a:prstGeom>
          <a:solidFill>
            <a:srgbClr val="F3F6FA"/>
          </a:solidFill>
          <a:ln/>
        </p:spPr>
      </p:sp>
      <p:sp>
        <p:nvSpPr>
          <p:cNvPr id="11" name="Text 9"/>
          <p:cNvSpPr/>
          <p:nvPr/>
        </p:nvSpPr>
        <p:spPr>
          <a:xfrm>
            <a:off x="768096" y="1737360"/>
            <a:ext cx="2167128" cy="621792"/>
          </a:xfrm>
          <a:prstGeom prst="rect">
            <a:avLst/>
          </a:prstGeom>
          <a:noFill/>
          <a:ln/>
        </p:spPr>
        <p:txBody>
          <a:bodyPr wrap="square" lIns="0" tIns="0" rIns="0" bIns="0" rtlCol="0" anchor="t"/>
          <a:lstStyle/>
          <a:p>
            <a:pPr indent="0" marL="0">
              <a:buNone/>
            </a:pPr>
            <a:r>
              <a:rPr lang="en-US" sz="1400" b="1" dirty="0">
                <a:solidFill>
                  <a:srgbClr val="1C2B4A"/>
                </a:solidFill>
                <a:latin typeface="Malgun Gothic" pitchFamily="34" charset="0"/>
                <a:ea typeface="Malgun Gothic" pitchFamily="34" charset="-122"/>
                <a:cs typeface="Malgun Gothic" pitchFamily="34" charset="-120"/>
              </a:rPr>
              <a:t>결산 집중기를 회피</a:t>
            </a:r>
            <a:endParaRPr lang="en-US" sz="1400" dirty="0"/>
          </a:p>
        </p:txBody>
      </p:sp>
      <p:sp>
        <p:nvSpPr>
          <p:cNvPr id="12" name="Text 10"/>
          <p:cNvSpPr/>
          <p:nvPr/>
        </p:nvSpPr>
        <p:spPr>
          <a:xfrm>
            <a:off x="768096" y="2395728"/>
            <a:ext cx="2167128" cy="2148840"/>
          </a:xfrm>
          <a:prstGeom prst="rect">
            <a:avLst/>
          </a:prstGeom>
          <a:noFill/>
          <a:ln/>
        </p:spPr>
        <p:txBody>
          <a:bodyPr wrap="square" lIns="0" tIns="0" rIns="0" bIns="0" rtlCol="0" anchor="t"/>
          <a:lstStyle/>
          <a:p>
            <a:pPr indent="0" marL="0">
              <a:buNone/>
            </a:pPr>
            <a:r>
              <a:rPr lang="en-US" sz="1050" dirty="0">
                <a:solidFill>
                  <a:srgbClr val="5B6B7F"/>
                </a:solidFill>
                <a:latin typeface="Malgun Gothic" pitchFamily="34" charset="0"/>
                <a:ea typeface="Malgun Gothic" pitchFamily="34" charset="-122"/>
                <a:cs typeface="Malgun Gothic" pitchFamily="34" charset="-120"/>
              </a:rPr>
              <a:t>7/23 디스코 ~ 8/14 테라프로브에 15사의 결산이 집중. 체결은 당일 종가라, 발표 직전·당일 매수는 갭 리스크.</a:t>
            </a:r>
            <a:endParaRPr lang="en-US" sz="1050" dirty="0"/>
          </a:p>
        </p:txBody>
      </p:sp>
      <p:sp>
        <p:nvSpPr>
          <p:cNvPr id="13" name="Shape 11"/>
          <p:cNvSpPr/>
          <p:nvPr/>
        </p:nvSpPr>
        <p:spPr>
          <a:xfrm>
            <a:off x="3163824" y="3026664"/>
            <a:ext cx="201168" cy="256032"/>
          </a:xfrm>
          <a:prstGeom prst="rightArrow">
            <a:avLst/>
          </a:prstGeom>
          <a:solidFill>
            <a:srgbClr val="DCE6F2"/>
          </a:solidFill>
          <a:ln/>
        </p:spPr>
      </p:sp>
      <p:sp>
        <p:nvSpPr>
          <p:cNvPr id="14" name="Text 12"/>
          <p:cNvSpPr/>
          <p:nvPr/>
        </p:nvSpPr>
        <p:spPr>
          <a:xfrm>
            <a:off x="3374136" y="1170432"/>
            <a:ext cx="2606040" cy="310896"/>
          </a:xfrm>
          <a:prstGeom prst="rect">
            <a:avLst/>
          </a:prstGeom>
          <a:noFill/>
          <a:ln/>
        </p:spPr>
        <p:txBody>
          <a:bodyPr wrap="square" lIns="0" tIns="0" rIns="0" bIns="0" rtlCol="0" anchor="ctr"/>
          <a:lstStyle/>
          <a:p>
            <a:pPr indent="0" marL="0">
              <a:buNone/>
            </a:pPr>
            <a:r>
              <a:rPr lang="en-US" sz="1150" b="1" dirty="0">
                <a:solidFill>
                  <a:srgbClr val="A55D2B"/>
                </a:solidFill>
                <a:latin typeface="Malgun Gothic" pitchFamily="34" charset="0"/>
                <a:ea typeface="Malgun Gothic" pitchFamily="34" charset="-122"/>
                <a:cs typeface="Malgun Gothic" pitchFamily="34" charset="-120"/>
              </a:rPr>
              <a:t>8월 중순 이후</a:t>
            </a:r>
            <a:endParaRPr lang="en-US" sz="1150" dirty="0"/>
          </a:p>
        </p:txBody>
      </p:sp>
      <p:sp>
        <p:nvSpPr>
          <p:cNvPr id="15" name="Shape 13"/>
          <p:cNvSpPr/>
          <p:nvPr/>
        </p:nvSpPr>
        <p:spPr>
          <a:xfrm>
            <a:off x="3374136" y="1554480"/>
            <a:ext cx="2606040" cy="3200400"/>
          </a:xfrm>
          <a:prstGeom prst="roundRect">
            <a:avLst>
              <a:gd name="adj" fmla="val 2456"/>
            </a:avLst>
          </a:prstGeom>
          <a:solidFill>
            <a:srgbClr val="1C2B4A"/>
          </a:solidFill>
          <a:ln/>
        </p:spPr>
      </p:sp>
      <p:sp>
        <p:nvSpPr>
          <p:cNvPr id="16" name="Text 14"/>
          <p:cNvSpPr/>
          <p:nvPr/>
        </p:nvSpPr>
        <p:spPr>
          <a:xfrm>
            <a:off x="3593592" y="1737360"/>
            <a:ext cx="2167128" cy="621792"/>
          </a:xfrm>
          <a:prstGeom prst="rect">
            <a:avLst/>
          </a:prstGeom>
          <a:noFill/>
          <a:ln/>
        </p:spPr>
        <p:txBody>
          <a:bodyPr wrap="square" lIns="0" tIns="0" rIns="0" bIns="0" rtlCol="0" anchor="t"/>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매수 실행</a:t>
            </a:r>
            <a:endParaRPr lang="en-US" sz="1400" dirty="0"/>
          </a:p>
        </p:txBody>
      </p:sp>
      <p:sp>
        <p:nvSpPr>
          <p:cNvPr id="17" name="Text 15"/>
          <p:cNvSpPr/>
          <p:nvPr/>
        </p:nvSpPr>
        <p:spPr>
          <a:xfrm>
            <a:off x="3593592" y="2395728"/>
            <a:ext cx="2167128" cy="2148840"/>
          </a:xfrm>
          <a:prstGeom prst="rect">
            <a:avLst/>
          </a:prstGeom>
          <a:noFill/>
          <a:ln/>
        </p:spPr>
        <p:txBody>
          <a:bodyPr wrap="square" lIns="0" tIns="0" rIns="0" bIns="0" rtlCol="0" anchor="t"/>
          <a:lstStyle/>
          <a:p>
            <a:pPr indent="0" marL="0">
              <a:buNone/>
            </a:pPr>
            <a:r>
              <a:rPr lang="en-US" sz="1050" dirty="0">
                <a:solidFill>
                  <a:srgbClr val="DCE6F2"/>
                </a:solidFill>
                <a:latin typeface="Malgun Gothic" pitchFamily="34" charset="0"/>
                <a:ea typeface="Malgun Gothic" pitchFamily="34" charset="-122"/>
                <a:cs typeface="Malgun Gothic" pitchFamily="34" charset="-120"/>
              </a:rPr>
              <a:t>Q1 실적 반영 후 가격으로 재채점 → 배분을 일관 실행해, 500만엔을 15종목에 배분. 체결가·주수·수수료를 기록.</a:t>
            </a:r>
            <a:endParaRPr lang="en-US" sz="1050" dirty="0"/>
          </a:p>
        </p:txBody>
      </p:sp>
      <p:sp>
        <p:nvSpPr>
          <p:cNvPr id="18" name="Shape 16"/>
          <p:cNvSpPr/>
          <p:nvPr/>
        </p:nvSpPr>
        <p:spPr>
          <a:xfrm>
            <a:off x="5989320" y="3026664"/>
            <a:ext cx="201168" cy="256032"/>
          </a:xfrm>
          <a:prstGeom prst="rightArrow">
            <a:avLst/>
          </a:prstGeom>
          <a:solidFill>
            <a:srgbClr val="DCE6F2"/>
          </a:solidFill>
          <a:ln/>
        </p:spPr>
      </p:sp>
      <p:sp>
        <p:nvSpPr>
          <p:cNvPr id="19" name="Text 17"/>
          <p:cNvSpPr/>
          <p:nvPr/>
        </p:nvSpPr>
        <p:spPr>
          <a:xfrm>
            <a:off x="6199632" y="1170432"/>
            <a:ext cx="2606040" cy="310896"/>
          </a:xfrm>
          <a:prstGeom prst="rect">
            <a:avLst/>
          </a:prstGeom>
          <a:noFill/>
          <a:ln/>
        </p:spPr>
        <p:txBody>
          <a:bodyPr wrap="square" lIns="0" tIns="0" rIns="0" bIns="0" rtlCol="0" anchor="ctr"/>
          <a:lstStyle/>
          <a:p>
            <a:pPr indent="0" marL="0">
              <a:buNone/>
            </a:pPr>
            <a:r>
              <a:rPr lang="en-US" sz="1150" b="1" dirty="0">
                <a:solidFill>
                  <a:srgbClr val="A55D2B"/>
                </a:solidFill>
                <a:latin typeface="Malgun Gothic" pitchFamily="34" charset="0"/>
                <a:ea typeface="Malgun Gothic" pitchFamily="34" charset="-122"/>
                <a:cs typeface="Malgun Gothic" pitchFamily="34" charset="-120"/>
              </a:rPr>
              <a:t>가을</a:t>
            </a:r>
            <a:endParaRPr lang="en-US" sz="1150" dirty="0"/>
          </a:p>
        </p:txBody>
      </p:sp>
      <p:sp>
        <p:nvSpPr>
          <p:cNvPr id="20" name="Shape 18"/>
          <p:cNvSpPr/>
          <p:nvPr/>
        </p:nvSpPr>
        <p:spPr>
          <a:xfrm>
            <a:off x="6199632" y="1554480"/>
            <a:ext cx="2606040" cy="3200400"/>
          </a:xfrm>
          <a:prstGeom prst="roundRect">
            <a:avLst>
              <a:gd name="adj" fmla="val 2456"/>
            </a:avLst>
          </a:prstGeom>
          <a:solidFill>
            <a:srgbClr val="F3F6FA"/>
          </a:solidFill>
          <a:ln/>
        </p:spPr>
      </p:sp>
      <p:sp>
        <p:nvSpPr>
          <p:cNvPr id="21" name="Text 19"/>
          <p:cNvSpPr/>
          <p:nvPr/>
        </p:nvSpPr>
        <p:spPr>
          <a:xfrm>
            <a:off x="6419088" y="1737360"/>
            <a:ext cx="2167128" cy="621792"/>
          </a:xfrm>
          <a:prstGeom prst="rect">
            <a:avLst/>
          </a:prstGeom>
          <a:noFill/>
          <a:ln/>
        </p:spPr>
        <p:txBody>
          <a:bodyPr wrap="square" lIns="0" tIns="0" rIns="0" bIns="0" rtlCol="0" anchor="t"/>
          <a:lstStyle/>
          <a:p>
            <a:pPr indent="0" marL="0">
              <a:buNone/>
            </a:pPr>
            <a:r>
              <a:rPr lang="en-US" sz="1400" b="1" dirty="0">
                <a:solidFill>
                  <a:srgbClr val="1C2B4A"/>
                </a:solidFill>
                <a:latin typeface="Malgun Gothic" pitchFamily="34" charset="0"/>
                <a:ea typeface="Malgun Gothic" pitchFamily="34" charset="-122"/>
                <a:cs typeface="Malgun Gothic" pitchFamily="34" charset="-120"/>
              </a:rPr>
              <a:t>필드워크</a:t>
            </a:r>
            <a:endParaRPr lang="en-US" sz="1400" dirty="0"/>
          </a:p>
        </p:txBody>
      </p:sp>
      <p:sp>
        <p:nvSpPr>
          <p:cNvPr id="22" name="Text 20"/>
          <p:cNvSpPr/>
          <p:nvPr/>
        </p:nvSpPr>
        <p:spPr>
          <a:xfrm>
            <a:off x="6419088" y="2395728"/>
            <a:ext cx="2167128" cy="2148840"/>
          </a:xfrm>
          <a:prstGeom prst="rect">
            <a:avLst/>
          </a:prstGeom>
          <a:noFill/>
          <a:ln/>
        </p:spPr>
        <p:txBody>
          <a:bodyPr wrap="square" lIns="0" tIns="0" rIns="0" bIns="0" rtlCol="0" anchor="t"/>
          <a:lstStyle/>
          <a:p>
            <a:pPr indent="0" marL="0">
              <a:buNone/>
            </a:pPr>
            <a:r>
              <a:rPr lang="en-US" sz="1050" dirty="0">
                <a:solidFill>
                  <a:srgbClr val="5B6B7F"/>
                </a:solidFill>
                <a:latin typeface="Malgun Gothic" pitchFamily="34" charset="0"/>
                <a:ea typeface="Malgun Gothic" pitchFamily="34" charset="-122"/>
                <a:cs typeface="Malgun Gothic" pitchFamily="34" charset="-120"/>
              </a:rPr>
              <a:t>IR 문의·기업 방문·설문. 우선순위 : ★★ 6사의 정성적 증거 심화 + 히라타기공·재팬머티리얼(구마모토 거점) 방문 후보.</a:t>
            </a:r>
            <a:endParaRPr lang="en-US" sz="1050" dirty="0"/>
          </a:p>
        </p:txBody>
      </p:sp>
      <p:sp>
        <p:nvSpPr>
          <p:cNvPr id="23" name="Shape 21"/>
          <p:cNvSpPr/>
          <p:nvPr/>
        </p:nvSpPr>
        <p:spPr>
          <a:xfrm>
            <a:off x="8814816" y="3026664"/>
            <a:ext cx="201168" cy="256032"/>
          </a:xfrm>
          <a:prstGeom prst="rightArrow">
            <a:avLst/>
          </a:prstGeom>
          <a:solidFill>
            <a:srgbClr val="DCE6F2"/>
          </a:solidFill>
          <a:ln/>
        </p:spPr>
      </p:sp>
      <p:sp>
        <p:nvSpPr>
          <p:cNvPr id="24" name="Text 22"/>
          <p:cNvSpPr/>
          <p:nvPr/>
        </p:nvSpPr>
        <p:spPr>
          <a:xfrm>
            <a:off x="9025128" y="1170432"/>
            <a:ext cx="2606040" cy="310896"/>
          </a:xfrm>
          <a:prstGeom prst="rect">
            <a:avLst/>
          </a:prstGeom>
          <a:noFill/>
          <a:ln/>
        </p:spPr>
        <p:txBody>
          <a:bodyPr wrap="square" lIns="0" tIns="0" rIns="0" bIns="0" rtlCol="0" anchor="ctr"/>
          <a:lstStyle/>
          <a:p>
            <a:pPr indent="0" marL="0">
              <a:buNone/>
            </a:pPr>
            <a:r>
              <a:rPr lang="en-US" sz="1150" b="1" dirty="0">
                <a:solidFill>
                  <a:srgbClr val="A55D2B"/>
                </a:solidFill>
                <a:latin typeface="Malgun Gothic" pitchFamily="34" charset="0"/>
                <a:ea typeface="Malgun Gothic" pitchFamily="34" charset="-122"/>
                <a:cs typeface="Malgun Gothic" pitchFamily="34" charset="-120"/>
              </a:rPr>
              <a:t>제출까지</a:t>
            </a:r>
            <a:endParaRPr lang="en-US" sz="1150" dirty="0"/>
          </a:p>
        </p:txBody>
      </p:sp>
      <p:sp>
        <p:nvSpPr>
          <p:cNvPr id="25" name="Shape 23"/>
          <p:cNvSpPr/>
          <p:nvPr/>
        </p:nvSpPr>
        <p:spPr>
          <a:xfrm>
            <a:off x="9025128" y="1554480"/>
            <a:ext cx="2606040" cy="3200400"/>
          </a:xfrm>
          <a:prstGeom prst="roundRect">
            <a:avLst>
              <a:gd name="adj" fmla="val 2456"/>
            </a:avLst>
          </a:prstGeom>
          <a:solidFill>
            <a:srgbClr val="F3F6FA"/>
          </a:solidFill>
          <a:ln/>
        </p:spPr>
      </p:sp>
      <p:sp>
        <p:nvSpPr>
          <p:cNvPr id="26" name="Text 24"/>
          <p:cNvSpPr/>
          <p:nvPr/>
        </p:nvSpPr>
        <p:spPr>
          <a:xfrm>
            <a:off x="9244584" y="1737360"/>
            <a:ext cx="2167128" cy="621792"/>
          </a:xfrm>
          <a:prstGeom prst="rect">
            <a:avLst/>
          </a:prstGeom>
          <a:noFill/>
          <a:ln/>
        </p:spPr>
        <p:txBody>
          <a:bodyPr wrap="square" lIns="0" tIns="0" rIns="0" bIns="0" rtlCol="0" anchor="t"/>
          <a:lstStyle/>
          <a:p>
            <a:pPr indent="0" marL="0">
              <a:buNone/>
            </a:pPr>
            <a:r>
              <a:rPr lang="en-US" sz="1400" b="1" dirty="0">
                <a:solidFill>
                  <a:srgbClr val="1C2B4A"/>
                </a:solidFill>
                <a:latin typeface="Malgun Gothic" pitchFamily="34" charset="0"/>
                <a:ea typeface="Malgun Gothic" pitchFamily="34" charset="-122"/>
                <a:cs typeface="Malgun Gothic" pitchFamily="34" charset="-120"/>
              </a:rPr>
              <a:t>리포트 최종화</a:t>
            </a:r>
            <a:endParaRPr lang="en-US" sz="1400" dirty="0"/>
          </a:p>
        </p:txBody>
      </p:sp>
      <p:sp>
        <p:nvSpPr>
          <p:cNvPr id="27" name="Text 25"/>
          <p:cNvSpPr/>
          <p:nvPr/>
        </p:nvSpPr>
        <p:spPr>
          <a:xfrm>
            <a:off x="9244584" y="2395728"/>
            <a:ext cx="2167128" cy="2148840"/>
          </a:xfrm>
          <a:prstGeom prst="rect">
            <a:avLst/>
          </a:prstGeom>
          <a:noFill/>
          <a:ln/>
        </p:spPr>
        <p:txBody>
          <a:bodyPr wrap="square" lIns="0" tIns="0" rIns="0" bIns="0" rtlCol="0" anchor="t"/>
          <a:lstStyle/>
          <a:p>
            <a:pPr indent="0" marL="0">
              <a:buNone/>
            </a:pPr>
            <a:r>
              <a:rPr lang="en-US" sz="1050" dirty="0">
                <a:solidFill>
                  <a:srgbClr val="5B6B7F"/>
                </a:solidFill>
                <a:latin typeface="Malgun Gothic" pitchFamily="34" charset="0"/>
                <a:ea typeface="Malgun Gothic" pitchFamily="34" charset="-122"/>
                <a:cs typeface="Malgun Gothic" pitchFamily="34" charset="-120"/>
              </a:rPr>
              <a:t>골자는 완성 — 공식 양식 확정 후 분량을 재구성해, 최종판을 집필.</a:t>
            </a:r>
            <a:endParaRPr lang="en-US" sz="1050" dirty="0"/>
          </a:p>
        </p:txBody>
      </p:sp>
      <p:sp>
        <p:nvSpPr>
          <p:cNvPr id="28" name="Shape 26"/>
          <p:cNvSpPr/>
          <p:nvPr/>
        </p:nvSpPr>
        <p:spPr>
          <a:xfrm>
            <a:off x="548640" y="5166360"/>
            <a:ext cx="11094415" cy="868680"/>
          </a:xfrm>
          <a:prstGeom prst="roundRect">
            <a:avLst>
              <a:gd name="adj" fmla="val 7368"/>
            </a:avLst>
          </a:prstGeom>
          <a:solidFill>
            <a:srgbClr val="F3F6FA"/>
          </a:solidFill>
          <a:ln/>
        </p:spPr>
      </p:sp>
      <p:sp>
        <p:nvSpPr>
          <p:cNvPr id="29" name="Text 27"/>
          <p:cNvSpPr/>
          <p:nvPr/>
        </p:nvSpPr>
        <p:spPr>
          <a:xfrm>
            <a:off x="822960" y="5166360"/>
            <a:ext cx="10545775" cy="868680"/>
          </a:xfrm>
          <a:prstGeom prst="rect">
            <a:avLst/>
          </a:prstGeom>
          <a:noFill/>
          <a:ln/>
        </p:spPr>
        <p:txBody>
          <a:bodyPr wrap="square" lIns="0" tIns="0" rIns="0" bIns="0" rtlCol="0" anchor="ctr"/>
          <a:lstStyle/>
          <a:p>
            <a:pPr indent="0" marL="0">
              <a:buNone/>
            </a:pPr>
            <a:r>
              <a:rPr lang="en-US" sz="1150" b="1" dirty="0">
                <a:solidFill>
                  <a:srgbClr val="1C2B4A"/>
                </a:solidFill>
                <a:latin typeface="Malgun Gothic" pitchFamily="34" charset="0"/>
                <a:ea typeface="Malgun Gothic" pitchFamily="34" charset="-122"/>
                <a:cs typeface="Malgun Gothic" pitchFamily="34" charset="-120"/>
              </a:rPr>
              <a:t>지속 트래킹：</a:t>
            </a:r>
            <a:pPr indent="0" marL="0">
              <a:buNone/>
            </a:pPr>
            <a:r>
              <a:rPr lang="en-US" sz="1150" dirty="0">
                <a:solidFill>
                  <a:srgbClr val="5B6B7F"/>
                </a:solidFill>
                <a:latin typeface="Malgun Gothic" pitchFamily="34" charset="0"/>
                <a:ea typeface="Malgun Gothic" pitchFamily="34" charset="-122"/>
                <a:cs typeface="Malgun Gothic" pitchFamily="34" charset="-120"/>
              </a:rPr>
              <a:t>매주 금요일 종가로 포트폴리오와 닛케이평균·TOPIX·SOX지수를 기록 — '장기보유 관찰'의 재료로. 결산마다 한 줄 메모를 필드워크의 질문으로 연결.</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F38"/>
        </a:solidFill>
      </p:bgPr>
    </p:bg>
    <p:spTree>
      <p:nvGrpSpPr>
        <p:cNvPr id="1" name=""/>
        <p:cNvGrpSpPr/>
        <p:nvPr/>
      </p:nvGrpSpPr>
      <p:grpSpPr>
        <a:xfrm>
          <a:off x="0" y="0"/>
          <a:ext cx="0" cy="0"/>
          <a:chOff x="0" y="0"/>
          <a:chExt cx="0" cy="0"/>
        </a:xfrm>
      </p:grpSpPr>
      <p:sp>
        <p:nvSpPr>
          <p:cNvPr id="2" name="Shape 0"/>
          <p:cNvSpPr/>
          <p:nvPr/>
        </p:nvSpPr>
        <p:spPr>
          <a:xfrm>
            <a:off x="8046720" y="3291840"/>
            <a:ext cx="5120640" cy="5120640"/>
          </a:xfrm>
          <a:prstGeom prst="ellipse">
            <a:avLst/>
          </a:prstGeom>
          <a:ln w="12700">
            <a:solidFill>
              <a:srgbClr val="26385E"/>
            </a:solidFill>
            <a:prstDash val="solid"/>
          </a:ln>
        </p:spPr>
      </p:sp>
      <p:sp>
        <p:nvSpPr>
          <p:cNvPr id="3" name="Shape 1"/>
          <p:cNvSpPr/>
          <p:nvPr/>
        </p:nvSpPr>
        <p:spPr>
          <a:xfrm>
            <a:off x="8686800" y="3931920"/>
            <a:ext cx="3840480" cy="3840480"/>
          </a:xfrm>
          <a:prstGeom prst="ellipse">
            <a:avLst/>
          </a:prstGeom>
          <a:ln w="19050">
            <a:solidFill>
              <a:srgbClr val="A55D2B"/>
            </a:solidFill>
            <a:prstDash val="solid"/>
          </a:ln>
        </p:spPr>
      </p:sp>
      <p:sp>
        <p:nvSpPr>
          <p:cNvPr id="4" name="Shape 2"/>
          <p:cNvSpPr/>
          <p:nvPr/>
        </p:nvSpPr>
        <p:spPr>
          <a:xfrm>
            <a:off x="9281160" y="4526280"/>
            <a:ext cx="2651760" cy="2651760"/>
          </a:xfrm>
          <a:prstGeom prst="ellipse">
            <a:avLst/>
          </a:prstGeom>
          <a:ln w="12700">
            <a:solidFill>
              <a:srgbClr val="26385E"/>
            </a:solidFill>
            <a:prstDash val="solid"/>
          </a:ln>
        </p:spPr>
      </p:sp>
      <p:sp>
        <p:nvSpPr>
          <p:cNvPr id="5" name="Shape 3"/>
          <p:cNvSpPr/>
          <p:nvPr/>
        </p:nvSpPr>
        <p:spPr>
          <a:xfrm>
            <a:off x="9784080" y="5029200"/>
            <a:ext cx="1645920" cy="1645920"/>
          </a:xfrm>
          <a:prstGeom prst="ellipse">
            <a:avLst/>
          </a:prstGeom>
          <a:ln w="12700">
            <a:solidFill>
              <a:srgbClr val="26385E"/>
            </a:solidFill>
            <a:prstDash val="solid"/>
          </a:ln>
        </p:spPr>
      </p:sp>
      <p:sp>
        <p:nvSpPr>
          <p:cNvPr id="6" name="Text 4"/>
          <p:cNvSpPr/>
          <p:nvPr/>
        </p:nvSpPr>
        <p:spPr>
          <a:xfrm>
            <a:off x="822960" y="822960"/>
            <a:ext cx="4572000" cy="365760"/>
          </a:xfrm>
          <a:prstGeom prst="rect">
            <a:avLst/>
          </a:prstGeom>
          <a:noFill/>
          <a:ln/>
        </p:spPr>
        <p:txBody>
          <a:bodyPr wrap="square" lIns="0" tIns="0" rIns="0" bIns="0" rtlCol="0" anchor="ctr"/>
          <a:lstStyle/>
          <a:p>
            <a:pPr indent="0" marL="0">
              <a:buNone/>
            </a:pPr>
            <a:r>
              <a:rPr lang="en-US" sz="1300" b="1" spc="300" kern="0" dirty="0">
                <a:solidFill>
                  <a:srgbClr val="C0713A"/>
                </a:solidFill>
                <a:latin typeface="Malgun Gothic" pitchFamily="34" charset="0"/>
                <a:ea typeface="Malgun Gothic" pitchFamily="34" charset="-122"/>
                <a:cs typeface="Malgun Gothic" pitchFamily="34" charset="-120"/>
              </a:rPr>
              <a:t>마무리</a:t>
            </a:r>
            <a:endParaRPr lang="en-US" sz="1300" dirty="0"/>
          </a:p>
        </p:txBody>
      </p:sp>
      <p:sp>
        <p:nvSpPr>
          <p:cNvPr id="7" name="Text 5"/>
          <p:cNvSpPr/>
          <p:nvPr/>
        </p:nvSpPr>
        <p:spPr>
          <a:xfrm>
            <a:off x="822960" y="1280160"/>
            <a:ext cx="10515600" cy="914400"/>
          </a:xfrm>
          <a:prstGeom prst="rect">
            <a:avLst/>
          </a:prstGeom>
          <a:noFill/>
          <a:ln/>
        </p:spPr>
        <p:txBody>
          <a:bodyPr wrap="square" lIns="0" tIns="0" rIns="0" bIns="0" rtlCol="0" anchor="ctr"/>
          <a:lstStyle/>
          <a:p>
            <a:pPr indent="0" marL="0">
              <a:buNone/>
            </a:pPr>
            <a:r>
              <a:rPr lang="en-US" sz="3800" b="1" dirty="0">
                <a:solidFill>
                  <a:srgbClr val="FFFFFF"/>
                </a:solidFill>
                <a:latin typeface="Malgun Gothic" pitchFamily="34" charset="0"/>
                <a:ea typeface="Malgun Gothic" pitchFamily="34" charset="-122"/>
                <a:cs typeface="Malgun Gothic" pitchFamily="34" charset="-120"/>
              </a:rPr>
              <a:t>세계 1위급은, 지방에 있다.</a:t>
            </a:r>
            <a:endParaRPr lang="en-US" sz="3800" dirty="0"/>
          </a:p>
        </p:txBody>
      </p:sp>
      <p:sp>
        <p:nvSpPr>
          <p:cNvPr id="8" name="Shape 6"/>
          <p:cNvSpPr/>
          <p:nvPr/>
        </p:nvSpPr>
        <p:spPr>
          <a:xfrm>
            <a:off x="868680" y="2679192"/>
            <a:ext cx="0" cy="713232"/>
          </a:xfrm>
          <a:prstGeom prst="line">
            <a:avLst/>
          </a:prstGeom>
          <a:noFill/>
          <a:ln w="31750">
            <a:solidFill>
              <a:srgbClr val="C0713A"/>
            </a:solidFill>
            <a:prstDash val="solid"/>
          </a:ln>
        </p:spPr>
      </p:sp>
      <p:sp>
        <p:nvSpPr>
          <p:cNvPr id="9" name="Text 7"/>
          <p:cNvSpPr/>
          <p:nvPr/>
        </p:nvSpPr>
        <p:spPr>
          <a:xfrm>
            <a:off x="1143000" y="2606040"/>
            <a:ext cx="8778240" cy="914400"/>
          </a:xfrm>
          <a:prstGeom prst="rect">
            <a:avLst/>
          </a:prstGeom>
          <a:noFill/>
          <a:ln/>
        </p:spPr>
        <p:txBody>
          <a:bodyPr wrap="square" lIns="0" tIns="0" rIns="0" bIns="0" rtlCol="0" anchor="t"/>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4,438사 → 15사</a:t>
            </a:r>
            <a:endParaRPr lang="en-US" sz="1600" dirty="0"/>
          </a:p>
          <a:p>
            <a:pPr indent="0" marL="0">
              <a:buNone/>
            </a:pPr>
            <a:r>
              <a:rPr lang="en-US" sz="1150" dirty="0">
                <a:solidFill>
                  <a:srgbClr val="AEBFDC"/>
                </a:solidFill>
                <a:latin typeface="Malgun Gothic" pitchFamily="34" charset="0"/>
                <a:ea typeface="Malgun Gothic" pitchFamily="34" charset="-122"/>
                <a:cs typeface="Malgun Gothic" pitchFamily="34" charset="-120"/>
              </a:rPr>
              <a:t>규율 있는 게이트로 선정 — 고득점이어도, 증거가 없으면 뺀다. 유니버스를 넓혀도 결론은 흔들리지 않았다.</a:t>
            </a:r>
            <a:endParaRPr lang="en-US" sz="1600" dirty="0"/>
          </a:p>
        </p:txBody>
      </p:sp>
      <p:sp>
        <p:nvSpPr>
          <p:cNvPr id="10" name="Shape 8"/>
          <p:cNvSpPr/>
          <p:nvPr/>
        </p:nvSpPr>
        <p:spPr>
          <a:xfrm>
            <a:off x="868680" y="3703320"/>
            <a:ext cx="0" cy="713232"/>
          </a:xfrm>
          <a:prstGeom prst="line">
            <a:avLst/>
          </a:prstGeom>
          <a:noFill/>
          <a:ln w="31750">
            <a:solidFill>
              <a:srgbClr val="C0713A"/>
            </a:solidFill>
            <a:prstDash val="solid"/>
          </a:ln>
        </p:spPr>
      </p:sp>
      <p:sp>
        <p:nvSpPr>
          <p:cNvPr id="11" name="Text 9"/>
          <p:cNvSpPr/>
          <p:nvPr/>
        </p:nvSpPr>
        <p:spPr>
          <a:xfrm>
            <a:off x="1143000" y="3630168"/>
            <a:ext cx="8778240" cy="914400"/>
          </a:xfrm>
          <a:prstGeom prst="rect">
            <a:avLst/>
          </a:prstGeom>
          <a:noFill/>
          <a:ln/>
        </p:spPr>
        <p:txBody>
          <a:bodyPr wrap="square" lIns="0" tIns="0" rIns="0" bIns="0" rtlCol="0" anchor="t"/>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구마모토·아오모리·후쿠시마</a:t>
            </a:r>
            <a:endParaRPr lang="en-US" sz="1600" dirty="0"/>
          </a:p>
          <a:p>
            <a:pPr indent="0" marL="0">
              <a:buNone/>
            </a:pPr>
            <a:r>
              <a:rPr lang="en-US" sz="1150" dirty="0">
                <a:solidFill>
                  <a:srgbClr val="AEBFDC"/>
                </a:solidFill>
                <a:latin typeface="Malgun Gothic" pitchFamily="34" charset="0"/>
                <a:ea typeface="Malgun Gothic" pitchFamily="34" charset="-122"/>
                <a:cs typeface="Malgun Gothic" pitchFamily="34" charset="-120"/>
              </a:rPr>
              <a:t>포트폴리오 자체가, 지방창생과 경제안보의 진행 지표 — 투자로 사회 문제를 읽는다.</a:t>
            </a:r>
            <a:endParaRPr lang="en-US" sz="1600" dirty="0"/>
          </a:p>
        </p:txBody>
      </p:sp>
      <p:sp>
        <p:nvSpPr>
          <p:cNvPr id="12" name="Shape 10"/>
          <p:cNvSpPr/>
          <p:nvPr/>
        </p:nvSpPr>
        <p:spPr>
          <a:xfrm>
            <a:off x="868680" y="4727448"/>
            <a:ext cx="0" cy="713232"/>
          </a:xfrm>
          <a:prstGeom prst="line">
            <a:avLst/>
          </a:prstGeom>
          <a:noFill/>
          <a:ln w="31750">
            <a:solidFill>
              <a:srgbClr val="C0713A"/>
            </a:solidFill>
            <a:prstDash val="solid"/>
          </a:ln>
        </p:spPr>
      </p:sp>
      <p:sp>
        <p:nvSpPr>
          <p:cNvPr id="13" name="Text 11"/>
          <p:cNvSpPr/>
          <p:nvPr/>
        </p:nvSpPr>
        <p:spPr>
          <a:xfrm>
            <a:off x="1143000" y="4654296"/>
            <a:ext cx="8778240" cy="914400"/>
          </a:xfrm>
          <a:prstGeom prst="rect">
            <a:avLst/>
          </a:prstGeom>
          <a:noFill/>
          <a:ln/>
        </p:spPr>
        <p:txBody>
          <a:bodyPr wrap="square" lIns="0" tIns="0" rIns="0" bIns="0" rtlCol="0" anchor="t"/>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다음은, 현장으로</a:t>
            </a:r>
            <a:endParaRPr lang="en-US" sz="1600" dirty="0"/>
          </a:p>
          <a:p>
            <a:pPr indent="0" marL="0">
              <a:buNone/>
            </a:pPr>
            <a:r>
              <a:rPr lang="en-US" sz="1150" dirty="0">
                <a:solidFill>
                  <a:srgbClr val="AEBFDC"/>
                </a:solidFill>
                <a:latin typeface="Malgun Gothic" pitchFamily="34" charset="0"/>
                <a:ea typeface="Malgun Gothic" pitchFamily="34" charset="-122"/>
                <a:cs typeface="Malgun Gothic" pitchFamily="34" charset="-120"/>
              </a:rPr>
              <a:t>매수를 실행하고, 필드워크로 인과를 1차 정보의 더 깊은 곳까지. 실패까지 포함해, 과정을 모두 기록한다.</a:t>
            </a:r>
            <a:endParaRPr lang="en-US" sz="1600" dirty="0"/>
          </a:p>
        </p:txBody>
      </p:sp>
      <p:sp>
        <p:nvSpPr>
          <p:cNvPr id="14" name="Text 12"/>
          <p:cNvSpPr/>
          <p:nvPr/>
        </p:nvSpPr>
        <p:spPr>
          <a:xfrm>
            <a:off x="822960" y="6035040"/>
            <a:ext cx="8229600" cy="365760"/>
          </a:xfrm>
          <a:prstGeom prst="rect">
            <a:avLst/>
          </a:prstGeom>
          <a:noFill/>
          <a:ln/>
        </p:spPr>
        <p:txBody>
          <a:bodyPr wrap="square" lIns="0" tIns="0" rIns="0" bIns="0" rtlCol="0" anchor="ctr"/>
          <a:lstStyle/>
          <a:p>
            <a:pPr indent="0" marL="0">
              <a:buNone/>
            </a:pPr>
            <a:r>
              <a:rPr lang="en-US" sz="1150" dirty="0">
                <a:solidFill>
                  <a:srgbClr val="8FA3C4"/>
                </a:solidFill>
                <a:latin typeface="Malgun Gothic" pitchFamily="34" charset="0"/>
                <a:ea typeface="Malgun Gothic" pitchFamily="34" charset="-122"/>
                <a:cs typeface="Malgun Gothic" pitchFamily="34" charset="-120"/>
              </a:rPr>
              <a:t>닛케이 스톡리그 2026　｜　Phase 2 완료 → Phase 3로</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2026-07-13T14:27:21Z</dcterms:created>
  <dcterms:modified xsi:type="dcterms:W3CDTF">2026-07-13T14:27:21Z</dcterms:modified>
</cp:coreProperties>
</file>