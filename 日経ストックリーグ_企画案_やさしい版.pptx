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2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7.xml.rels><?xml version="1.0" encoding="UTF-8"?>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?>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0.xml.rels><?xml version="1.0" encoding="UTF-8"?>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213848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80776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347704" y="54864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646920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213848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780776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347704" y="109728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46920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213848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780776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347704" y="164592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213848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780776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347704" y="2194560"/>
            <a:ext cx="109728" cy="109728"/>
          </a:xfrm>
          <a:prstGeom prst="ellipse">
            <a:avLst/>
          </a:prstGeom>
          <a:solidFill>
            <a:srgbClr val="14B8A6">
              <a:alpha val="6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77240" y="868680"/>
            <a:ext cx="2880360" cy="47548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868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TEAM MEETING ｜ 企画案【やさしい版】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16002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日経ストックリーグ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77724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プロジェクト企画案 ― わかりやすい版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3611880"/>
            <a:ext cx="106070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メインテーマ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114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微細化の限界と、次世代パッケージング（後工程＝チップの組み立て）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3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サブテーマ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後工程の“すきま市場”で世界シェアを握る日本の素材・装置メーカーの強み ＋ 地方への経済効果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56235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07720" y="5623560"/>
            <a:ext cx="10539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r>
              <a:rPr lang="en-US" sz="1400" i="1" dirty="0" err="1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日本がすべてを支配”とは言わない</a:t>
            </a:r>
            <a:r>
              <a:rPr lang="en-US" sz="1400" i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400" i="1" dirty="0" err="1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AI時代の本当のボトルネック＝後工程のすきま市場で世界シェアの大半を持つ日本企業を、誇張せずデータで示す</a:t>
            </a:r>
            <a:r>
              <a:rPr lang="en-US" sz="1400" i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450000"/>
            <a:ext cx="1060704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sz="9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このファイルは改訂版の補足説明です。内容が分かりにくい場合にご参照ください。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ひとことで言うと ― この企画の全体像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細かい話に入る前に、この企画が「何を・なぜ・どうやって」調べるのかを先に押さえよう。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677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何を調べる？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45536"/>
            <a:ext cx="146304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半導体の「後工程」が対象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712464"/>
            <a:ext cx="146304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＝チップを組み立てる工程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279392"/>
            <a:ext cx="146304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そこで世界シェア上位の日本メーカー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9768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572000" y="2103120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26771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180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なぜ面白い？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145536"/>
            <a:ext cx="146304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4632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微細化（前工程）は限界・巨額投資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712464"/>
            <a:ext cx="146304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84632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これからの主役は後工程へ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79392"/>
            <a:ext cx="146304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84632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強い企業は地方の集積地の近くに集まる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804672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/>
          <p:cNvSpPr/>
          <p:nvPr/>
        </p:nvSpPr>
        <p:spPr>
          <a:xfrm>
            <a:off x="8321040" y="2103120"/>
            <a:ext cx="658368" cy="65836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267712"/>
            <a:ext cx="329184" cy="32918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7084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どうやって選ぶ？</a:t>
            </a:r>
            <a:endParaRPr lang="en-US" sz="14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145536"/>
            <a:ext cx="146304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59536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財務×技術×地方の近さを点数化</a:t>
            </a:r>
            <a:endParaRPr lang="en-US" sz="12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712464"/>
            <a:ext cx="146304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59536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公開データで10銘柄に絞る</a:t>
            </a:r>
            <a:endParaRPr lang="en-US" sz="12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4279392"/>
            <a:ext cx="146304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59536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企業と対話して裏取り＋リスクも検証</a:t>
            </a:r>
            <a:endParaRPr lang="en-US" sz="1250" dirty="0"/>
          </a:p>
        </p:txBody>
      </p:sp>
      <p:sp>
        <p:nvSpPr>
          <p:cNvPr id="35" name="Shape 21"/>
          <p:cNvSpPr/>
          <p:nvPr/>
        </p:nvSpPr>
        <p:spPr>
          <a:xfrm>
            <a:off x="548640" y="528523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2"/>
          <p:cNvSpPr/>
          <p:nvPr/>
        </p:nvSpPr>
        <p:spPr>
          <a:xfrm>
            <a:off x="777240" y="5449824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" y="5545836"/>
            <a:ext cx="192024" cy="19202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325880" y="528523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つまり「後工程のすきま市場で世界の大半を握る日本企業」を、地方とのつながりに注目して選び、誇張せずデータで検証する企画。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用語ミニ辞典 ― この企画でよく出る言葉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Glossary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専門用語が多いので、まずここで意味を押さえておこう。読みながら迷ったら、このページに戻ってくればOK。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677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市場・競争のことば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145536"/>
            <a:ext cx="146304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ニッチ（すきま市場</a:t>
            </a: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：規模は小さいが専門性の高い市場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712464"/>
            <a:ext cx="146304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寡占</a:t>
            </a:r>
            <a:endParaRPr lang="en-US" sz="1250" b="1" dirty="0">
              <a:solidFill>
                <a:srgbClr val="FFFFFF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少数の企業が市場の大半を握る状態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279392"/>
            <a:ext cx="146304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スイッチングコスト</a:t>
            </a:r>
            <a:endParaRPr lang="en-US" sz="1250" b="1" dirty="0">
              <a:solidFill>
                <a:srgbClr val="FFFFFF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他社に乗り換えるときの負担の大きさ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9768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572000" y="2103120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26771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180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半導体の工程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145536"/>
            <a:ext cx="146304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4632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前工程／後工程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：回路を作る工程／組み立て・封止する工程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712464"/>
            <a:ext cx="146304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84632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パッケージング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：チップを保護し外部とつなぐ後工程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79392"/>
            <a:ext cx="146304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84632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チップレット・3D実装</a:t>
            </a: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：小さなチップを連結・積層して高性能化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804672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/>
          <p:cNvSpPr/>
          <p:nvPr/>
        </p:nvSpPr>
        <p:spPr>
          <a:xfrm>
            <a:off x="8321040" y="2103120"/>
            <a:ext cx="658368" cy="65836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267712"/>
            <a:ext cx="329184" cy="32918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7084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投資・検証のことば</a:t>
            </a:r>
            <a:endParaRPr lang="en-US" sz="14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145536"/>
            <a:ext cx="146304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59536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公平開示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：一部の人だけに未公開情報を渡すのを禁じる規則</a:t>
            </a:r>
            <a:endParaRPr lang="en-US" sz="12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3712464"/>
            <a:ext cx="146304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59536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：現代ポートフォリオ理論。リスクを抑えた組み方</a:t>
            </a:r>
            <a:endParaRPr lang="en-US" sz="12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472" y="4279392"/>
            <a:ext cx="146304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59536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シクリカリティ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：業績が景気の波で大きく上下する性質</a:t>
            </a:r>
            <a:endParaRPr lang="en-US" sz="1250" dirty="0"/>
          </a:p>
        </p:txBody>
      </p:sp>
      <p:sp>
        <p:nvSpPr>
          <p:cNvPr id="35" name="Shape 21"/>
          <p:cNvSpPr/>
          <p:nvPr/>
        </p:nvSpPr>
        <p:spPr>
          <a:xfrm>
            <a:off x="548640" y="528523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2"/>
          <p:cNvSpPr/>
          <p:nvPr/>
        </p:nvSpPr>
        <p:spPr>
          <a:xfrm>
            <a:off x="777240" y="5449824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" y="5545836"/>
            <a:ext cx="192024" cy="19202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325880" y="528523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わからない言葉が出てきたら、まずこのページへ。チームで意味がそろうと、議論が一気に速くなる。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投資テーマ ― なぜ“後工程のすきま市場”か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Originality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6420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ポイント：価値は“後工程”に移っていく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5117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微細化（前工程）は物理的な限界＋巨額の投資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数兆円規模の勝負では日本は不利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301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5478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性能アップの主役は組み立て（後工程）へ移る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8016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チップレット/3D実装が次の主戦場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09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626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日本は素材や一部の装置で世界シェアの大半を持つ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8016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「全部強い」ではなく「特定分野が強い」を見つける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519672" y="1645920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18059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96912" y="1664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差別化のコツ ― 混みすぎ・ありふれを避ける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6519672" y="25146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/>
          <p:nvPr/>
        </p:nvSpPr>
        <p:spPr>
          <a:xfrm>
            <a:off x="6720840" y="2624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ありふれた「AI・半導体株」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720840" y="2990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クラウドやGPUは皆が注目。話題性だけでは埋もれる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519672" y="3593592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/>
          <p:cNvSpPr/>
          <p:nvPr/>
        </p:nvSpPr>
        <p:spPr>
          <a:xfrm>
            <a:off x="672084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✕ ありふれた「専業企業」論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7208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過去の最優秀テーマと被り、新しさに欠ける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6519672" y="4672584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/>
          <p:nvPr/>
        </p:nvSpPr>
        <p:spPr>
          <a:xfrm>
            <a:off x="6720840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私たちの絞り込み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720840" y="51480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「工程の一番下流のすきま市場」×「地方の集積効果」に集中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全体ストーリー ― 「世界の強さ」と「地方」を1本でつなぐ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Investment Logic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「世界での強さ」と「地方への貢献」は実は同じ話。工場が地方に集まるほど受注が安定するので、どちらも投資先としての強さにつながる。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7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22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972" y="25008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8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国内に工場が集まる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6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TSMC熊本・Rapidus北海道などの大型投資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264" y="2921508"/>
            <a:ext cx="201168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13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3508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972" y="25008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04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近くのすきま企業に仕事が回る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22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素材・装置の受注や</a:t>
            </a:r>
            <a:endParaRPr lang="en-US" sz="1200" dirty="0">
              <a:solidFill>
                <a:srgbClr val="9FB3BD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設備投資が増える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264" y="2921508"/>
            <a:ext cx="201168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99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5794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972" y="2500884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90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地方経済が潤う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208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雇用・税収・関連産業が拡大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264" y="2921508"/>
            <a:ext cx="201168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85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6"/>
          <p:cNvSpPr/>
          <p:nvPr/>
        </p:nvSpPr>
        <p:spPr>
          <a:xfrm>
            <a:off x="8080096" y="2350008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0972" y="2500884"/>
            <a:ext cx="301752" cy="30175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76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企業が中長期で成長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494880" y="3355848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需要が近い → </a:t>
            </a: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安定受注</a:t>
            </a: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収益が伸びる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264" y="2921508"/>
            <a:ext cx="201168" cy="23774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71152" y="2148840"/>
            <a:ext cx="1993392" cy="1783080"/>
          </a:xfrm>
          <a:prstGeom prst="roundRect">
            <a:avLst>
              <a:gd name="adj" fmla="val 4103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0"/>
          <p:cNvSpPr/>
          <p:nvPr/>
        </p:nvSpPr>
        <p:spPr>
          <a:xfrm>
            <a:off x="10366096" y="2350008"/>
            <a:ext cx="603504" cy="603504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6972" y="2500884"/>
            <a:ext cx="301752" cy="30175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6259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株主価値が上がる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9738360" y="335584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投資先として検証する価値あり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412" y="4942332"/>
            <a:ext cx="283464" cy="28346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1600200" y="47365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なぜ「地方への貢献度」を評価点に加えるのか</a:t>
            </a:r>
            <a:endParaRPr lang="en-US" sz="1400" dirty="0"/>
          </a:p>
        </p:txBody>
      </p:sp>
      <p:sp>
        <p:nvSpPr>
          <p:cNvPr id="38" name="Text 26"/>
          <p:cNvSpPr/>
          <p:nvPr/>
        </p:nvSpPr>
        <p:spPr>
          <a:xfrm>
            <a:off x="1600199" y="5138928"/>
            <a:ext cx="98572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「工場が来る → 近くの企業に仕事が回る → 受注が安定 → 企業が成長」という流れがある。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だから「地方への貢献度」は社会的な話にとどまらず、投資先として有望かを判断するサインになる。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4ステップの進め方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2580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8612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20" y="177850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05660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96900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6900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仮説と勉強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3474720"/>
            <a:ext cx="91440" cy="91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8068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後工程（パッケージング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）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技術を勉強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041648"/>
            <a:ext cx="91440" cy="91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068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分野別のすきま企業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を20社リスト化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608576"/>
            <a:ext cx="91440" cy="91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8068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国内の集積マップを作る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22580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59740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分析対象 20社を選ぶ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338932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594964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272" y="1778508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2012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3613252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613252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スクリーニング（ふるい分け）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3474720"/>
            <a:ext cx="91440" cy="914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14420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財務×技術×地方の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近さ、の3つの基準</a:t>
            </a:r>
            <a:endParaRPr lang="en-US" sz="12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4041648"/>
            <a:ext cx="91440" cy="914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14420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貢献度を公開データで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点数化する</a:t>
            </a:r>
            <a:endParaRPr lang="en-US" sz="12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540" y="4608576"/>
            <a:ext cx="91440" cy="914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14420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10銘柄へ絞り込む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3338932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1"/>
          <p:cNvSpPr/>
          <p:nvPr/>
        </p:nvSpPr>
        <p:spPr>
          <a:xfrm>
            <a:off x="3476092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投資する10社を決定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155284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3"/>
          <p:cNvSpPr/>
          <p:nvPr/>
        </p:nvSpPr>
        <p:spPr>
          <a:xfrm>
            <a:off x="6411316" y="1600200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24" y="1778508"/>
            <a:ext cx="356616" cy="35661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938364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600" dirty="0"/>
          </a:p>
        </p:txBody>
      </p:sp>
      <p:sp>
        <p:nvSpPr>
          <p:cNvPr id="36" name="Text 25"/>
          <p:cNvSpPr/>
          <p:nvPr/>
        </p:nvSpPr>
        <p:spPr>
          <a:xfrm>
            <a:off x="6429604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6429604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現地調査（対話）</a:t>
            </a:r>
            <a:endParaRPr lang="en-US" sz="15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3474720"/>
            <a:ext cx="91440" cy="9144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630772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公開IRを読み込み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検証用の質問を作る</a:t>
            </a:r>
            <a:endParaRPr lang="en-US" sz="12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4041648"/>
            <a:ext cx="91440" cy="9144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630772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企業・自治体へ書面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やオンラインで対話</a:t>
            </a:r>
            <a:endParaRPr lang="en-US" sz="12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92" y="4608576"/>
            <a:ext cx="91440" cy="9144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630772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代わりに専門家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・証券レポートも活用</a:t>
            </a:r>
            <a:endParaRPr lang="en-US" sz="1250" dirty="0"/>
          </a:p>
        </p:txBody>
      </p:sp>
      <p:sp>
        <p:nvSpPr>
          <p:cNvPr id="44" name="Shape 30"/>
          <p:cNvSpPr/>
          <p:nvPr/>
        </p:nvSpPr>
        <p:spPr>
          <a:xfrm>
            <a:off x="6155284" y="4828032"/>
            <a:ext cx="2697480" cy="566928"/>
          </a:xfrm>
          <a:prstGeom prst="rect">
            <a:avLst/>
          </a:prstGeom>
          <a:solidFill>
            <a:srgbClr val="0E23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1"/>
          <p:cNvSpPr/>
          <p:nvPr/>
        </p:nvSpPr>
        <p:spPr>
          <a:xfrm>
            <a:off x="6292444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検証の深さで差をつける</a:t>
            </a:r>
            <a:endParaRPr lang="en-US" sz="1250" dirty="0"/>
          </a:p>
        </p:txBody>
      </p:sp>
      <p:sp>
        <p:nvSpPr>
          <p:cNvPr id="46" name="Shape 32"/>
          <p:cNvSpPr/>
          <p:nvPr/>
        </p:nvSpPr>
        <p:spPr>
          <a:xfrm>
            <a:off x="8971636" y="1325880"/>
            <a:ext cx="2697480" cy="4069080"/>
          </a:xfrm>
          <a:prstGeom prst="roundRect">
            <a:avLst>
              <a:gd name="adj" fmla="val 2712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3"/>
          <p:cNvSpPr/>
          <p:nvPr/>
        </p:nvSpPr>
        <p:spPr>
          <a:xfrm>
            <a:off x="9227668" y="1600200"/>
            <a:ext cx="713232" cy="713232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5976" y="1778508"/>
            <a:ext cx="356616" cy="356616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0754716" y="158191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140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600" dirty="0"/>
          </a:p>
        </p:txBody>
      </p:sp>
      <p:sp>
        <p:nvSpPr>
          <p:cNvPr id="50" name="Text 35"/>
          <p:cNvSpPr/>
          <p:nvPr/>
        </p:nvSpPr>
        <p:spPr>
          <a:xfrm>
            <a:off x="9245956" y="2404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3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4</a:t>
            </a:r>
            <a:endParaRPr lang="en-US" sz="1250" dirty="0"/>
          </a:p>
        </p:txBody>
      </p:sp>
      <p:sp>
        <p:nvSpPr>
          <p:cNvPr id="51" name="Text 36"/>
          <p:cNvSpPr/>
          <p:nvPr/>
        </p:nvSpPr>
        <p:spPr>
          <a:xfrm>
            <a:off x="9245956" y="26791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ポートフォリオ作成と検証</a:t>
            </a:r>
            <a:endParaRPr lang="en-US" sz="15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3474720"/>
            <a:ext cx="91440" cy="9144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9447124" y="33558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分散投資で組む（限界も明記）</a:t>
            </a:r>
            <a:endParaRPr lang="en-US" sz="125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4041648"/>
            <a:ext cx="91440" cy="9144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9447124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期間を分けて頑健性を確認</a:t>
            </a:r>
            <a:endParaRPr lang="en-US" sz="125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244" y="4608576"/>
            <a:ext cx="91440" cy="91440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9447124" y="448970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リスク想定つき</a:t>
            </a:r>
            <a:endParaRPr lang="en-US" sz="125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30ページのレポート</a:t>
            </a:r>
            <a:endParaRPr lang="en-US" sz="1250" dirty="0"/>
          </a:p>
        </p:txBody>
      </p:sp>
      <p:sp>
        <p:nvSpPr>
          <p:cNvPr id="58" name="Shape 40"/>
          <p:cNvSpPr/>
          <p:nvPr/>
        </p:nvSpPr>
        <p:spPr>
          <a:xfrm>
            <a:off x="8971636" y="4828032"/>
            <a:ext cx="2697480" cy="566928"/>
          </a:xfrm>
          <a:prstGeom prst="rect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1"/>
          <p:cNvSpPr/>
          <p:nvPr/>
        </p:nvSpPr>
        <p:spPr>
          <a:xfrm>
            <a:off x="9108796" y="4828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誇張のないレポート提出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銘柄の選び方 ― 3つの基準で客観的に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Screening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主観で選ばず、すべて誰でも確認できる公開データで点数化して候補を絞る。「地方の近さ」も数値で定義するので、選んだ理由を説明できる。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677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財務（数字で見る）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145536"/>
            <a:ext cx="146304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売上高・営業利益の成長率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712464"/>
            <a:ext cx="146304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6393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ROIC・自己資本比率（稼ぐ力と安全性）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79392"/>
            <a:ext cx="146304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売上に占める半導体の割合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29768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4572000" y="2103120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267712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2180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技術（数字＋中身）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145536"/>
            <a:ext cx="146304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4632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分野ごとの世界シェア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3712464"/>
            <a:ext cx="146304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84632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特許・代わりの効きにくさ</a:t>
            </a:r>
            <a:endParaRPr lang="en-US" sz="12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4279392"/>
            <a:ext cx="146304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84632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乗り換えコストの高さ（変えにくさ）</a:t>
            </a:r>
            <a:endParaRPr lang="en-US" sz="1250" dirty="0"/>
          </a:p>
        </p:txBody>
      </p:sp>
      <p:sp>
        <p:nvSpPr>
          <p:cNvPr id="25" name="Shape 15"/>
          <p:cNvSpPr/>
          <p:nvPr/>
        </p:nvSpPr>
        <p:spPr>
          <a:xfrm>
            <a:off x="8046720" y="1828800"/>
            <a:ext cx="3593592" cy="3246120"/>
          </a:xfrm>
          <a:prstGeom prst="roundRect">
            <a:avLst>
              <a:gd name="adj" fmla="val 2254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6"/>
          <p:cNvSpPr/>
          <p:nvPr/>
        </p:nvSpPr>
        <p:spPr>
          <a:xfrm>
            <a:off x="8321040" y="2103120"/>
            <a:ext cx="658368" cy="658368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267712"/>
            <a:ext cx="329184" cy="32918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70848" y="21031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地方の近さ（新基準・客観）</a:t>
            </a:r>
            <a:endParaRPr lang="en-US" sz="14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145536"/>
            <a:ext cx="146304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595360" y="30723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工場と集積地（熊本/北海道）の距離</a:t>
            </a:r>
            <a:endParaRPr lang="en-US" sz="12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712464"/>
            <a:ext cx="146304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8595360" y="36393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地元での雇用の割合</a:t>
            </a:r>
            <a:endParaRPr lang="en-US" sz="12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279392"/>
            <a:ext cx="146304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595360" y="420624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設備投資をする場所</a:t>
            </a:r>
            <a:endParaRPr lang="en-US" sz="1250" dirty="0"/>
          </a:p>
        </p:txBody>
      </p:sp>
      <p:sp>
        <p:nvSpPr>
          <p:cNvPr id="35" name="Shape 21"/>
          <p:cNvSpPr/>
          <p:nvPr/>
        </p:nvSpPr>
        <p:spPr>
          <a:xfrm>
            <a:off x="548640" y="5285232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2"/>
          <p:cNvSpPr/>
          <p:nvPr/>
        </p:nvSpPr>
        <p:spPr>
          <a:xfrm>
            <a:off x="777240" y="5449824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" y="5545836"/>
            <a:ext cx="192024" cy="19202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325880" y="528523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「地方への貢献度」を距離・雇用比率・投資額などの公開数値で点数化 → 審査で問われる「客観性・再現性」をクリアできる。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現地調査の進め方 ― 対話と代わりの手段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517904"/>
            <a:ext cx="502920" cy="50292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" y="164363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258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原則：公平開示のルールを守る。 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まだ公表されていない重要情報は求めない</a:t>
            </a:r>
            <a:r>
              <a:rPr lang="en-US" sz="13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。「特別なデータ」ではなく「検証の深さ」で勝負する。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22960" y="2670048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28300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66674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公開IR資料を読み込んで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“仮説を確かめる質問”を作る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27024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企業・自治体に書面＋オンラインで対話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87375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もらった回答を自分たちのデータとして再分析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29768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4572000" y="2670048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020" y="2830068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代わりの手段（1つに頼らない）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366674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86460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業界の専門家・大学の研究者に質問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27024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6460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証券会社のレポート・IR説明会の資料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873752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86460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経産省・自治体が公表する統計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8046720" y="2395728"/>
            <a:ext cx="3593592" cy="3154680"/>
          </a:xfrm>
          <a:prstGeom prst="roundRect">
            <a:avLst>
              <a:gd name="adj" fmla="val 231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8"/>
          <p:cNvSpPr/>
          <p:nvPr/>
        </p:nvSpPr>
        <p:spPr>
          <a:xfrm>
            <a:off x="8321040" y="2670048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060" y="2830068"/>
            <a:ext cx="320040" cy="32004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9052560" y="267004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なぜ効くか</a:t>
            </a:r>
            <a:endParaRPr lang="en-US" sz="14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3666744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613648" y="3575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過去の入賞でも“企業との対話”は高評価</a:t>
            </a:r>
            <a:endParaRPr lang="en-US" sz="12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27024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613648" y="4178808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断られても、代わりの手段で確実にデータを確保</a:t>
            </a:r>
            <a:endParaRPr lang="en-US" sz="12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4873752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613648" y="47823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投資家として企業と対話する姿勢を実践できる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数字での検証とリスク ― 正直に語る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Logic &amp;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642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数字での検証を“証明”にしない（言い過ぎない）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96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分析の限界を正直に書く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77063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小型株10銘柄は同じ景気の波で一緒に動きやすく</a:t>
            </a:r>
            <a:endParaRPr lang="en-US" sz="1200" dirty="0">
              <a:solidFill>
                <a:srgbClr val="9FB3BD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分散の効果は小さい。価格の履歴も短い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033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61872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「過去に合わせただけ」の罠を避ける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61872" y="3977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過去データに合わせれば指数に勝つのは当たり前</a:t>
            </a: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これは“証明”ではない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1032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期間を分けて確かめる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61872" y="51846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別の期間（使っていないデータ）で検証</a:t>
            </a: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TOPIXとの比較は“参考”として示す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245352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E2330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6519672" y="1645920"/>
            <a:ext cx="640080" cy="64008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692" y="18059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96912" y="166420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リスクの想定（必須）</a:t>
            </a:r>
            <a:endParaRPr lang="en-US" sz="1550" dirty="0"/>
          </a:p>
        </p:txBody>
      </p:sp>
      <p:sp>
        <p:nvSpPr>
          <p:cNvPr id="21" name="Shape 14"/>
          <p:cNvSpPr/>
          <p:nvPr/>
        </p:nvSpPr>
        <p:spPr>
          <a:xfrm>
            <a:off x="6519672" y="246888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6675120" y="261518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276" y="2720340"/>
            <a:ext cx="210312" cy="210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69480" y="252374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地政学リスク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9098280" y="252374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対中輸出規制・米中の摩擦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519672" y="329184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675120" y="343814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276" y="3543300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33467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景気の波</a:t>
            </a:r>
            <a:endParaRPr lang="en-US" sz="1250" b="1" dirty="0">
              <a:solidFill>
                <a:srgbClr val="FFFFFF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（シクリカリティ）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909828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半導体需要が急に落ちる局面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519672" y="411480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6675120" y="426110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276" y="4366260"/>
            <a:ext cx="210312" cy="2103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69480" y="41696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顧客の集中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9098280" y="416966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TSMCなど特定の取引先への依存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519672" y="493776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675120" y="5084064"/>
            <a:ext cx="420624" cy="420624"/>
          </a:xfrm>
          <a:prstGeom prst="ellipse">
            <a:avLst/>
          </a:prstGeom>
          <a:solidFill>
            <a:srgbClr val="F0826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0276" y="5189220"/>
            <a:ext cx="210312" cy="21031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269480" y="49926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為替・金利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9098280" y="49926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FB3B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円高・調達コストの変動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6519672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95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リスクを正直に書くほど、審査での信頼性は上がる（過去の講評も特定リスクを指摘）。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審査基準への対応 ― 強化した3つの柱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498080" y="457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DD4B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88236" y="1828800"/>
            <a:ext cx="914400" cy="9144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独創性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451860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混みすぎたAI株や専業企業テーマと一線を画す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</a:t>
            </a: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後工程のすきま市場×地方の因果”の1点突破で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新しさを出す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0574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熱意（対話）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0288" y="342900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公平開示のルールを守りつつ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企業・自治体・専門家と対話して検証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代わりの手段で確実性も確保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93592" cy="3200400"/>
          </a:xfrm>
          <a:prstGeom prst="roundRect">
            <a:avLst>
              <a:gd name="adj" fmla="val 2286"/>
            </a:avLst>
          </a:prstGeom>
          <a:solidFill>
            <a:srgbClr val="13303D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9386316" y="1828800"/>
            <a:ext cx="914400" cy="914400"/>
          </a:xfrm>
          <a:prstGeom prst="ellipse">
            <a:avLst/>
          </a:prstGeom>
          <a:solidFill>
            <a:srgbClr val="E0A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916" y="2057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92608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論理性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39328" y="342900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技術×財務×地方の近さという客観基準</a:t>
            </a:r>
            <a:endParaRPr lang="en-US" sz="1200" dirty="0">
              <a:solidFill>
                <a:srgbClr val="EAF2F4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MPTの限界明示＋リスク想定で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言い過ぎずに妥当性を示す</a:t>
            </a:r>
            <a:r>
              <a:rPr lang="en-US" sz="120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7394A"/>
          </a:solidFill>
          <a:ln w="12700">
            <a:solidFill>
              <a:srgbClr val="21404E"/>
            </a:solidFill>
            <a:prstDash val="solid"/>
          </a:ln>
          <a:effectLst>
            <a:outerShdw blurRad="1016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822960" y="50749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EEAD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「誇張せず、データで語る。」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983480" y="5074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独創性・熱意・論理性の3つが揃うことで、</a:t>
            </a:r>
          </a:p>
          <a:p>
            <a:pPr marL="0" indent="0">
              <a:buNone/>
            </a:pPr>
            <a:r>
              <a:rPr lang="en-US" sz="1250" dirty="0" err="1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審査員に「ちゃんと考えている」と伝わるレポートになる</a:t>
            </a:r>
            <a:r>
              <a:rPr lang="en-US" sz="1250" dirty="0">
                <a:solidFill>
                  <a:srgbClr val="EAF2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823</Words>
  <Application>Microsoft Office PowerPoint</Application>
  <PresentationFormat>와이드스크린</PresentationFormat>
  <Paragraphs>220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日経ストックリーグ 企画案（改訂版）</dc:title>
  <dc:subject>PptxGenJS Presentation</dc:subject>
  <dc:creator>Team</dc:creator>
  <cp:lastModifiedBy>ＫＷＯＮ　Ｓｕｎ</cp:lastModifiedBy>
  <cp:revision>3</cp:revision>
  <dcterms:created xsi:type="dcterms:W3CDTF">2026-06-18T06:40:25Z</dcterms:created>
  <dcterms:modified xsi:type="dcterms:W3CDTF">2026-06-18T11:36:02Z</dcterms:modified>
</cp:coreProperties>
</file>